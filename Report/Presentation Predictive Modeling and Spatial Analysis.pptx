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Play"/>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gxREykb211JFfSJCwfRbY0eu5+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lay-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Play-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148cf25cd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148cf25c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148cf25cd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148cf25c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099c229a1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b099c229a1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099c229a1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b099c229a1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148cf25cd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b148cf25cd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148cf25cd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3b148cf25cd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148cf25cd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g3b148cf25cd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12fe420c2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3b12fe420c2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148cf25cd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g3b148cf25cd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12fe420c2_0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b12fe420c2_0_2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148cf25cd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3b148cf25cd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148cf25cd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3b148cf25cd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b12fe420c2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b12fe420c2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b148cf25cd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g3b148cf25cd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12fe420c2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b12fe420c2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b12fe420c2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g3b12fe420c2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b12fe420c2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g3b12fe420c2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12fe420c2_0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1" name="Google Shape;371;g3b12fe420c2_0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099c229a1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g3b099c229a1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b148cf25cd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g3b148cf25cd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b1c4ac7f1b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b1c4ac7f1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b099c229a1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g3b099c229a1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b099c229a1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6" name="Google Shape;436;g3b099c229a1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1c4ac7f1b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b1c4ac7f1b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b099c229a1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0" name="Google Shape;450;g3b099c229a1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1"/>
          <p:cNvSpPr txBox="1"/>
          <p:nvPr>
            <p:ph type="ctrTitle"/>
          </p:nvPr>
        </p:nvSpPr>
        <p:spPr>
          <a:xfrm>
            <a:off x="640080" y="1371599"/>
            <a:ext cx="6675120" cy="295182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Play"/>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 type="subTitle"/>
          </p:nvPr>
        </p:nvSpPr>
        <p:spPr>
          <a:xfrm>
            <a:off x="640080" y="4584879"/>
            <a:ext cx="6675120" cy="1287887"/>
          </a:xfrm>
          <a:prstGeom prst="rect">
            <a:avLst/>
          </a:prstGeom>
          <a:noFill/>
          <a:ln>
            <a:noFill/>
          </a:ln>
        </p:spPr>
        <p:txBody>
          <a:bodyPr anchorCtr="0" anchor="b" bIns="45700" lIns="91425" spcFirstLastPara="1" rIns="91425" wrap="square" tIns="45700">
            <a:normAutofit/>
          </a:bodyPr>
          <a:lstStyle>
            <a:lvl1pPr lvl="0" algn="l">
              <a:lnSpc>
                <a:spcPct val="130000"/>
              </a:lnSpc>
              <a:spcBef>
                <a:spcPts val="1000"/>
              </a:spcBef>
              <a:spcAft>
                <a:spcPts val="0"/>
              </a:spcAft>
              <a:buClr>
                <a:schemeClr val="dk1"/>
              </a:buClr>
              <a:buSzPts val="1566"/>
              <a:buNone/>
              <a:defRPr b="1" sz="1800" cap="none"/>
            </a:lvl1pPr>
            <a:lvl2pPr lvl="1" algn="ctr">
              <a:lnSpc>
                <a:spcPct val="120000"/>
              </a:lnSpc>
              <a:spcBef>
                <a:spcPts val="500"/>
              </a:spcBef>
              <a:spcAft>
                <a:spcPts val="0"/>
              </a:spcAft>
              <a:buClr>
                <a:schemeClr val="dk1"/>
              </a:buClr>
              <a:buSzPts val="1740"/>
              <a:buNone/>
              <a:defRPr sz="2000"/>
            </a:lvl2pPr>
            <a:lvl3pPr lvl="2" algn="ctr">
              <a:lnSpc>
                <a:spcPct val="120000"/>
              </a:lnSpc>
              <a:spcBef>
                <a:spcPts val="500"/>
              </a:spcBef>
              <a:spcAft>
                <a:spcPts val="0"/>
              </a:spcAft>
              <a:buClr>
                <a:schemeClr val="dk1"/>
              </a:buClr>
              <a:buSzPts val="1566"/>
              <a:buNone/>
              <a:defRPr sz="1800"/>
            </a:lvl3pPr>
            <a:lvl4pPr lvl="3" algn="ctr">
              <a:lnSpc>
                <a:spcPct val="120000"/>
              </a:lnSpc>
              <a:spcBef>
                <a:spcPts val="500"/>
              </a:spcBef>
              <a:spcAft>
                <a:spcPts val="0"/>
              </a:spcAft>
              <a:buClr>
                <a:schemeClr val="dk1"/>
              </a:buClr>
              <a:buSzPts val="1392"/>
              <a:buNone/>
              <a:defRPr sz="1600"/>
            </a:lvl4pPr>
            <a:lvl5pPr lvl="4" algn="ctr">
              <a:lnSpc>
                <a:spcPct val="120000"/>
              </a:lnSpc>
              <a:spcBef>
                <a:spcPts val="500"/>
              </a:spcBef>
              <a:spcAft>
                <a:spcPts val="0"/>
              </a:spcAft>
              <a:buClr>
                <a:schemeClr val="dk1"/>
              </a:buClr>
              <a:buSzPts val="1392"/>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11"/>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1"/>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0" name="Google Shape;20;p12"/>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5"/>
          <p:cNvSpPr txBox="1"/>
          <p:nvPr>
            <p:ph type="title"/>
          </p:nvPr>
        </p:nvSpPr>
        <p:spPr>
          <a:xfrm>
            <a:off x="640079" y="1371601"/>
            <a:ext cx="10890929" cy="109728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 type="body"/>
          </p:nvPr>
        </p:nvSpPr>
        <p:spPr>
          <a:xfrm>
            <a:off x="640080" y="2633472"/>
            <a:ext cx="10890928" cy="3566160"/>
          </a:xfrm>
          <a:prstGeom prst="rect">
            <a:avLst/>
          </a:prstGeom>
          <a:noFill/>
          <a:ln>
            <a:noFill/>
          </a:ln>
        </p:spPr>
        <p:txBody>
          <a:bodyPr anchorCtr="0" anchor="t" bIns="45700" lIns="91425" spcFirstLastPara="1" rIns="91425" wrap="square" tIns="45700">
            <a:normAutofit/>
          </a:bodyPr>
          <a:lstStyle>
            <a:lvl1pPr indent="-328041" lvl="0" marL="457200" algn="l">
              <a:lnSpc>
                <a:spcPct val="120000"/>
              </a:lnSpc>
              <a:spcBef>
                <a:spcPts val="1000"/>
              </a:spcBef>
              <a:spcAft>
                <a:spcPts val="0"/>
              </a:spcAft>
              <a:buClr>
                <a:schemeClr val="dk1"/>
              </a:buClr>
              <a:buSzPts val="1566"/>
              <a:buChar char="•"/>
              <a:defRPr/>
            </a:lvl1pPr>
            <a:lvl2pPr indent="-328041" lvl="1" marL="914400" algn="l">
              <a:lnSpc>
                <a:spcPct val="120000"/>
              </a:lnSpc>
              <a:spcBef>
                <a:spcPts val="500"/>
              </a:spcBef>
              <a:spcAft>
                <a:spcPts val="0"/>
              </a:spcAft>
              <a:buClr>
                <a:schemeClr val="dk1"/>
              </a:buClr>
              <a:buSzPts val="1566"/>
              <a:buChar char="•"/>
              <a:defRPr/>
            </a:lvl2pPr>
            <a:lvl3pPr indent="-328041" lvl="2" marL="1371600" algn="l">
              <a:lnSpc>
                <a:spcPct val="120000"/>
              </a:lnSpc>
              <a:spcBef>
                <a:spcPts val="500"/>
              </a:spcBef>
              <a:spcAft>
                <a:spcPts val="0"/>
              </a:spcAft>
              <a:buClr>
                <a:schemeClr val="dk1"/>
              </a:buClr>
              <a:buSzPts val="1566"/>
              <a:buChar char="•"/>
              <a:defRPr/>
            </a:lvl3pPr>
            <a:lvl4pPr indent="-328041" lvl="3" marL="1828800" algn="l">
              <a:lnSpc>
                <a:spcPct val="120000"/>
              </a:lnSpc>
              <a:spcBef>
                <a:spcPts val="500"/>
              </a:spcBef>
              <a:spcAft>
                <a:spcPts val="0"/>
              </a:spcAft>
              <a:buClr>
                <a:schemeClr val="dk1"/>
              </a:buClr>
              <a:buSzPts val="1566"/>
              <a:buChar char="•"/>
              <a:defRPr/>
            </a:lvl4pPr>
            <a:lvl5pPr indent="-328041" lvl="4" marL="2286000" algn="l">
              <a:lnSpc>
                <a:spcPct val="120000"/>
              </a:lnSpc>
              <a:spcBef>
                <a:spcPts val="500"/>
              </a:spcBef>
              <a:spcAft>
                <a:spcPts val="0"/>
              </a:spcAft>
              <a:buClr>
                <a:schemeClr val="dk1"/>
              </a:buClr>
              <a:buSzPts val="156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15"/>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5"/>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1" name="Google Shape;31;p16"/>
          <p:cNvSpPr txBox="1"/>
          <p:nvPr>
            <p:ph type="title"/>
          </p:nvPr>
        </p:nvSpPr>
        <p:spPr>
          <a:xfrm>
            <a:off x="640080" y="1291366"/>
            <a:ext cx="9214884" cy="315997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5400"/>
              <a:buFont typeface="Play"/>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 type="body"/>
          </p:nvPr>
        </p:nvSpPr>
        <p:spPr>
          <a:xfrm>
            <a:off x="640080" y="5018567"/>
            <a:ext cx="7907079" cy="1073889"/>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40"/>
              <a:buNone/>
              <a:defRPr sz="2000">
                <a:solidFill>
                  <a:schemeClr val="dk1"/>
                </a:solidFill>
              </a:defRPr>
            </a:lvl1pPr>
            <a:lvl2pPr indent="-228600" lvl="1" marL="914400" algn="l">
              <a:lnSpc>
                <a:spcPct val="120000"/>
              </a:lnSpc>
              <a:spcBef>
                <a:spcPts val="500"/>
              </a:spcBef>
              <a:spcAft>
                <a:spcPts val="0"/>
              </a:spcAft>
              <a:buClr>
                <a:srgbClr val="888888"/>
              </a:buClr>
              <a:buSzPts val="1740"/>
              <a:buNone/>
              <a:defRPr sz="2000">
                <a:solidFill>
                  <a:srgbClr val="888888"/>
                </a:solidFill>
              </a:defRPr>
            </a:lvl2pPr>
            <a:lvl3pPr indent="-228600" lvl="2" marL="1371600" algn="l">
              <a:lnSpc>
                <a:spcPct val="120000"/>
              </a:lnSpc>
              <a:spcBef>
                <a:spcPts val="500"/>
              </a:spcBef>
              <a:spcAft>
                <a:spcPts val="0"/>
              </a:spcAft>
              <a:buClr>
                <a:srgbClr val="888888"/>
              </a:buClr>
              <a:buSzPts val="1566"/>
              <a:buNone/>
              <a:defRPr sz="1800">
                <a:solidFill>
                  <a:srgbClr val="888888"/>
                </a:solidFill>
              </a:defRPr>
            </a:lvl3pPr>
            <a:lvl4pPr indent="-228600" lvl="3" marL="1828800" algn="l">
              <a:lnSpc>
                <a:spcPct val="120000"/>
              </a:lnSpc>
              <a:spcBef>
                <a:spcPts val="500"/>
              </a:spcBef>
              <a:spcAft>
                <a:spcPts val="0"/>
              </a:spcAft>
              <a:buClr>
                <a:srgbClr val="888888"/>
              </a:buClr>
              <a:buSzPts val="1392"/>
              <a:buNone/>
              <a:defRPr sz="1600">
                <a:solidFill>
                  <a:srgbClr val="888888"/>
                </a:solidFill>
              </a:defRPr>
            </a:lvl4pPr>
            <a:lvl5pPr indent="-228600" lvl="4" marL="2286000" algn="l">
              <a:lnSpc>
                <a:spcPct val="120000"/>
              </a:lnSpc>
              <a:spcBef>
                <a:spcPts val="500"/>
              </a:spcBef>
              <a:spcAft>
                <a:spcPts val="0"/>
              </a:spcAft>
              <a:buClr>
                <a:srgbClr val="888888"/>
              </a:buClr>
              <a:buSzPts val="13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16"/>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cxnSp>
        <p:nvCxnSpPr>
          <p:cNvPr id="36" name="Google Shape;36;p16"/>
          <p:cNvCxnSpPr/>
          <p:nvPr/>
        </p:nvCxnSpPr>
        <p:spPr>
          <a:xfrm>
            <a:off x="716281" y="4715234"/>
            <a:ext cx="978862" cy="0"/>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7"/>
          <p:cNvSpPr txBox="1"/>
          <p:nvPr>
            <p:ph type="title"/>
          </p:nvPr>
        </p:nvSpPr>
        <p:spPr>
          <a:xfrm>
            <a:off x="640079" y="1371601"/>
            <a:ext cx="10890929" cy="109728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 type="body"/>
          </p:nvPr>
        </p:nvSpPr>
        <p:spPr>
          <a:xfrm>
            <a:off x="640080" y="2633472"/>
            <a:ext cx="5212080" cy="3566160"/>
          </a:xfrm>
          <a:prstGeom prst="rect">
            <a:avLst/>
          </a:prstGeom>
          <a:noFill/>
          <a:ln>
            <a:noFill/>
          </a:ln>
        </p:spPr>
        <p:txBody>
          <a:bodyPr anchorCtr="0" anchor="t" bIns="45700" lIns="91425" spcFirstLastPara="1" rIns="91425" wrap="square" tIns="45700">
            <a:normAutofit/>
          </a:bodyPr>
          <a:lstStyle>
            <a:lvl1pPr indent="-328041" lvl="0" marL="457200" algn="l">
              <a:lnSpc>
                <a:spcPct val="120000"/>
              </a:lnSpc>
              <a:spcBef>
                <a:spcPts val="1000"/>
              </a:spcBef>
              <a:spcAft>
                <a:spcPts val="0"/>
              </a:spcAft>
              <a:buClr>
                <a:schemeClr val="dk1"/>
              </a:buClr>
              <a:buSzPts val="1566"/>
              <a:buChar char="•"/>
              <a:defRPr/>
            </a:lvl1pPr>
            <a:lvl2pPr indent="-328041" lvl="1" marL="914400" algn="l">
              <a:lnSpc>
                <a:spcPct val="120000"/>
              </a:lnSpc>
              <a:spcBef>
                <a:spcPts val="500"/>
              </a:spcBef>
              <a:spcAft>
                <a:spcPts val="0"/>
              </a:spcAft>
              <a:buClr>
                <a:schemeClr val="dk1"/>
              </a:buClr>
              <a:buSzPts val="1566"/>
              <a:buChar char="•"/>
              <a:defRPr/>
            </a:lvl2pPr>
            <a:lvl3pPr indent="-328041" lvl="2" marL="1371600" algn="l">
              <a:lnSpc>
                <a:spcPct val="120000"/>
              </a:lnSpc>
              <a:spcBef>
                <a:spcPts val="500"/>
              </a:spcBef>
              <a:spcAft>
                <a:spcPts val="0"/>
              </a:spcAft>
              <a:buClr>
                <a:schemeClr val="dk1"/>
              </a:buClr>
              <a:buSzPts val="1566"/>
              <a:buChar char="•"/>
              <a:defRPr/>
            </a:lvl3pPr>
            <a:lvl4pPr indent="-328041" lvl="3" marL="1828800" algn="l">
              <a:lnSpc>
                <a:spcPct val="120000"/>
              </a:lnSpc>
              <a:spcBef>
                <a:spcPts val="500"/>
              </a:spcBef>
              <a:spcAft>
                <a:spcPts val="0"/>
              </a:spcAft>
              <a:buClr>
                <a:schemeClr val="dk1"/>
              </a:buClr>
              <a:buSzPts val="1566"/>
              <a:buChar char="•"/>
              <a:defRPr/>
            </a:lvl4pPr>
            <a:lvl5pPr indent="-328041" lvl="4" marL="2286000" algn="l">
              <a:lnSpc>
                <a:spcPct val="120000"/>
              </a:lnSpc>
              <a:spcBef>
                <a:spcPts val="500"/>
              </a:spcBef>
              <a:spcAft>
                <a:spcPts val="0"/>
              </a:spcAft>
              <a:buClr>
                <a:schemeClr val="dk1"/>
              </a:buClr>
              <a:buSzPts val="156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7"/>
          <p:cNvSpPr txBox="1"/>
          <p:nvPr>
            <p:ph idx="2" type="body"/>
          </p:nvPr>
        </p:nvSpPr>
        <p:spPr>
          <a:xfrm>
            <a:off x="6318928" y="2633472"/>
            <a:ext cx="5212080" cy="3566160"/>
          </a:xfrm>
          <a:prstGeom prst="rect">
            <a:avLst/>
          </a:prstGeom>
          <a:noFill/>
          <a:ln>
            <a:noFill/>
          </a:ln>
        </p:spPr>
        <p:txBody>
          <a:bodyPr anchorCtr="0" anchor="t" bIns="45700" lIns="91425" spcFirstLastPara="1" rIns="91425" wrap="square" tIns="45700">
            <a:normAutofit/>
          </a:bodyPr>
          <a:lstStyle>
            <a:lvl1pPr indent="-328041" lvl="0" marL="457200" algn="l">
              <a:lnSpc>
                <a:spcPct val="120000"/>
              </a:lnSpc>
              <a:spcBef>
                <a:spcPts val="1000"/>
              </a:spcBef>
              <a:spcAft>
                <a:spcPts val="0"/>
              </a:spcAft>
              <a:buClr>
                <a:schemeClr val="dk1"/>
              </a:buClr>
              <a:buSzPts val="1566"/>
              <a:buChar char="•"/>
              <a:defRPr/>
            </a:lvl1pPr>
            <a:lvl2pPr indent="-328041" lvl="1" marL="914400" algn="l">
              <a:lnSpc>
                <a:spcPct val="120000"/>
              </a:lnSpc>
              <a:spcBef>
                <a:spcPts val="500"/>
              </a:spcBef>
              <a:spcAft>
                <a:spcPts val="0"/>
              </a:spcAft>
              <a:buClr>
                <a:schemeClr val="dk1"/>
              </a:buClr>
              <a:buSzPts val="1566"/>
              <a:buChar char="•"/>
              <a:defRPr/>
            </a:lvl2pPr>
            <a:lvl3pPr indent="-328041" lvl="2" marL="1371600" algn="l">
              <a:lnSpc>
                <a:spcPct val="120000"/>
              </a:lnSpc>
              <a:spcBef>
                <a:spcPts val="500"/>
              </a:spcBef>
              <a:spcAft>
                <a:spcPts val="0"/>
              </a:spcAft>
              <a:buClr>
                <a:schemeClr val="dk1"/>
              </a:buClr>
              <a:buSzPts val="1566"/>
              <a:buChar char="•"/>
              <a:defRPr/>
            </a:lvl3pPr>
            <a:lvl4pPr indent="-328041" lvl="3" marL="1828800" algn="l">
              <a:lnSpc>
                <a:spcPct val="120000"/>
              </a:lnSpc>
              <a:spcBef>
                <a:spcPts val="500"/>
              </a:spcBef>
              <a:spcAft>
                <a:spcPts val="0"/>
              </a:spcAft>
              <a:buClr>
                <a:schemeClr val="dk1"/>
              </a:buClr>
              <a:buSzPts val="1566"/>
              <a:buChar char="•"/>
              <a:defRPr/>
            </a:lvl4pPr>
            <a:lvl5pPr indent="-328041" lvl="4" marL="2286000" algn="l">
              <a:lnSpc>
                <a:spcPct val="120000"/>
              </a:lnSpc>
              <a:spcBef>
                <a:spcPts val="500"/>
              </a:spcBef>
              <a:spcAft>
                <a:spcPts val="0"/>
              </a:spcAft>
              <a:buClr>
                <a:schemeClr val="dk1"/>
              </a:buClr>
              <a:buSzPts val="156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7"/>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7"/>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8"/>
          <p:cNvSpPr txBox="1"/>
          <p:nvPr>
            <p:ph type="title"/>
          </p:nvPr>
        </p:nvSpPr>
        <p:spPr>
          <a:xfrm>
            <a:off x="640079" y="1371599"/>
            <a:ext cx="10890929" cy="93975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8"/>
          <p:cNvSpPr txBox="1"/>
          <p:nvPr>
            <p:ph idx="1" type="body"/>
          </p:nvPr>
        </p:nvSpPr>
        <p:spPr>
          <a:xfrm>
            <a:off x="640079" y="2311352"/>
            <a:ext cx="5212080" cy="695373"/>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566"/>
              <a:buNone/>
              <a:defRPr b="1" sz="1800" cap="none"/>
            </a:lvl1pPr>
            <a:lvl2pPr indent="-228600" lvl="1" marL="914400" algn="l">
              <a:lnSpc>
                <a:spcPct val="120000"/>
              </a:lnSpc>
              <a:spcBef>
                <a:spcPts val="500"/>
              </a:spcBef>
              <a:spcAft>
                <a:spcPts val="0"/>
              </a:spcAft>
              <a:buClr>
                <a:schemeClr val="dk1"/>
              </a:buClr>
              <a:buSzPts val="1740"/>
              <a:buNone/>
              <a:defRPr b="1" sz="2000"/>
            </a:lvl2pPr>
            <a:lvl3pPr indent="-228600" lvl="2" marL="1371600" algn="l">
              <a:lnSpc>
                <a:spcPct val="120000"/>
              </a:lnSpc>
              <a:spcBef>
                <a:spcPts val="500"/>
              </a:spcBef>
              <a:spcAft>
                <a:spcPts val="0"/>
              </a:spcAft>
              <a:buClr>
                <a:schemeClr val="dk1"/>
              </a:buClr>
              <a:buSzPts val="1566"/>
              <a:buNone/>
              <a:defRPr b="1" sz="1800"/>
            </a:lvl3pPr>
            <a:lvl4pPr indent="-228600" lvl="3" marL="1828800" algn="l">
              <a:lnSpc>
                <a:spcPct val="120000"/>
              </a:lnSpc>
              <a:spcBef>
                <a:spcPts val="500"/>
              </a:spcBef>
              <a:spcAft>
                <a:spcPts val="0"/>
              </a:spcAft>
              <a:buClr>
                <a:schemeClr val="dk1"/>
              </a:buClr>
              <a:buSzPts val="1392"/>
              <a:buNone/>
              <a:defRPr b="1" sz="1600"/>
            </a:lvl4pPr>
            <a:lvl5pPr indent="-228600" lvl="4" marL="2286000" algn="l">
              <a:lnSpc>
                <a:spcPct val="120000"/>
              </a:lnSpc>
              <a:spcBef>
                <a:spcPts val="500"/>
              </a:spcBef>
              <a:spcAft>
                <a:spcPts val="0"/>
              </a:spcAft>
              <a:buClr>
                <a:schemeClr val="dk1"/>
              </a:buClr>
              <a:buSzPts val="1392"/>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8"/>
          <p:cNvSpPr txBox="1"/>
          <p:nvPr>
            <p:ph idx="2" type="body"/>
          </p:nvPr>
        </p:nvSpPr>
        <p:spPr>
          <a:xfrm>
            <a:off x="640079" y="3006725"/>
            <a:ext cx="5212080" cy="3191256"/>
          </a:xfrm>
          <a:prstGeom prst="rect">
            <a:avLst/>
          </a:prstGeom>
          <a:noFill/>
          <a:ln>
            <a:noFill/>
          </a:ln>
        </p:spPr>
        <p:txBody>
          <a:bodyPr anchorCtr="0" anchor="t" bIns="45700" lIns="91425" spcFirstLastPara="1" rIns="91425" wrap="square" tIns="45700">
            <a:normAutofit/>
          </a:bodyPr>
          <a:lstStyle>
            <a:lvl1pPr indent="-328041" lvl="0" marL="457200" algn="l">
              <a:lnSpc>
                <a:spcPct val="120000"/>
              </a:lnSpc>
              <a:spcBef>
                <a:spcPts val="1000"/>
              </a:spcBef>
              <a:spcAft>
                <a:spcPts val="0"/>
              </a:spcAft>
              <a:buClr>
                <a:schemeClr val="dk1"/>
              </a:buClr>
              <a:buSzPts val="1566"/>
              <a:buChar char="•"/>
              <a:defRPr/>
            </a:lvl1pPr>
            <a:lvl2pPr indent="-328041" lvl="1" marL="914400" algn="l">
              <a:lnSpc>
                <a:spcPct val="120000"/>
              </a:lnSpc>
              <a:spcBef>
                <a:spcPts val="500"/>
              </a:spcBef>
              <a:spcAft>
                <a:spcPts val="0"/>
              </a:spcAft>
              <a:buClr>
                <a:schemeClr val="dk1"/>
              </a:buClr>
              <a:buSzPts val="1566"/>
              <a:buChar char="•"/>
              <a:defRPr/>
            </a:lvl2pPr>
            <a:lvl3pPr indent="-328041" lvl="2" marL="1371600" algn="l">
              <a:lnSpc>
                <a:spcPct val="120000"/>
              </a:lnSpc>
              <a:spcBef>
                <a:spcPts val="500"/>
              </a:spcBef>
              <a:spcAft>
                <a:spcPts val="0"/>
              </a:spcAft>
              <a:buClr>
                <a:schemeClr val="dk1"/>
              </a:buClr>
              <a:buSzPts val="1566"/>
              <a:buChar char="•"/>
              <a:defRPr/>
            </a:lvl3pPr>
            <a:lvl4pPr indent="-328041" lvl="3" marL="1828800" algn="l">
              <a:lnSpc>
                <a:spcPct val="120000"/>
              </a:lnSpc>
              <a:spcBef>
                <a:spcPts val="500"/>
              </a:spcBef>
              <a:spcAft>
                <a:spcPts val="0"/>
              </a:spcAft>
              <a:buClr>
                <a:schemeClr val="dk1"/>
              </a:buClr>
              <a:buSzPts val="1566"/>
              <a:buChar char="•"/>
              <a:defRPr/>
            </a:lvl4pPr>
            <a:lvl5pPr indent="-328041" lvl="4" marL="2286000" algn="l">
              <a:lnSpc>
                <a:spcPct val="120000"/>
              </a:lnSpc>
              <a:spcBef>
                <a:spcPts val="500"/>
              </a:spcBef>
              <a:spcAft>
                <a:spcPts val="0"/>
              </a:spcAft>
              <a:buClr>
                <a:schemeClr val="dk1"/>
              </a:buClr>
              <a:buSzPts val="156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8"/>
          <p:cNvSpPr txBox="1"/>
          <p:nvPr>
            <p:ph idx="3" type="body"/>
          </p:nvPr>
        </p:nvSpPr>
        <p:spPr>
          <a:xfrm>
            <a:off x="6318928" y="2311352"/>
            <a:ext cx="5212080" cy="695373"/>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566"/>
              <a:buNone/>
              <a:defRPr b="1" sz="1800" cap="none"/>
            </a:lvl1pPr>
            <a:lvl2pPr indent="-228600" lvl="1" marL="914400" algn="l">
              <a:lnSpc>
                <a:spcPct val="120000"/>
              </a:lnSpc>
              <a:spcBef>
                <a:spcPts val="500"/>
              </a:spcBef>
              <a:spcAft>
                <a:spcPts val="0"/>
              </a:spcAft>
              <a:buClr>
                <a:schemeClr val="dk1"/>
              </a:buClr>
              <a:buSzPts val="1740"/>
              <a:buNone/>
              <a:defRPr b="1" sz="2000"/>
            </a:lvl2pPr>
            <a:lvl3pPr indent="-228600" lvl="2" marL="1371600" algn="l">
              <a:lnSpc>
                <a:spcPct val="120000"/>
              </a:lnSpc>
              <a:spcBef>
                <a:spcPts val="500"/>
              </a:spcBef>
              <a:spcAft>
                <a:spcPts val="0"/>
              </a:spcAft>
              <a:buClr>
                <a:schemeClr val="dk1"/>
              </a:buClr>
              <a:buSzPts val="1566"/>
              <a:buNone/>
              <a:defRPr b="1" sz="1800"/>
            </a:lvl3pPr>
            <a:lvl4pPr indent="-228600" lvl="3" marL="1828800" algn="l">
              <a:lnSpc>
                <a:spcPct val="120000"/>
              </a:lnSpc>
              <a:spcBef>
                <a:spcPts val="500"/>
              </a:spcBef>
              <a:spcAft>
                <a:spcPts val="0"/>
              </a:spcAft>
              <a:buClr>
                <a:schemeClr val="dk1"/>
              </a:buClr>
              <a:buSzPts val="1392"/>
              <a:buNone/>
              <a:defRPr b="1" sz="1600"/>
            </a:lvl4pPr>
            <a:lvl5pPr indent="-228600" lvl="4" marL="2286000" algn="l">
              <a:lnSpc>
                <a:spcPct val="120000"/>
              </a:lnSpc>
              <a:spcBef>
                <a:spcPts val="500"/>
              </a:spcBef>
              <a:spcAft>
                <a:spcPts val="0"/>
              </a:spcAft>
              <a:buClr>
                <a:schemeClr val="dk1"/>
              </a:buClr>
              <a:buSzPts val="1392"/>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8"/>
          <p:cNvSpPr txBox="1"/>
          <p:nvPr>
            <p:ph idx="4" type="body"/>
          </p:nvPr>
        </p:nvSpPr>
        <p:spPr>
          <a:xfrm>
            <a:off x="6318928" y="3006725"/>
            <a:ext cx="5212080" cy="3191256"/>
          </a:xfrm>
          <a:prstGeom prst="rect">
            <a:avLst/>
          </a:prstGeom>
          <a:noFill/>
          <a:ln>
            <a:noFill/>
          </a:ln>
        </p:spPr>
        <p:txBody>
          <a:bodyPr anchorCtr="0" anchor="t" bIns="45700" lIns="91425" spcFirstLastPara="1" rIns="91425" wrap="square" tIns="45700">
            <a:normAutofit/>
          </a:bodyPr>
          <a:lstStyle>
            <a:lvl1pPr indent="-328041" lvl="0" marL="457200" algn="l">
              <a:lnSpc>
                <a:spcPct val="120000"/>
              </a:lnSpc>
              <a:spcBef>
                <a:spcPts val="1000"/>
              </a:spcBef>
              <a:spcAft>
                <a:spcPts val="0"/>
              </a:spcAft>
              <a:buClr>
                <a:schemeClr val="dk1"/>
              </a:buClr>
              <a:buSzPts val="1566"/>
              <a:buChar char="•"/>
              <a:defRPr/>
            </a:lvl1pPr>
            <a:lvl2pPr indent="-328041" lvl="1" marL="914400" algn="l">
              <a:lnSpc>
                <a:spcPct val="120000"/>
              </a:lnSpc>
              <a:spcBef>
                <a:spcPts val="500"/>
              </a:spcBef>
              <a:spcAft>
                <a:spcPts val="0"/>
              </a:spcAft>
              <a:buClr>
                <a:schemeClr val="dk1"/>
              </a:buClr>
              <a:buSzPts val="1566"/>
              <a:buChar char="•"/>
              <a:defRPr/>
            </a:lvl2pPr>
            <a:lvl3pPr indent="-328041" lvl="2" marL="1371600" algn="l">
              <a:lnSpc>
                <a:spcPct val="120000"/>
              </a:lnSpc>
              <a:spcBef>
                <a:spcPts val="500"/>
              </a:spcBef>
              <a:spcAft>
                <a:spcPts val="0"/>
              </a:spcAft>
              <a:buClr>
                <a:schemeClr val="dk1"/>
              </a:buClr>
              <a:buSzPts val="1566"/>
              <a:buChar char="•"/>
              <a:defRPr/>
            </a:lvl3pPr>
            <a:lvl4pPr indent="-328041" lvl="3" marL="1828800" algn="l">
              <a:lnSpc>
                <a:spcPct val="120000"/>
              </a:lnSpc>
              <a:spcBef>
                <a:spcPts val="500"/>
              </a:spcBef>
              <a:spcAft>
                <a:spcPts val="0"/>
              </a:spcAft>
              <a:buClr>
                <a:schemeClr val="dk1"/>
              </a:buClr>
              <a:buSzPts val="1566"/>
              <a:buChar char="•"/>
              <a:defRPr/>
            </a:lvl4pPr>
            <a:lvl5pPr indent="-328041" lvl="4" marL="2286000" algn="l">
              <a:lnSpc>
                <a:spcPct val="120000"/>
              </a:lnSpc>
              <a:spcBef>
                <a:spcPts val="500"/>
              </a:spcBef>
              <a:spcAft>
                <a:spcPts val="0"/>
              </a:spcAft>
              <a:buClr>
                <a:schemeClr val="dk1"/>
              </a:buClr>
              <a:buSzPts val="156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8"/>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9"/>
          <p:cNvSpPr txBox="1"/>
          <p:nvPr>
            <p:ph type="title"/>
          </p:nvPr>
        </p:nvSpPr>
        <p:spPr>
          <a:xfrm>
            <a:off x="640079" y="1371601"/>
            <a:ext cx="10890929" cy="109728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9"/>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640080" y="1371600"/>
            <a:ext cx="3859397" cy="145172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600"/>
              <a:buFont typeface="Pla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4936519" y="1031001"/>
            <a:ext cx="6594490" cy="5166360"/>
          </a:xfrm>
          <a:prstGeom prst="rect">
            <a:avLst/>
          </a:prstGeom>
          <a:noFill/>
          <a:ln>
            <a:noFill/>
          </a:ln>
        </p:spPr>
        <p:txBody>
          <a:bodyPr anchorCtr="0" anchor="t" bIns="45700" lIns="91425" spcFirstLastPara="1" rIns="91425" wrap="square" tIns="45700">
            <a:normAutofit/>
          </a:bodyPr>
          <a:lstStyle>
            <a:lvl1pPr indent="-383286" lvl="0" marL="457200" algn="l">
              <a:lnSpc>
                <a:spcPct val="120000"/>
              </a:lnSpc>
              <a:spcBef>
                <a:spcPts val="1000"/>
              </a:spcBef>
              <a:spcAft>
                <a:spcPts val="0"/>
              </a:spcAft>
              <a:buClr>
                <a:schemeClr val="dk1"/>
              </a:buClr>
              <a:buSzPts val="2436"/>
              <a:buChar char="•"/>
              <a:defRPr sz="2800"/>
            </a:lvl1pPr>
            <a:lvl2pPr indent="-361188" lvl="1" marL="914400" algn="l">
              <a:lnSpc>
                <a:spcPct val="120000"/>
              </a:lnSpc>
              <a:spcBef>
                <a:spcPts val="500"/>
              </a:spcBef>
              <a:spcAft>
                <a:spcPts val="0"/>
              </a:spcAft>
              <a:buClr>
                <a:schemeClr val="dk1"/>
              </a:buClr>
              <a:buSzPts val="2088"/>
              <a:buChar char="•"/>
              <a:defRPr sz="2400"/>
            </a:lvl2pPr>
            <a:lvl3pPr indent="-339090" lvl="2" marL="1371600" algn="l">
              <a:lnSpc>
                <a:spcPct val="120000"/>
              </a:lnSpc>
              <a:spcBef>
                <a:spcPts val="500"/>
              </a:spcBef>
              <a:spcAft>
                <a:spcPts val="0"/>
              </a:spcAft>
              <a:buClr>
                <a:schemeClr val="dk1"/>
              </a:buClr>
              <a:buSzPts val="1740"/>
              <a:buChar char="•"/>
              <a:defRPr sz="2000"/>
            </a:lvl3pPr>
            <a:lvl4pPr indent="-328041" lvl="3" marL="1828800" algn="l">
              <a:lnSpc>
                <a:spcPct val="120000"/>
              </a:lnSpc>
              <a:spcBef>
                <a:spcPts val="500"/>
              </a:spcBef>
              <a:spcAft>
                <a:spcPts val="0"/>
              </a:spcAft>
              <a:buClr>
                <a:schemeClr val="dk1"/>
              </a:buClr>
              <a:buSzPts val="1566"/>
              <a:buChar char="•"/>
              <a:defRPr sz="1800"/>
            </a:lvl4pPr>
            <a:lvl5pPr indent="-328041" lvl="4" marL="2286000" algn="l">
              <a:lnSpc>
                <a:spcPct val="120000"/>
              </a:lnSpc>
              <a:spcBef>
                <a:spcPts val="500"/>
              </a:spcBef>
              <a:spcAft>
                <a:spcPts val="0"/>
              </a:spcAft>
              <a:buClr>
                <a:schemeClr val="dk1"/>
              </a:buClr>
              <a:buSzPts val="1566"/>
              <a:buChar char="•"/>
              <a:defRPr sz="18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640080" y="2972168"/>
            <a:ext cx="3859397" cy="322682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392"/>
              <a:buNone/>
              <a:defRPr sz="1600"/>
            </a:lvl1pPr>
            <a:lvl2pPr indent="-228600" lvl="1" marL="914400" algn="l">
              <a:lnSpc>
                <a:spcPct val="120000"/>
              </a:lnSpc>
              <a:spcBef>
                <a:spcPts val="500"/>
              </a:spcBef>
              <a:spcAft>
                <a:spcPts val="0"/>
              </a:spcAft>
              <a:buClr>
                <a:schemeClr val="dk1"/>
              </a:buClr>
              <a:buSzPts val="1218"/>
              <a:buNone/>
              <a:defRPr sz="1400"/>
            </a:lvl2pPr>
            <a:lvl3pPr indent="-228600" lvl="2" marL="1371600" algn="l">
              <a:lnSpc>
                <a:spcPct val="120000"/>
              </a:lnSpc>
              <a:spcBef>
                <a:spcPts val="500"/>
              </a:spcBef>
              <a:spcAft>
                <a:spcPts val="0"/>
              </a:spcAft>
              <a:buClr>
                <a:schemeClr val="dk1"/>
              </a:buClr>
              <a:buSzPts val="1044"/>
              <a:buNone/>
              <a:defRPr sz="1200"/>
            </a:lvl3pPr>
            <a:lvl4pPr indent="-228600" lvl="3" marL="1828800" algn="l">
              <a:lnSpc>
                <a:spcPct val="120000"/>
              </a:lnSpc>
              <a:spcBef>
                <a:spcPts val="500"/>
              </a:spcBef>
              <a:spcAft>
                <a:spcPts val="0"/>
              </a:spcAft>
              <a:buClr>
                <a:schemeClr val="dk1"/>
              </a:buClr>
              <a:buSzPts val="870"/>
              <a:buNone/>
              <a:defRPr sz="1000"/>
            </a:lvl4pPr>
            <a:lvl5pPr indent="-228600" lvl="4" marL="2286000" algn="l">
              <a:lnSpc>
                <a:spcPct val="120000"/>
              </a:lnSpc>
              <a:spcBef>
                <a:spcPts val="500"/>
              </a:spcBef>
              <a:spcAft>
                <a:spcPts val="0"/>
              </a:spcAft>
              <a:buClr>
                <a:schemeClr val="dk1"/>
              </a:buClr>
              <a:buSzPts val="87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640080" y="1371600"/>
            <a:ext cx="3859397" cy="145172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600"/>
              <a:buFont typeface="Pla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p:nvPr>
            <p:ph idx="2" type="pic"/>
          </p:nvPr>
        </p:nvSpPr>
        <p:spPr>
          <a:xfrm>
            <a:off x="4937760" y="1033271"/>
            <a:ext cx="6592824" cy="5166360"/>
          </a:xfrm>
          <a:prstGeom prst="rect">
            <a:avLst/>
          </a:prstGeom>
          <a:noFill/>
          <a:ln>
            <a:noFill/>
          </a:ln>
        </p:spPr>
      </p:sp>
      <p:sp>
        <p:nvSpPr>
          <p:cNvPr id="68" name="Google Shape;68;p21"/>
          <p:cNvSpPr txBox="1"/>
          <p:nvPr>
            <p:ph idx="1" type="body"/>
          </p:nvPr>
        </p:nvSpPr>
        <p:spPr>
          <a:xfrm>
            <a:off x="640080" y="2972167"/>
            <a:ext cx="3859397" cy="322682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392"/>
              <a:buNone/>
              <a:defRPr sz="1600"/>
            </a:lvl1pPr>
            <a:lvl2pPr indent="-228600" lvl="1" marL="914400" algn="l">
              <a:lnSpc>
                <a:spcPct val="120000"/>
              </a:lnSpc>
              <a:spcBef>
                <a:spcPts val="500"/>
              </a:spcBef>
              <a:spcAft>
                <a:spcPts val="0"/>
              </a:spcAft>
              <a:buClr>
                <a:schemeClr val="dk1"/>
              </a:buClr>
              <a:buSzPts val="1218"/>
              <a:buNone/>
              <a:defRPr sz="1400"/>
            </a:lvl2pPr>
            <a:lvl3pPr indent="-228600" lvl="2" marL="1371600" algn="l">
              <a:lnSpc>
                <a:spcPct val="120000"/>
              </a:lnSpc>
              <a:spcBef>
                <a:spcPts val="500"/>
              </a:spcBef>
              <a:spcAft>
                <a:spcPts val="0"/>
              </a:spcAft>
              <a:buClr>
                <a:schemeClr val="dk1"/>
              </a:buClr>
              <a:buSzPts val="1044"/>
              <a:buNone/>
              <a:defRPr sz="1200"/>
            </a:lvl3pPr>
            <a:lvl4pPr indent="-228600" lvl="3" marL="1828800" algn="l">
              <a:lnSpc>
                <a:spcPct val="120000"/>
              </a:lnSpc>
              <a:spcBef>
                <a:spcPts val="500"/>
              </a:spcBef>
              <a:spcAft>
                <a:spcPts val="0"/>
              </a:spcAft>
              <a:buClr>
                <a:schemeClr val="dk1"/>
              </a:buClr>
              <a:buSzPts val="870"/>
              <a:buNone/>
              <a:defRPr sz="1000"/>
            </a:lvl4pPr>
            <a:lvl5pPr indent="-228600" lvl="4" marL="2286000" algn="l">
              <a:lnSpc>
                <a:spcPct val="120000"/>
              </a:lnSpc>
              <a:spcBef>
                <a:spcPts val="500"/>
              </a:spcBef>
              <a:spcAft>
                <a:spcPts val="0"/>
              </a:spcAft>
              <a:buClr>
                <a:schemeClr val="dk1"/>
              </a:buClr>
              <a:buSzPts val="87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640079" y="1371601"/>
            <a:ext cx="10890929" cy="109728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4302464" y="-1028912"/>
            <a:ext cx="3566160" cy="10890928"/>
          </a:xfrm>
          <a:prstGeom prst="rect">
            <a:avLst/>
          </a:prstGeom>
          <a:noFill/>
          <a:ln>
            <a:noFill/>
          </a:ln>
        </p:spPr>
        <p:txBody>
          <a:bodyPr anchorCtr="0" anchor="t" bIns="45700" lIns="91425" spcFirstLastPara="1" rIns="91425" wrap="square" tIns="45700">
            <a:normAutofit/>
          </a:bodyPr>
          <a:lstStyle>
            <a:lvl1pPr indent="-328041" lvl="0" marL="457200" algn="l">
              <a:lnSpc>
                <a:spcPct val="120000"/>
              </a:lnSpc>
              <a:spcBef>
                <a:spcPts val="1000"/>
              </a:spcBef>
              <a:spcAft>
                <a:spcPts val="0"/>
              </a:spcAft>
              <a:buClr>
                <a:schemeClr val="dk1"/>
              </a:buClr>
              <a:buSzPts val="1566"/>
              <a:buChar char="•"/>
              <a:defRPr/>
            </a:lvl1pPr>
            <a:lvl2pPr indent="-328041" lvl="1" marL="914400" algn="l">
              <a:lnSpc>
                <a:spcPct val="120000"/>
              </a:lnSpc>
              <a:spcBef>
                <a:spcPts val="500"/>
              </a:spcBef>
              <a:spcAft>
                <a:spcPts val="0"/>
              </a:spcAft>
              <a:buClr>
                <a:schemeClr val="dk1"/>
              </a:buClr>
              <a:buSzPts val="1566"/>
              <a:buChar char="•"/>
              <a:defRPr/>
            </a:lvl2pPr>
            <a:lvl3pPr indent="-328041" lvl="2" marL="1371600" algn="l">
              <a:lnSpc>
                <a:spcPct val="120000"/>
              </a:lnSpc>
              <a:spcBef>
                <a:spcPts val="500"/>
              </a:spcBef>
              <a:spcAft>
                <a:spcPts val="0"/>
              </a:spcAft>
              <a:buClr>
                <a:schemeClr val="dk1"/>
              </a:buClr>
              <a:buSzPts val="1566"/>
              <a:buChar char="•"/>
              <a:defRPr/>
            </a:lvl3pPr>
            <a:lvl4pPr indent="-328041" lvl="3" marL="1828800" algn="l">
              <a:lnSpc>
                <a:spcPct val="120000"/>
              </a:lnSpc>
              <a:spcBef>
                <a:spcPts val="500"/>
              </a:spcBef>
              <a:spcAft>
                <a:spcPts val="0"/>
              </a:spcAft>
              <a:buClr>
                <a:schemeClr val="dk1"/>
              </a:buClr>
              <a:buSzPts val="1566"/>
              <a:buChar char="•"/>
              <a:defRPr/>
            </a:lvl4pPr>
            <a:lvl5pPr indent="-328041" lvl="4" marL="2286000" algn="l">
              <a:lnSpc>
                <a:spcPct val="120000"/>
              </a:lnSpc>
              <a:spcBef>
                <a:spcPts val="500"/>
              </a:spcBef>
              <a:spcAft>
                <a:spcPts val="0"/>
              </a:spcAft>
              <a:buClr>
                <a:schemeClr val="dk1"/>
              </a:buClr>
              <a:buSzPts val="156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80" name="Google Shape;80;p23"/>
          <p:cNvSpPr txBox="1"/>
          <p:nvPr>
            <p:ph type="title"/>
          </p:nvPr>
        </p:nvSpPr>
        <p:spPr>
          <a:xfrm rot="5400000">
            <a:off x="7346663" y="2502635"/>
            <a:ext cx="5536884" cy="181177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3"/>
          <p:cNvSpPr txBox="1"/>
          <p:nvPr>
            <p:ph idx="1" type="body"/>
          </p:nvPr>
        </p:nvSpPr>
        <p:spPr>
          <a:xfrm rot="5400000">
            <a:off x="2077849" y="-797689"/>
            <a:ext cx="5536884" cy="8412422"/>
          </a:xfrm>
          <a:prstGeom prst="rect">
            <a:avLst/>
          </a:prstGeom>
          <a:noFill/>
          <a:ln>
            <a:noFill/>
          </a:ln>
        </p:spPr>
        <p:txBody>
          <a:bodyPr anchorCtr="0" anchor="t" bIns="45700" lIns="91425" spcFirstLastPara="1" rIns="91425" wrap="square" tIns="45700">
            <a:normAutofit/>
          </a:bodyPr>
          <a:lstStyle>
            <a:lvl1pPr indent="-328041" lvl="0" marL="457200" algn="l">
              <a:lnSpc>
                <a:spcPct val="120000"/>
              </a:lnSpc>
              <a:spcBef>
                <a:spcPts val="1000"/>
              </a:spcBef>
              <a:spcAft>
                <a:spcPts val="0"/>
              </a:spcAft>
              <a:buClr>
                <a:schemeClr val="dk1"/>
              </a:buClr>
              <a:buSzPts val="1566"/>
              <a:buChar char="•"/>
              <a:defRPr/>
            </a:lvl1pPr>
            <a:lvl2pPr indent="-328041" lvl="1" marL="914400" algn="l">
              <a:lnSpc>
                <a:spcPct val="120000"/>
              </a:lnSpc>
              <a:spcBef>
                <a:spcPts val="500"/>
              </a:spcBef>
              <a:spcAft>
                <a:spcPts val="0"/>
              </a:spcAft>
              <a:buClr>
                <a:schemeClr val="dk1"/>
              </a:buClr>
              <a:buSzPts val="1566"/>
              <a:buChar char="•"/>
              <a:defRPr/>
            </a:lvl2pPr>
            <a:lvl3pPr indent="-328041" lvl="2" marL="1371600" algn="l">
              <a:lnSpc>
                <a:spcPct val="120000"/>
              </a:lnSpc>
              <a:spcBef>
                <a:spcPts val="500"/>
              </a:spcBef>
              <a:spcAft>
                <a:spcPts val="0"/>
              </a:spcAft>
              <a:buClr>
                <a:schemeClr val="dk1"/>
              </a:buClr>
              <a:buSzPts val="1566"/>
              <a:buChar char="•"/>
              <a:defRPr/>
            </a:lvl3pPr>
            <a:lvl4pPr indent="-328041" lvl="3" marL="1828800" algn="l">
              <a:lnSpc>
                <a:spcPct val="120000"/>
              </a:lnSpc>
              <a:spcBef>
                <a:spcPts val="500"/>
              </a:spcBef>
              <a:spcAft>
                <a:spcPts val="0"/>
              </a:spcAft>
              <a:buClr>
                <a:schemeClr val="dk1"/>
              </a:buClr>
              <a:buSzPts val="1566"/>
              <a:buChar char="•"/>
              <a:defRPr/>
            </a:lvl4pPr>
            <a:lvl5pPr indent="-328041" lvl="4" marL="2286000" algn="l">
              <a:lnSpc>
                <a:spcPct val="120000"/>
              </a:lnSpc>
              <a:spcBef>
                <a:spcPts val="500"/>
              </a:spcBef>
              <a:spcAft>
                <a:spcPts val="0"/>
              </a:spcAft>
              <a:buClr>
                <a:schemeClr val="dk1"/>
              </a:buClr>
              <a:buSzPts val="156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3"/>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3"/>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cxnSp>
        <p:nvCxnSpPr>
          <p:cNvPr id="85" name="Google Shape;85;p23"/>
          <p:cNvCxnSpPr/>
          <p:nvPr/>
        </p:nvCxnSpPr>
        <p:spPr>
          <a:xfrm rot="5400000">
            <a:off x="10872154" y="1192438"/>
            <a:ext cx="978862" cy="0"/>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640079" y="1371601"/>
            <a:ext cx="10890929" cy="109728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000"/>
              <a:buFont typeface="Play"/>
              <a:buNone/>
              <a:defRPr b="1" i="0" sz="40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640080" y="2633472"/>
            <a:ext cx="10890928" cy="3566160"/>
          </a:xfrm>
          <a:prstGeom prst="rect">
            <a:avLst/>
          </a:prstGeom>
          <a:noFill/>
          <a:ln>
            <a:noFill/>
          </a:ln>
        </p:spPr>
        <p:txBody>
          <a:bodyPr anchorCtr="0" anchor="t" bIns="45700" lIns="91425" spcFirstLastPara="1" rIns="91425" wrap="square" tIns="45700">
            <a:normAutofit/>
          </a:bodyPr>
          <a:lstStyle>
            <a:lvl1pPr indent="-339090" lvl="0" marL="457200" marR="0" rtl="0" algn="l">
              <a:lnSpc>
                <a:spcPct val="120000"/>
              </a:lnSpc>
              <a:spcBef>
                <a:spcPts val="1000"/>
              </a:spcBef>
              <a:spcAft>
                <a:spcPts val="0"/>
              </a:spcAft>
              <a:buClr>
                <a:schemeClr val="dk1"/>
              </a:buClr>
              <a:buSzPts val="1740"/>
              <a:buFont typeface="Arial"/>
              <a:buChar char="•"/>
              <a:defRPr b="0" i="0" sz="2000" u="none" cap="none" strike="noStrike">
                <a:solidFill>
                  <a:schemeClr val="dk1"/>
                </a:solidFill>
                <a:latin typeface="Play"/>
                <a:ea typeface="Play"/>
                <a:cs typeface="Play"/>
                <a:sym typeface="Play"/>
              </a:defRPr>
            </a:lvl1pPr>
            <a:lvl2pPr indent="-328041" lvl="1" marL="914400" marR="0" rtl="0" algn="l">
              <a:lnSpc>
                <a:spcPct val="120000"/>
              </a:lnSpc>
              <a:spcBef>
                <a:spcPts val="500"/>
              </a:spcBef>
              <a:spcAft>
                <a:spcPts val="0"/>
              </a:spcAft>
              <a:buClr>
                <a:schemeClr val="dk1"/>
              </a:buClr>
              <a:buSzPts val="1566"/>
              <a:buFont typeface="Arial"/>
              <a:buChar char="•"/>
              <a:defRPr b="0" i="0" sz="1800" u="none" cap="none" strike="noStrike">
                <a:solidFill>
                  <a:schemeClr val="dk1"/>
                </a:solidFill>
                <a:latin typeface="Play"/>
                <a:ea typeface="Play"/>
                <a:cs typeface="Play"/>
                <a:sym typeface="Play"/>
              </a:defRPr>
            </a:lvl2pPr>
            <a:lvl3pPr indent="-316992" lvl="2" marL="1371600" marR="0" rtl="0" algn="l">
              <a:lnSpc>
                <a:spcPct val="120000"/>
              </a:lnSpc>
              <a:spcBef>
                <a:spcPts val="500"/>
              </a:spcBef>
              <a:spcAft>
                <a:spcPts val="0"/>
              </a:spcAft>
              <a:buClr>
                <a:schemeClr val="dk1"/>
              </a:buClr>
              <a:buSzPts val="1392"/>
              <a:buFont typeface="Arial"/>
              <a:buChar char="•"/>
              <a:defRPr b="0" i="0" sz="1600" u="none" cap="none" strike="noStrike">
                <a:solidFill>
                  <a:schemeClr val="dk1"/>
                </a:solidFill>
                <a:latin typeface="Play"/>
                <a:ea typeface="Play"/>
                <a:cs typeface="Play"/>
                <a:sym typeface="Play"/>
              </a:defRPr>
            </a:lvl3pPr>
            <a:lvl4pPr indent="-305943" lvl="3" marL="1828800" marR="0" rtl="0" algn="l">
              <a:lnSpc>
                <a:spcPct val="120000"/>
              </a:lnSpc>
              <a:spcBef>
                <a:spcPts val="500"/>
              </a:spcBef>
              <a:spcAft>
                <a:spcPts val="0"/>
              </a:spcAft>
              <a:buClr>
                <a:schemeClr val="dk1"/>
              </a:buClr>
              <a:buSzPts val="1218"/>
              <a:buFont typeface="Arial"/>
              <a:buChar char="•"/>
              <a:defRPr b="0" i="0" sz="1400" u="none" cap="none" strike="noStrike">
                <a:solidFill>
                  <a:schemeClr val="dk1"/>
                </a:solidFill>
                <a:latin typeface="Play"/>
                <a:ea typeface="Play"/>
                <a:cs typeface="Play"/>
                <a:sym typeface="Play"/>
              </a:defRPr>
            </a:lvl4pPr>
            <a:lvl5pPr indent="-305943" lvl="4" marL="2286000" marR="0" rtl="0" algn="l">
              <a:lnSpc>
                <a:spcPct val="120000"/>
              </a:lnSpc>
              <a:spcBef>
                <a:spcPts val="500"/>
              </a:spcBef>
              <a:spcAft>
                <a:spcPts val="0"/>
              </a:spcAft>
              <a:buClr>
                <a:schemeClr val="dk1"/>
              </a:buClr>
              <a:buSzPts val="1218"/>
              <a:buFont typeface="Arial"/>
              <a:buChar char="•"/>
              <a:defRPr b="0" i="0" sz="1400" u="none" cap="none" strike="noStrike">
                <a:solidFill>
                  <a:schemeClr val="dk1"/>
                </a:solidFill>
                <a:latin typeface="Play"/>
                <a:ea typeface="Play"/>
                <a:cs typeface="Play"/>
                <a:sym typeface="Play"/>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9pPr>
          </a:lstStyle>
          <a:p/>
        </p:txBody>
      </p:sp>
      <p:sp>
        <p:nvSpPr>
          <p:cNvPr id="8" name="Google Shape;8;p10"/>
          <p:cNvSpPr txBox="1"/>
          <p:nvPr>
            <p:ph idx="10" type="dt"/>
          </p:nvPr>
        </p:nvSpPr>
        <p:spPr>
          <a:xfrm>
            <a:off x="64008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9pPr>
          </a:lstStyle>
          <a:p/>
        </p:txBody>
      </p:sp>
      <p:sp>
        <p:nvSpPr>
          <p:cNvPr id="9" name="Google Shape;9;p10"/>
          <p:cNvSpPr txBox="1"/>
          <p:nvPr>
            <p:ph idx="11" type="ftr"/>
          </p:nvPr>
        </p:nvSpPr>
        <p:spPr>
          <a:xfrm>
            <a:off x="6767622" y="6356350"/>
            <a:ext cx="4040373"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9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lay"/>
                <a:ea typeface="Play"/>
                <a:cs typeface="Play"/>
                <a:sym typeface="Play"/>
              </a:defRPr>
            </a:lvl9pPr>
          </a:lstStyle>
          <a:p/>
        </p:txBody>
      </p:sp>
      <p:sp>
        <p:nvSpPr>
          <p:cNvPr id="10" name="Google Shape;10;p10"/>
          <p:cNvSpPr txBox="1"/>
          <p:nvPr>
            <p:ph idx="12" type="sldNum"/>
          </p:nvPr>
        </p:nvSpPr>
        <p:spPr>
          <a:xfrm>
            <a:off x="10807995" y="6356350"/>
            <a:ext cx="723014"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0"/>
          <p:cNvCxnSpPr/>
          <p:nvPr/>
        </p:nvCxnSpPr>
        <p:spPr>
          <a:xfrm>
            <a:off x="713232" y="1031001"/>
            <a:ext cx="978862" cy="0"/>
          </a:xfrm>
          <a:prstGeom prst="straightConnector1">
            <a:avLst/>
          </a:prstGeom>
          <a:noFill/>
          <a:ln cap="flat" cmpd="sng" w="76200">
            <a:solidFill>
              <a:schemeClr val="accent1"/>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9.jpg"/><Relationship Id="rId5" Type="http://schemas.openxmlformats.org/officeDocument/2006/relationships/image" Target="../media/image1.png"/><Relationship Id="rId6" Type="http://schemas.openxmlformats.org/officeDocument/2006/relationships/image" Target="../media/image10.png"/><Relationship Id="rId7" Type="http://schemas.openxmlformats.org/officeDocument/2006/relationships/image" Target="../media/image5.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hyperlink" Target="https://www.kaggle.com/datasets/kenierramirez/san-diego-county-activeclosed-business-listing" TargetMode="External"/><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hyperlink" Target="https://public.tableau.com/app/profile/kenier.ramirez6937/viz/SanDiegoCountyBusinessesAnalysis/MainDashboard?publish=ye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7.png"/><Relationship Id="rId4" Type="http://schemas.openxmlformats.org/officeDocument/2006/relationships/image" Target="../media/image41.png"/><Relationship Id="rId5" Type="http://schemas.openxmlformats.org/officeDocument/2006/relationships/image" Target="../media/image65.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6.png"/><Relationship Id="rId4" Type="http://schemas.openxmlformats.org/officeDocument/2006/relationships/image" Target="../media/image20.png"/><Relationship Id="rId5" Type="http://schemas.openxmlformats.org/officeDocument/2006/relationships/image" Target="../media/image68.png"/><Relationship Id="rId6"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8.png"/><Relationship Id="rId11" Type="http://schemas.openxmlformats.org/officeDocument/2006/relationships/hyperlink" Target="https://www.zip-codes.com/zip-code/92078/zip-code-92078.asp" TargetMode="External"/><Relationship Id="rId10" Type="http://schemas.openxmlformats.org/officeDocument/2006/relationships/hyperlink" Target="https://tools.usps.com/locations/home.htm" TargetMode="External"/><Relationship Id="rId9" Type="http://schemas.openxmlformats.org/officeDocument/2006/relationships/hyperlink" Target="https://ca.postcodebase.com/zipcode5/92069" TargetMode="External"/><Relationship Id="rId5" Type="http://schemas.openxmlformats.org/officeDocument/2006/relationships/image" Target="../media/image67.png"/><Relationship Id="rId6" Type="http://schemas.openxmlformats.org/officeDocument/2006/relationships/image" Target="../media/image24.png"/><Relationship Id="rId7" Type="http://schemas.openxmlformats.org/officeDocument/2006/relationships/hyperlink" Target="https://sandiego.tricare.mil/About-Us/Contact-Us" TargetMode="External"/><Relationship Id="rId8" Type="http://schemas.openxmlformats.org/officeDocument/2006/relationships/hyperlink" Target="https://www.zip-codes.com/zip-code/92155/zip-code-92155.as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4.png"/><Relationship Id="rId4" Type="http://schemas.openxmlformats.org/officeDocument/2006/relationships/image" Target="../media/image25.png"/><Relationship Id="rId5" Type="http://schemas.openxmlformats.org/officeDocument/2006/relationships/image" Target="../media/image37.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40.png"/><Relationship Id="rId5" Type="http://schemas.openxmlformats.org/officeDocument/2006/relationships/image" Target="../media/image42.png"/><Relationship Id="rId6" Type="http://schemas.openxmlformats.org/officeDocument/2006/relationships/image" Target="../media/image39.png"/><Relationship Id="rId7"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6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colab.research.google.com/drive/1v9YtTM4dwHrjRj4yXE8kE6cl4UalkJHn" TargetMode="External"/><Relationship Id="rId4" Type="http://schemas.openxmlformats.org/officeDocument/2006/relationships/hyperlink" Target="https://colab.research.google.com/drive/1v9YtTM4dwHrjRj4yXE8kE6cl4UalkJHn" TargetMode="External"/><Relationship Id="rId9" Type="http://schemas.openxmlformats.org/officeDocument/2006/relationships/image" Target="../media/image53.png"/><Relationship Id="rId5" Type="http://schemas.openxmlformats.org/officeDocument/2006/relationships/image" Target="../media/image51.png"/><Relationship Id="rId6" Type="http://schemas.openxmlformats.org/officeDocument/2006/relationships/image" Target="../media/image49.png"/><Relationship Id="rId7" Type="http://schemas.openxmlformats.org/officeDocument/2006/relationships/image" Target="../media/image48.png"/><Relationship Id="rId8"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1.png"/><Relationship Id="rId4" Type="http://schemas.openxmlformats.org/officeDocument/2006/relationships/image" Target="../media/image49.png"/><Relationship Id="rId5" Type="http://schemas.openxmlformats.org/officeDocument/2006/relationships/image" Target="../media/image48.png"/><Relationship Id="rId6" Type="http://schemas.openxmlformats.org/officeDocument/2006/relationships/image" Target="../media/image50.png"/><Relationship Id="rId7"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3.png"/><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6.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2.png"/></Relationships>
</file>

<file path=ppt/slides/_rels/slide29.xml.rels><?xml version="1.0" encoding="UTF-8" standalone="yes"?><Relationships xmlns="http://schemas.openxmlformats.org/package/2006/relationships"><Relationship Id="rId20" Type="http://schemas.openxmlformats.org/officeDocument/2006/relationships/hyperlink" Target="https://www.census.gov/programs-surveys/economic-census/year/2022/guidance/understanding-naics.html?utm_source=chatgpt.com" TargetMode="External"/><Relationship Id="rId11" Type="http://schemas.openxmlformats.org/officeDocument/2006/relationships/hyperlink" Target="https://ijisae.org/index.php/IJISAE/article/view/3268" TargetMode="External"/><Relationship Id="rId10" Type="http://schemas.openxmlformats.org/officeDocument/2006/relationships/hyperlink" Target="https://www.ibm.com/think/topics/python-vs-r" TargetMode="External"/><Relationship Id="rId13" Type="http://schemas.openxmlformats.org/officeDocument/2006/relationships/hyperlink" Target="https://querio.ai/articles/statistical-tools-for-data-analysis-when-to-use-r-python-spss-or-sas" TargetMode="External"/><Relationship Id="rId12" Type="http://schemas.openxmlformats.org/officeDocument/2006/relationships/hyperlink" Target="https://querio.ai/articles/statistical-tools-for-data-analysis-when-to-use-r-python-spss-or-sas?utm_source=chatgpt.com" TargetMode="External"/><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data.sandiego.gov/datasets/business-listings" TargetMode="External"/><Relationship Id="rId4" Type="http://schemas.openxmlformats.org/officeDocument/2006/relationships/hyperlink" Target="https://corporatefinanceinstitute.com/resources/valuation/business-life-cycle/" TargetMode="External"/><Relationship Id="rId9" Type="http://schemas.openxmlformats.org/officeDocument/2006/relationships/hyperlink" Target="https://www.ibm.com/think/topics/python-vs-r?utm_source=chatgpt.com" TargetMode="External"/><Relationship Id="rId15" Type="http://schemas.openxmlformats.org/officeDocument/2006/relationships/hyperlink" Target="https://www.kaggle.com/datasets/kenierramirez/san-diego-county-activeclosed-business-listing" TargetMode="External"/><Relationship Id="rId14" Type="http://schemas.openxmlformats.org/officeDocument/2006/relationships/hyperlink" Target="https://www.kaggle.com/datasets/kenierramirez/san-diego-county-activeclosed-business-listing" TargetMode="External"/><Relationship Id="rId17" Type="http://schemas.openxmlformats.org/officeDocument/2006/relationships/hyperlink" Target="https://opendata.sandag.org/Census/2020-Census-Population-by-ZIP-Code/26f5-2x9a/about_data" TargetMode="External"/><Relationship Id="rId16" Type="http://schemas.openxmlformats.org/officeDocument/2006/relationships/hyperlink" Target="https://www.sciencedirect.com/science/article/pii/S2405844022005072" TargetMode="External"/><Relationship Id="rId5" Type="http://schemas.openxmlformats.org/officeDocument/2006/relationships/hyperlink" Target="https://doi.org/10.3390/admsci15070240" TargetMode="External"/><Relationship Id="rId19" Type="http://schemas.openxmlformats.org/officeDocument/2006/relationships/hyperlink" Target="https://www.soa.org/globalassets/assets/files/resources/research-report/2019/considerations-predictive-modeling.pdf" TargetMode="External"/><Relationship Id="rId6" Type="http://schemas.openxmlformats.org/officeDocument/2006/relationships/hyperlink" Target="https://doi.org/10.3390/admsci15070240" TargetMode="External"/><Relationship Id="rId18" Type="http://schemas.openxmlformats.org/officeDocument/2006/relationships/hyperlink" Target="https://www.soa.org/globalassets/assets/files/resources/research-report/2019/considerations-predictive-modeling.pdf" TargetMode="External"/><Relationship Id="rId7" Type="http://schemas.openxmlformats.org/officeDocument/2006/relationships/hyperlink" Target="https://doi.org/10.1023/A:1009769707641" TargetMode="External"/><Relationship Id="rId8" Type="http://schemas.openxmlformats.org/officeDocument/2006/relationships/hyperlink" Target="https://doi.org/10.1023/A:1009769707641"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55.png"/><Relationship Id="rId5" Type="http://schemas.openxmlformats.org/officeDocument/2006/relationships/image" Target="../media/image60.png"/><Relationship Id="rId6" Type="http://schemas.openxmlformats.org/officeDocument/2006/relationships/image" Target="../media/image58.png"/><Relationship Id="rId7"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pic>
        <p:nvPicPr>
          <p:cNvPr descr="An abstract burst of blue and pink" id="91" name="Google Shape;91;p1"/>
          <p:cNvPicPr preferRelativeResize="0"/>
          <p:nvPr/>
        </p:nvPicPr>
        <p:blipFill rotWithShape="1">
          <a:blip r:embed="rId3">
            <a:alphaModFix/>
          </a:blip>
          <a:srcRect b="0" l="0" r="9091" t="9091"/>
          <a:stretch/>
        </p:blipFill>
        <p:spPr>
          <a:xfrm>
            <a:off x="1" y="10"/>
            <a:ext cx="12192000" cy="6857990"/>
          </a:xfrm>
          <a:prstGeom prst="rect">
            <a:avLst/>
          </a:prstGeom>
          <a:noFill/>
          <a:ln>
            <a:noFill/>
          </a:ln>
        </p:spPr>
      </p:pic>
      <p:sp>
        <p:nvSpPr>
          <p:cNvPr id="92" name="Google Shape;92;p1"/>
          <p:cNvSpPr/>
          <p:nvPr/>
        </p:nvSpPr>
        <p:spPr>
          <a:xfrm>
            <a:off x="392575" y="1066800"/>
            <a:ext cx="5443200" cy="4724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93" name="Google Shape;93;p1"/>
          <p:cNvSpPr txBox="1"/>
          <p:nvPr>
            <p:ph type="ctrTitle"/>
          </p:nvPr>
        </p:nvSpPr>
        <p:spPr>
          <a:xfrm>
            <a:off x="855425" y="1114971"/>
            <a:ext cx="4359600" cy="1805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4860"/>
              <a:buFont typeface="Play"/>
              <a:buNone/>
            </a:pPr>
            <a:r>
              <a:rPr lang="en-US" sz="4060"/>
              <a:t>      Data Science    </a:t>
            </a:r>
            <a:endParaRPr sz="4060"/>
          </a:p>
          <a:p>
            <a:pPr indent="0" lvl="0" marL="0" rtl="0" algn="l">
              <a:lnSpc>
                <a:spcPct val="100000"/>
              </a:lnSpc>
              <a:spcBef>
                <a:spcPts val="0"/>
              </a:spcBef>
              <a:spcAft>
                <a:spcPts val="0"/>
              </a:spcAft>
              <a:buClr>
                <a:schemeClr val="dk1"/>
              </a:buClr>
              <a:buSzPts val="4860"/>
              <a:buFont typeface="Play"/>
              <a:buNone/>
            </a:pPr>
            <a:r>
              <a:rPr lang="en-US" sz="4060"/>
              <a:t>        Capstone </a:t>
            </a:r>
            <a:endParaRPr sz="4060"/>
          </a:p>
        </p:txBody>
      </p:sp>
      <p:sp>
        <p:nvSpPr>
          <p:cNvPr id="94" name="Google Shape;94;p1"/>
          <p:cNvSpPr txBox="1"/>
          <p:nvPr>
            <p:ph idx="1" type="subTitle"/>
          </p:nvPr>
        </p:nvSpPr>
        <p:spPr>
          <a:xfrm>
            <a:off x="900275" y="4945429"/>
            <a:ext cx="4358100" cy="289200"/>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1000"/>
              </a:spcBef>
              <a:spcAft>
                <a:spcPts val="0"/>
              </a:spcAft>
              <a:buClr>
                <a:schemeClr val="dk1"/>
              </a:buClr>
              <a:buSzPts val="1044"/>
              <a:buNone/>
            </a:pPr>
            <a:r>
              <a:t/>
            </a:r>
            <a:endParaRPr sz="1400"/>
          </a:p>
          <a:p>
            <a:pPr indent="0" lvl="0" marL="0" rtl="0" algn="l">
              <a:lnSpc>
                <a:spcPct val="150000"/>
              </a:lnSpc>
              <a:spcBef>
                <a:spcPts val="1000"/>
              </a:spcBef>
              <a:spcAft>
                <a:spcPts val="0"/>
              </a:spcAft>
              <a:buClr>
                <a:schemeClr val="dk1"/>
              </a:buClr>
              <a:buSzPts val="1044"/>
              <a:buNone/>
            </a:pPr>
            <a:r>
              <a:t/>
            </a:r>
            <a:endParaRPr sz="1400"/>
          </a:p>
          <a:p>
            <a:pPr indent="0" lvl="0" marL="0" rtl="0" algn="l">
              <a:lnSpc>
                <a:spcPct val="150000"/>
              </a:lnSpc>
              <a:spcBef>
                <a:spcPts val="1000"/>
              </a:spcBef>
              <a:spcAft>
                <a:spcPts val="0"/>
              </a:spcAft>
              <a:buClr>
                <a:schemeClr val="dk1"/>
              </a:buClr>
              <a:buSzPts val="1044"/>
              <a:buNone/>
            </a:pPr>
            <a:r>
              <a:rPr lang="en-US" sz="1400"/>
              <a:t>CAPSTONE TOPIC :</a:t>
            </a:r>
            <a:r>
              <a:rPr lang="en-US" sz="1500"/>
              <a:t> </a:t>
            </a:r>
            <a:r>
              <a:rPr b="0" lang="en-US" sz="1500"/>
              <a:t>Logistic Regression for Business Survival on the San Diego County Business Listing Dataset.</a:t>
            </a:r>
            <a:endParaRPr b="0" sz="1500"/>
          </a:p>
          <a:p>
            <a:pPr indent="0" lvl="0" marL="0" rtl="0" algn="l">
              <a:lnSpc>
                <a:spcPct val="150000"/>
              </a:lnSpc>
              <a:spcBef>
                <a:spcPts val="1000"/>
              </a:spcBef>
              <a:spcAft>
                <a:spcPts val="0"/>
              </a:spcAft>
              <a:buClr>
                <a:schemeClr val="dk1"/>
              </a:buClr>
              <a:buSzPts val="1044"/>
              <a:buNone/>
            </a:pPr>
            <a:r>
              <a:t/>
            </a:r>
            <a:endParaRPr b="0" sz="1500"/>
          </a:p>
          <a:p>
            <a:pPr indent="0" lvl="0" marL="0" rtl="0" algn="l">
              <a:lnSpc>
                <a:spcPct val="150000"/>
              </a:lnSpc>
              <a:spcBef>
                <a:spcPts val="0"/>
              </a:spcBef>
              <a:spcAft>
                <a:spcPts val="0"/>
              </a:spcAft>
              <a:buClr>
                <a:schemeClr val="dk1"/>
              </a:buClr>
              <a:buSzPts val="1044"/>
              <a:buNone/>
            </a:pPr>
            <a:r>
              <a:rPr lang="en-US" sz="1400"/>
              <a:t>PRESENTED BY: </a:t>
            </a:r>
            <a:r>
              <a:rPr b="0" lang="en-US" sz="1400"/>
              <a:t>KENIER RAMIREZ</a:t>
            </a:r>
            <a:endParaRPr b="0" sz="1400"/>
          </a:p>
          <a:p>
            <a:pPr indent="0" lvl="0" marL="0" rtl="0" algn="l">
              <a:lnSpc>
                <a:spcPct val="150000"/>
              </a:lnSpc>
              <a:spcBef>
                <a:spcPts val="1000"/>
              </a:spcBef>
              <a:spcAft>
                <a:spcPts val="0"/>
              </a:spcAft>
              <a:buClr>
                <a:schemeClr val="dk1"/>
              </a:buClr>
              <a:buSzPts val="1044"/>
              <a:buNone/>
            </a:pPr>
            <a:r>
              <a:rPr lang="en-US" sz="1400"/>
              <a:t>DATE:</a:t>
            </a:r>
            <a:r>
              <a:rPr b="0" lang="en-US" sz="1400"/>
              <a:t> 12/19/2025</a:t>
            </a:r>
            <a:endParaRPr b="0" sz="2000"/>
          </a:p>
        </p:txBody>
      </p:sp>
      <p:cxnSp>
        <p:nvCxnSpPr>
          <p:cNvPr id="95" name="Google Shape;95;p1"/>
          <p:cNvCxnSpPr/>
          <p:nvPr/>
        </p:nvCxnSpPr>
        <p:spPr>
          <a:xfrm>
            <a:off x="536937" y="5780876"/>
            <a:ext cx="5131168" cy="0"/>
          </a:xfrm>
          <a:prstGeom prst="straightConnector1">
            <a:avLst/>
          </a:prstGeom>
          <a:noFill/>
          <a:ln cap="flat" cmpd="sng" w="76200">
            <a:solidFill>
              <a:schemeClr val="accent1"/>
            </a:solidFill>
            <a:prstDash val="solid"/>
            <a:miter lim="800000"/>
            <a:headEnd len="sm" w="sm" type="none"/>
            <a:tailEnd len="sm" w="sm" type="none"/>
          </a:ln>
        </p:spPr>
      </p:cxnSp>
      <p:pic>
        <p:nvPicPr>
          <p:cNvPr id="96" name="Google Shape;96;p1"/>
          <p:cNvPicPr preferRelativeResize="0"/>
          <p:nvPr/>
        </p:nvPicPr>
        <p:blipFill>
          <a:blip r:embed="rId4">
            <a:alphaModFix/>
          </a:blip>
          <a:stretch>
            <a:fillRect/>
          </a:stretch>
        </p:blipFill>
        <p:spPr>
          <a:xfrm>
            <a:off x="34989" y="43737"/>
            <a:ext cx="1376375" cy="1376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cxnSp>
        <p:nvCxnSpPr>
          <p:cNvPr id="101" name="Google Shape;101;p2"/>
          <p:cNvCxnSpPr/>
          <p:nvPr/>
        </p:nvCxnSpPr>
        <p:spPr>
          <a:xfrm>
            <a:off x="713232" y="1031001"/>
            <a:ext cx="978862" cy="0"/>
          </a:xfrm>
          <a:prstGeom prst="straightConnector1">
            <a:avLst/>
          </a:prstGeom>
          <a:noFill/>
          <a:ln cap="flat" cmpd="sng" w="76200">
            <a:solidFill>
              <a:schemeClr val="accent1"/>
            </a:solidFill>
            <a:prstDash val="solid"/>
            <a:miter lim="800000"/>
            <a:headEnd len="sm" w="sm" type="none"/>
            <a:tailEnd len="sm" w="sm" type="none"/>
          </a:ln>
        </p:spPr>
      </p:cxnSp>
      <p:sp>
        <p:nvSpPr>
          <p:cNvPr id="102" name="Google Shape;102;p2"/>
          <p:cNvSpPr/>
          <p:nvPr/>
        </p:nvSpPr>
        <p:spPr>
          <a:xfrm>
            <a:off x="0" y="-35225"/>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103" name="Google Shape;103;p2"/>
          <p:cNvSpPr txBox="1"/>
          <p:nvPr/>
        </p:nvSpPr>
        <p:spPr>
          <a:xfrm>
            <a:off x="250025" y="5045350"/>
            <a:ext cx="4938300" cy="557400"/>
          </a:xfrm>
          <a:prstGeom prst="rect">
            <a:avLst/>
          </a:prstGeom>
          <a:noFill/>
          <a:ln>
            <a:noFill/>
          </a:ln>
        </p:spPr>
        <p:txBody>
          <a:bodyPr anchorCtr="0" anchor="t" bIns="45700" lIns="91425" spcFirstLastPara="1" rIns="91425" wrap="square" tIns="45700">
            <a:noAutofit/>
          </a:bodyPr>
          <a:lstStyle/>
          <a:p>
            <a:pPr indent="-114300" lvl="0" marL="0" marR="0" rtl="0" algn="l">
              <a:lnSpc>
                <a:spcPct val="90000"/>
              </a:lnSpc>
              <a:spcBef>
                <a:spcPts val="0"/>
              </a:spcBef>
              <a:spcAft>
                <a:spcPts val="0"/>
              </a:spcAft>
              <a:buClr>
                <a:schemeClr val="dk1"/>
              </a:buClr>
              <a:buSzPts val="1800"/>
              <a:buFont typeface="Arial"/>
              <a:buChar char="•"/>
            </a:pPr>
            <a:r>
              <a:rPr b="0" i="0" lang="en-US" sz="1800" u="none" cap="none" strike="noStrike">
                <a:solidFill>
                  <a:schemeClr val="dk1"/>
                </a:solidFill>
                <a:latin typeface="Play"/>
                <a:ea typeface="Play"/>
                <a:cs typeface="Play"/>
                <a:sym typeface="Play"/>
              </a:rPr>
              <a:t> Experience in </a:t>
            </a:r>
            <a:r>
              <a:rPr lang="en-US" sz="1800">
                <a:solidFill>
                  <a:schemeClr val="dk1"/>
                </a:solidFill>
                <a:latin typeface="Play"/>
                <a:ea typeface="Play"/>
                <a:cs typeface="Play"/>
                <a:sym typeface="Play"/>
              </a:rPr>
              <a:t>S</a:t>
            </a:r>
            <a:r>
              <a:rPr b="0" i="0" lang="en-US" sz="1800" u="none" cap="none" strike="noStrike">
                <a:solidFill>
                  <a:schemeClr val="dk1"/>
                </a:solidFill>
                <a:latin typeface="Play"/>
                <a:ea typeface="Play"/>
                <a:cs typeface="Play"/>
                <a:sym typeface="Play"/>
              </a:rPr>
              <a:t>tatistical </a:t>
            </a:r>
            <a:r>
              <a:rPr lang="en-US" sz="1800">
                <a:solidFill>
                  <a:schemeClr val="dk1"/>
                </a:solidFill>
                <a:latin typeface="Play"/>
                <a:ea typeface="Play"/>
                <a:cs typeface="Play"/>
                <a:sym typeface="Play"/>
              </a:rPr>
              <a:t>D</a:t>
            </a:r>
            <a:r>
              <a:rPr b="0" i="0" lang="en-US" sz="1800" u="none" cap="none" strike="noStrike">
                <a:solidFill>
                  <a:schemeClr val="dk1"/>
                </a:solidFill>
                <a:latin typeface="Play"/>
                <a:ea typeface="Play"/>
                <a:cs typeface="Play"/>
                <a:sym typeface="Play"/>
              </a:rPr>
              <a:t>ata </a:t>
            </a:r>
            <a:r>
              <a:rPr lang="en-US" sz="1800">
                <a:solidFill>
                  <a:schemeClr val="dk1"/>
                </a:solidFill>
                <a:latin typeface="Play"/>
                <a:ea typeface="Play"/>
                <a:cs typeface="Play"/>
                <a:sym typeface="Play"/>
              </a:rPr>
              <a:t>A</a:t>
            </a:r>
            <a:r>
              <a:rPr b="0" i="0" lang="en-US" sz="1800" u="none" cap="none" strike="noStrike">
                <a:solidFill>
                  <a:schemeClr val="dk1"/>
                </a:solidFill>
                <a:latin typeface="Play"/>
                <a:ea typeface="Play"/>
                <a:cs typeface="Play"/>
                <a:sym typeface="Play"/>
              </a:rPr>
              <a:t>nalysis </a:t>
            </a:r>
            <a:r>
              <a:rPr lang="en-US" sz="1800">
                <a:solidFill>
                  <a:schemeClr val="dk1"/>
                </a:solidFill>
                <a:latin typeface="Play"/>
                <a:ea typeface="Play"/>
                <a:cs typeface="Play"/>
                <a:sym typeface="Play"/>
              </a:rPr>
              <a:t>and </a:t>
            </a:r>
            <a:r>
              <a:rPr lang="en-US" sz="1800">
                <a:solidFill>
                  <a:schemeClr val="dk1"/>
                </a:solidFill>
                <a:latin typeface="Play"/>
                <a:ea typeface="Play"/>
                <a:cs typeface="Play"/>
                <a:sym typeface="Play"/>
              </a:rPr>
              <a:t>in Teaching (since September,2014).</a:t>
            </a:r>
            <a:endParaRPr sz="1800">
              <a:solidFill>
                <a:schemeClr val="dk1"/>
              </a:solidFill>
              <a:latin typeface="Play"/>
              <a:ea typeface="Play"/>
              <a:cs typeface="Play"/>
              <a:sym typeface="Play"/>
            </a:endParaRPr>
          </a:p>
          <a:p>
            <a:pPr indent="0" lvl="0" marL="0" marR="0" rtl="0" algn="l">
              <a:lnSpc>
                <a:spcPct val="90000"/>
              </a:lnSpc>
              <a:spcBef>
                <a:spcPts val="0"/>
              </a:spcBef>
              <a:spcAft>
                <a:spcPts val="0"/>
              </a:spcAft>
              <a:buNone/>
            </a:pPr>
            <a:r>
              <a:rPr lang="en-US" sz="1800">
                <a:solidFill>
                  <a:schemeClr val="dk1"/>
                </a:solidFill>
                <a:latin typeface="Play"/>
                <a:ea typeface="Play"/>
                <a:cs typeface="Play"/>
                <a:sym typeface="Play"/>
              </a:rPr>
              <a:t>Currently, AP </a:t>
            </a:r>
            <a:r>
              <a:rPr lang="en-US" sz="1800">
                <a:solidFill>
                  <a:schemeClr val="dk1"/>
                </a:solidFill>
                <a:latin typeface="Play"/>
                <a:ea typeface="Play"/>
                <a:cs typeface="Play"/>
                <a:sym typeface="Play"/>
              </a:rPr>
              <a:t>Statistics</a:t>
            </a:r>
            <a:r>
              <a:rPr lang="en-US" sz="1800">
                <a:solidFill>
                  <a:schemeClr val="dk1"/>
                </a:solidFill>
                <a:latin typeface="Play"/>
                <a:ea typeface="Play"/>
                <a:cs typeface="Play"/>
                <a:sym typeface="Play"/>
              </a:rPr>
              <a:t> </a:t>
            </a:r>
            <a:r>
              <a:rPr lang="en-US" sz="1800">
                <a:solidFill>
                  <a:schemeClr val="dk1"/>
                </a:solidFill>
                <a:latin typeface="Play"/>
                <a:ea typeface="Play"/>
                <a:cs typeface="Play"/>
                <a:sym typeface="Play"/>
              </a:rPr>
              <a:t>Teacher. United States</a:t>
            </a:r>
            <a:endParaRPr b="0" i="0" sz="1800" u="none" cap="none" strike="noStrike">
              <a:solidFill>
                <a:srgbClr val="000000"/>
              </a:solidFill>
              <a:latin typeface="Arial"/>
              <a:ea typeface="Arial"/>
              <a:cs typeface="Arial"/>
              <a:sym typeface="Arial"/>
            </a:endParaRPr>
          </a:p>
        </p:txBody>
      </p:sp>
      <p:pic>
        <p:nvPicPr>
          <p:cNvPr id="104" name="Google Shape;104;p2"/>
          <p:cNvPicPr preferRelativeResize="0"/>
          <p:nvPr/>
        </p:nvPicPr>
        <p:blipFill rotWithShape="1">
          <a:blip r:embed="rId3">
            <a:alphaModFix/>
          </a:blip>
          <a:srcRect b="0" l="0" r="0" t="0"/>
          <a:stretch/>
        </p:blipFill>
        <p:spPr>
          <a:xfrm>
            <a:off x="8107200" y="227850"/>
            <a:ext cx="2807700" cy="1701500"/>
          </a:xfrm>
          <a:prstGeom prst="rect">
            <a:avLst/>
          </a:prstGeom>
          <a:noFill/>
          <a:ln>
            <a:noFill/>
          </a:ln>
        </p:spPr>
      </p:pic>
      <p:pic>
        <p:nvPicPr>
          <p:cNvPr descr="Western Governors University - Wikipedia" id="105" name="Google Shape;105;p2"/>
          <p:cNvPicPr preferRelativeResize="0"/>
          <p:nvPr/>
        </p:nvPicPr>
        <p:blipFill rotWithShape="1">
          <a:blip r:embed="rId4">
            <a:alphaModFix/>
          </a:blip>
          <a:srcRect b="0" l="0" r="0" t="0"/>
          <a:stretch/>
        </p:blipFill>
        <p:spPr>
          <a:xfrm>
            <a:off x="8163132" y="2253437"/>
            <a:ext cx="2751768" cy="1743075"/>
          </a:xfrm>
          <a:prstGeom prst="rect">
            <a:avLst/>
          </a:prstGeom>
          <a:noFill/>
          <a:ln>
            <a:noFill/>
          </a:ln>
        </p:spPr>
      </p:pic>
      <p:cxnSp>
        <p:nvCxnSpPr>
          <p:cNvPr id="106" name="Google Shape;106;p2"/>
          <p:cNvCxnSpPr/>
          <p:nvPr/>
        </p:nvCxnSpPr>
        <p:spPr>
          <a:xfrm>
            <a:off x="672253" y="6272784"/>
            <a:ext cx="10847495" cy="0"/>
          </a:xfrm>
          <a:prstGeom prst="straightConnector1">
            <a:avLst/>
          </a:prstGeom>
          <a:noFill/>
          <a:ln cap="flat" cmpd="sng" w="76200">
            <a:solidFill>
              <a:schemeClr val="accent1"/>
            </a:solidFill>
            <a:prstDash val="solid"/>
            <a:miter lim="800000"/>
            <a:headEnd len="sm" w="sm" type="none"/>
            <a:tailEnd len="sm" w="sm" type="none"/>
          </a:ln>
        </p:spPr>
      </p:cxnSp>
      <p:sp>
        <p:nvSpPr>
          <p:cNvPr id="107" name="Google Shape;107;p2"/>
          <p:cNvSpPr txBox="1"/>
          <p:nvPr/>
        </p:nvSpPr>
        <p:spPr>
          <a:xfrm>
            <a:off x="222000" y="871900"/>
            <a:ext cx="6727500" cy="978900"/>
          </a:xfrm>
          <a:prstGeom prst="rect">
            <a:avLst/>
          </a:prstGeom>
          <a:noFill/>
          <a:ln>
            <a:noFill/>
          </a:ln>
        </p:spPr>
        <p:txBody>
          <a:bodyPr anchorCtr="0" anchor="t" bIns="45700" lIns="91425" spcFirstLastPara="1" rIns="91425" wrap="square" tIns="45700">
            <a:spAutoFit/>
          </a:bodyPr>
          <a:lstStyle/>
          <a:p>
            <a:pPr indent="-99441" lvl="0" marL="0" marR="0" rtl="0" algn="l">
              <a:lnSpc>
                <a:spcPct val="110000"/>
              </a:lnSpc>
              <a:spcBef>
                <a:spcPts val="0"/>
              </a:spcBef>
              <a:spcAft>
                <a:spcPts val="0"/>
              </a:spcAft>
              <a:buClr>
                <a:schemeClr val="dk1"/>
              </a:buClr>
              <a:buSzPts val="1566"/>
              <a:buFont typeface="Arial"/>
              <a:buChar char="•"/>
            </a:pPr>
            <a:r>
              <a:rPr b="0" i="0" lang="en-US" sz="1800" u="none" cap="none" strike="noStrike">
                <a:solidFill>
                  <a:schemeClr val="dk1"/>
                </a:solidFill>
                <a:latin typeface="Play"/>
                <a:ea typeface="Play"/>
                <a:cs typeface="Play"/>
                <a:sym typeface="Play"/>
              </a:rPr>
              <a:t> </a:t>
            </a:r>
            <a:r>
              <a:rPr b="0" i="0" lang="en-US" sz="1800" u="none" cap="none" strike="noStrike">
                <a:solidFill>
                  <a:schemeClr val="dk1"/>
                </a:solidFill>
                <a:latin typeface="Play"/>
                <a:ea typeface="Play"/>
                <a:cs typeface="Play"/>
                <a:sym typeface="Play"/>
              </a:rPr>
              <a:t>Bachelors</a:t>
            </a:r>
            <a:r>
              <a:rPr b="0" i="0" lang="en-US" sz="1800" u="none" cap="none" strike="noStrike">
                <a:solidFill>
                  <a:schemeClr val="dk1"/>
                </a:solidFill>
                <a:latin typeface="Play"/>
                <a:ea typeface="Play"/>
                <a:cs typeface="Play"/>
                <a:sym typeface="Play"/>
              </a:rPr>
              <a:t> of </a:t>
            </a:r>
            <a:r>
              <a:rPr lang="en-US" sz="1800">
                <a:solidFill>
                  <a:schemeClr val="dk1"/>
                </a:solidFill>
                <a:latin typeface="Play"/>
                <a:ea typeface="Play"/>
                <a:cs typeface="Play"/>
                <a:sym typeface="Play"/>
              </a:rPr>
              <a:t>S</a:t>
            </a:r>
            <a:r>
              <a:rPr b="0" i="0" lang="en-US" sz="1800" u="none" cap="none" strike="noStrike">
                <a:solidFill>
                  <a:schemeClr val="dk1"/>
                </a:solidFill>
                <a:latin typeface="Play"/>
                <a:ea typeface="Play"/>
                <a:cs typeface="Play"/>
                <a:sym typeface="Play"/>
              </a:rPr>
              <a:t>cience in Mathematics (</a:t>
            </a:r>
            <a:r>
              <a:rPr lang="en-US" sz="1800">
                <a:solidFill>
                  <a:schemeClr val="dk1"/>
                </a:solidFill>
                <a:latin typeface="Play"/>
                <a:ea typeface="Play"/>
                <a:cs typeface="Play"/>
                <a:sym typeface="Play"/>
              </a:rPr>
              <a:t>Earned</a:t>
            </a:r>
            <a:r>
              <a:rPr b="0" i="0" lang="en-US" sz="1800" u="none" cap="none" strike="noStrike">
                <a:solidFill>
                  <a:schemeClr val="dk1"/>
                </a:solidFill>
                <a:latin typeface="Play"/>
                <a:ea typeface="Play"/>
                <a:cs typeface="Play"/>
                <a:sym typeface="Play"/>
              </a:rPr>
              <a:t> </a:t>
            </a:r>
            <a:r>
              <a:rPr lang="en-US" sz="1800">
                <a:solidFill>
                  <a:schemeClr val="dk1"/>
                </a:solidFill>
                <a:latin typeface="Play"/>
                <a:ea typeface="Play"/>
                <a:cs typeface="Play"/>
                <a:sym typeface="Play"/>
              </a:rPr>
              <a:t>on July</a:t>
            </a:r>
            <a:r>
              <a:rPr b="0" i="0" lang="en-US" sz="1800" u="none" cap="none" strike="noStrike">
                <a:solidFill>
                  <a:schemeClr val="dk1"/>
                </a:solidFill>
                <a:latin typeface="Play"/>
                <a:ea typeface="Play"/>
                <a:cs typeface="Play"/>
                <a:sym typeface="Play"/>
              </a:rPr>
              <a:t> , 2014),</a:t>
            </a:r>
            <a:endParaRPr sz="1800">
              <a:solidFill>
                <a:schemeClr val="dk1"/>
              </a:solidFill>
              <a:latin typeface="Play"/>
              <a:ea typeface="Play"/>
              <a:cs typeface="Play"/>
              <a:sym typeface="Play"/>
            </a:endParaRPr>
          </a:p>
          <a:p>
            <a:pPr indent="0" lvl="0" marL="0" marR="0" rtl="0" algn="l">
              <a:lnSpc>
                <a:spcPct val="110000"/>
              </a:lnSpc>
              <a:spcBef>
                <a:spcPts val="0"/>
              </a:spcBef>
              <a:spcAft>
                <a:spcPts val="0"/>
              </a:spcAft>
              <a:buNone/>
            </a:pPr>
            <a:r>
              <a:rPr b="0" i="0" lang="en-US" sz="1800" u="none" cap="none" strike="noStrike">
                <a:solidFill>
                  <a:schemeClr val="dk1"/>
                </a:solidFill>
                <a:latin typeface="Play"/>
                <a:ea typeface="Play"/>
                <a:cs typeface="Play"/>
                <a:sym typeface="Play"/>
              </a:rPr>
              <a:t>Central University “</a:t>
            </a:r>
            <a:r>
              <a:rPr lang="en-US" sz="1800">
                <a:solidFill>
                  <a:schemeClr val="dk1"/>
                </a:solidFill>
                <a:latin typeface="Play"/>
                <a:ea typeface="Play"/>
                <a:cs typeface="Play"/>
                <a:sym typeface="Play"/>
              </a:rPr>
              <a:t>Marta</a:t>
            </a:r>
            <a:r>
              <a:rPr b="0" i="0" lang="en-US" sz="1800" u="none" cap="none" strike="noStrike">
                <a:solidFill>
                  <a:schemeClr val="dk1"/>
                </a:solidFill>
                <a:latin typeface="Play"/>
                <a:ea typeface="Play"/>
                <a:cs typeface="Play"/>
                <a:sym typeface="Play"/>
              </a:rPr>
              <a:t> Abreu”</a:t>
            </a:r>
            <a:r>
              <a:rPr lang="en-US" sz="1800">
                <a:solidFill>
                  <a:schemeClr val="dk1"/>
                </a:solidFill>
                <a:latin typeface="Play"/>
                <a:ea typeface="Play"/>
                <a:cs typeface="Play"/>
                <a:sym typeface="Play"/>
              </a:rPr>
              <a:t> of Las Villas. </a:t>
            </a:r>
            <a:r>
              <a:rPr lang="en-US" sz="1800">
                <a:solidFill>
                  <a:schemeClr val="dk1"/>
                </a:solidFill>
                <a:latin typeface="Play"/>
                <a:ea typeface="Play"/>
                <a:cs typeface="Play"/>
                <a:sym typeface="Play"/>
              </a:rPr>
              <a:t>Statistics</a:t>
            </a:r>
            <a:r>
              <a:rPr lang="en-US" sz="1800">
                <a:solidFill>
                  <a:schemeClr val="dk1"/>
                </a:solidFill>
                <a:latin typeface="Play"/>
                <a:ea typeface="Play"/>
                <a:cs typeface="Play"/>
                <a:sym typeface="Play"/>
              </a:rPr>
              <a:t> I</a:t>
            </a:r>
            <a:r>
              <a:rPr lang="en-US" sz="1800">
                <a:solidFill>
                  <a:schemeClr val="dk1"/>
                </a:solidFill>
                <a:latin typeface="Play"/>
                <a:ea typeface="Play"/>
                <a:cs typeface="Play"/>
                <a:sym typeface="Play"/>
              </a:rPr>
              <a:t>nstructor in the same institution (2014-2017).</a:t>
            </a:r>
            <a:r>
              <a:rPr lang="en-US" sz="1800">
                <a:solidFill>
                  <a:schemeClr val="dk1"/>
                </a:solidFill>
                <a:latin typeface="Play"/>
                <a:ea typeface="Play"/>
                <a:cs typeface="Play"/>
                <a:sym typeface="Play"/>
              </a:rPr>
              <a:t> Cuba</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222007" y="3056721"/>
            <a:ext cx="6898200" cy="674100"/>
          </a:xfrm>
          <a:prstGeom prst="rect">
            <a:avLst/>
          </a:prstGeom>
          <a:noFill/>
          <a:ln>
            <a:noFill/>
          </a:ln>
        </p:spPr>
        <p:txBody>
          <a:bodyPr anchorCtr="0" anchor="t" bIns="45700" lIns="91425" spcFirstLastPara="1" rIns="91425" wrap="square" tIns="45700">
            <a:spAutoFit/>
          </a:bodyPr>
          <a:lstStyle/>
          <a:p>
            <a:pPr indent="-99441" lvl="0" marL="0" marR="0" rtl="0" algn="l">
              <a:lnSpc>
                <a:spcPct val="110000"/>
              </a:lnSpc>
              <a:spcBef>
                <a:spcPts val="0"/>
              </a:spcBef>
              <a:spcAft>
                <a:spcPts val="0"/>
              </a:spcAft>
              <a:buClr>
                <a:schemeClr val="dk1"/>
              </a:buClr>
              <a:buSzPts val="1566"/>
              <a:buFont typeface="Arial"/>
              <a:buChar char="•"/>
            </a:pPr>
            <a:r>
              <a:rPr b="0" i="0" lang="en-US" sz="1800" u="none" cap="none" strike="noStrike">
                <a:solidFill>
                  <a:schemeClr val="dk1"/>
                </a:solidFill>
                <a:latin typeface="Play"/>
                <a:ea typeface="Play"/>
                <a:cs typeface="Play"/>
                <a:sym typeface="Play"/>
              </a:rPr>
              <a:t> Pursuing M.S. in Data Analytics (</a:t>
            </a:r>
            <a:r>
              <a:rPr lang="en-US" sz="1800">
                <a:solidFill>
                  <a:schemeClr val="dk1"/>
                </a:solidFill>
                <a:latin typeface="Play"/>
                <a:ea typeface="Play"/>
                <a:cs typeface="Play"/>
                <a:sym typeface="Play"/>
              </a:rPr>
              <a:t>Feb-</a:t>
            </a:r>
            <a:r>
              <a:rPr b="0" i="0" lang="en-US" sz="1800" u="none" cap="none" strike="noStrike">
                <a:solidFill>
                  <a:schemeClr val="dk1"/>
                </a:solidFill>
                <a:latin typeface="Play"/>
                <a:ea typeface="Play"/>
                <a:cs typeface="Play"/>
                <a:sym typeface="Play"/>
              </a:rPr>
              <a:t>De</a:t>
            </a:r>
            <a:r>
              <a:rPr lang="en-US" sz="1800">
                <a:solidFill>
                  <a:schemeClr val="dk1"/>
                </a:solidFill>
                <a:latin typeface="Play"/>
                <a:ea typeface="Play"/>
                <a:cs typeface="Play"/>
                <a:sym typeface="Play"/>
              </a:rPr>
              <a:t>c</a:t>
            </a:r>
            <a:r>
              <a:rPr b="0" i="0" lang="en-US" sz="1800" u="none" cap="none" strike="noStrike">
                <a:solidFill>
                  <a:schemeClr val="dk1"/>
                </a:solidFill>
                <a:latin typeface="Play"/>
                <a:ea typeface="Play"/>
                <a:cs typeface="Play"/>
                <a:sym typeface="Play"/>
              </a:rPr>
              <a:t>, 2025), </a:t>
            </a:r>
            <a:endParaRPr b="0" i="0" sz="1800" u="none" cap="none" strike="noStrike">
              <a:solidFill>
                <a:schemeClr val="dk1"/>
              </a:solidFill>
              <a:latin typeface="Play"/>
              <a:ea typeface="Play"/>
              <a:cs typeface="Play"/>
              <a:sym typeface="Play"/>
            </a:endParaRPr>
          </a:p>
          <a:p>
            <a:pPr indent="0" lvl="0" marL="0" marR="0" rtl="0" algn="l">
              <a:lnSpc>
                <a:spcPct val="110000"/>
              </a:lnSpc>
              <a:spcBef>
                <a:spcPts val="0"/>
              </a:spcBef>
              <a:spcAft>
                <a:spcPts val="0"/>
              </a:spcAft>
              <a:buNone/>
            </a:pPr>
            <a:r>
              <a:rPr b="0" i="0" lang="en-US" sz="1800" u="none" cap="none" strike="noStrike">
                <a:solidFill>
                  <a:schemeClr val="dk1"/>
                </a:solidFill>
                <a:latin typeface="Play"/>
                <a:ea typeface="Play"/>
                <a:cs typeface="Play"/>
                <a:sym typeface="Play"/>
              </a:rPr>
              <a:t>Western Governors University. United </a:t>
            </a:r>
            <a:r>
              <a:rPr lang="en-US" sz="1800">
                <a:solidFill>
                  <a:schemeClr val="dk1"/>
                </a:solidFill>
                <a:latin typeface="Play"/>
                <a:ea typeface="Play"/>
                <a:cs typeface="Play"/>
                <a:sym typeface="Play"/>
              </a:rPr>
              <a:t>States</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0" y="19681"/>
            <a:ext cx="2503767" cy="85221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000"/>
              <a:buFont typeface="Play"/>
              <a:buNone/>
            </a:pPr>
            <a:r>
              <a:rPr b="1" i="0" lang="en-US" sz="3000" u="sng" cap="none" strike="noStrike">
                <a:solidFill>
                  <a:srgbClr val="E69138"/>
                </a:solidFill>
                <a:latin typeface="Play"/>
                <a:ea typeface="Play"/>
                <a:cs typeface="Play"/>
                <a:sym typeface="Play"/>
              </a:rPr>
              <a:t>About me</a:t>
            </a:r>
            <a:endParaRPr b="0" i="0" sz="3000" u="none" cap="none" strike="noStrike">
              <a:solidFill>
                <a:srgbClr val="E69138"/>
              </a:solidFill>
              <a:latin typeface="Arial"/>
              <a:ea typeface="Arial"/>
              <a:cs typeface="Arial"/>
              <a:sym typeface="Arial"/>
            </a:endParaRPr>
          </a:p>
        </p:txBody>
      </p:sp>
      <p:pic>
        <p:nvPicPr>
          <p:cNvPr id="110" name="Google Shape;110;p2"/>
          <p:cNvPicPr preferRelativeResize="0"/>
          <p:nvPr/>
        </p:nvPicPr>
        <p:blipFill>
          <a:blip r:embed="rId5">
            <a:alphaModFix/>
          </a:blip>
          <a:stretch>
            <a:fillRect/>
          </a:stretch>
        </p:blipFill>
        <p:spPr>
          <a:xfrm>
            <a:off x="6691787" y="2629270"/>
            <a:ext cx="1101550" cy="1101550"/>
          </a:xfrm>
          <a:prstGeom prst="rect">
            <a:avLst/>
          </a:prstGeom>
          <a:noFill/>
          <a:ln>
            <a:noFill/>
          </a:ln>
        </p:spPr>
      </p:pic>
      <p:pic>
        <p:nvPicPr>
          <p:cNvPr id="111" name="Google Shape;111;p2"/>
          <p:cNvPicPr preferRelativeResize="0"/>
          <p:nvPr/>
        </p:nvPicPr>
        <p:blipFill>
          <a:blip r:embed="rId6">
            <a:alphaModFix/>
          </a:blip>
          <a:stretch>
            <a:fillRect/>
          </a:stretch>
        </p:blipFill>
        <p:spPr>
          <a:xfrm>
            <a:off x="6564563" y="461627"/>
            <a:ext cx="1355975" cy="1355975"/>
          </a:xfrm>
          <a:prstGeom prst="rect">
            <a:avLst/>
          </a:prstGeom>
          <a:solidFill>
            <a:schemeClr val="lt1"/>
          </a:solidFill>
          <a:ln>
            <a:noFill/>
          </a:ln>
        </p:spPr>
      </p:pic>
      <p:pic>
        <p:nvPicPr>
          <p:cNvPr id="112" name="Google Shape;112;p2"/>
          <p:cNvPicPr preferRelativeResize="0"/>
          <p:nvPr/>
        </p:nvPicPr>
        <p:blipFill>
          <a:blip r:embed="rId7">
            <a:alphaModFix/>
          </a:blip>
          <a:stretch>
            <a:fillRect/>
          </a:stretch>
        </p:blipFill>
        <p:spPr>
          <a:xfrm>
            <a:off x="6691775" y="4773272"/>
            <a:ext cx="1101550" cy="1101550"/>
          </a:xfrm>
          <a:prstGeom prst="rect">
            <a:avLst/>
          </a:prstGeom>
          <a:solidFill>
            <a:schemeClr val="lt1"/>
          </a:solidFill>
          <a:ln>
            <a:noFill/>
          </a:ln>
        </p:spPr>
      </p:pic>
      <p:pic>
        <p:nvPicPr>
          <p:cNvPr id="113" name="Google Shape;113;p2"/>
          <p:cNvPicPr preferRelativeResize="0"/>
          <p:nvPr/>
        </p:nvPicPr>
        <p:blipFill>
          <a:blip r:embed="rId8">
            <a:alphaModFix/>
          </a:blip>
          <a:stretch>
            <a:fillRect/>
          </a:stretch>
        </p:blipFill>
        <p:spPr>
          <a:xfrm>
            <a:off x="8163125" y="4291875"/>
            <a:ext cx="2751775" cy="1743075"/>
          </a:xfrm>
          <a:prstGeom prst="rect">
            <a:avLst/>
          </a:prstGeom>
          <a:solidFill>
            <a:schemeClr val="lt1"/>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nvSpPr>
        <p:spPr>
          <a:xfrm>
            <a:off x="114913" y="3363451"/>
            <a:ext cx="81042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1242C"/>
              </a:buClr>
              <a:buSzPts val="2000"/>
              <a:buFont typeface="Arial"/>
              <a:buNone/>
            </a:pPr>
            <a:r>
              <a:rPr b="1" i="0" lang="en-US" sz="2000" u="sng" cap="none" strike="noStrike">
                <a:solidFill>
                  <a:srgbClr val="21242C"/>
                </a:solidFill>
                <a:latin typeface="Arial"/>
                <a:ea typeface="Arial"/>
                <a:cs typeface="Arial"/>
                <a:sym typeface="Arial"/>
              </a:rPr>
              <a:t>Scenario </a:t>
            </a:r>
            <a:endParaRPr sz="2000" u="sng">
              <a:solidFill>
                <a:schemeClr val="dk1"/>
              </a:solidFill>
              <a:latin typeface="Play"/>
              <a:ea typeface="Play"/>
              <a:cs typeface="Play"/>
              <a:sym typeface="Play"/>
            </a:endParaRPr>
          </a:p>
          <a:p>
            <a:pPr indent="0" lvl="0" marL="0" marR="0" rtl="0" algn="l">
              <a:lnSpc>
                <a:spcPct val="100000"/>
              </a:lnSpc>
              <a:spcBef>
                <a:spcPts val="0"/>
              </a:spcBef>
              <a:spcAft>
                <a:spcPts val="0"/>
              </a:spcAft>
              <a:buClr>
                <a:srgbClr val="21242C"/>
              </a:buClr>
              <a:buSzPts val="2000"/>
              <a:buFont typeface="Arial"/>
              <a:buNone/>
            </a:pPr>
            <a:r>
              <a:rPr b="0" i="0" lang="en-US" sz="2000" u="none" cap="none" strike="noStrike">
                <a:solidFill>
                  <a:srgbClr val="21242C"/>
                </a:solidFill>
                <a:latin typeface="Arial"/>
                <a:ea typeface="Arial"/>
                <a:cs typeface="Arial"/>
                <a:sym typeface="Arial"/>
              </a:rPr>
              <a:t> </a:t>
            </a:r>
            <a:r>
              <a:rPr lang="en-US" sz="2000">
                <a:solidFill>
                  <a:srgbClr val="001D35"/>
                </a:solidFill>
              </a:rPr>
              <a:t>Develop a predictive model that estimates the likelihood of business survival, providing entrepreneurs and investors with data-driven insights to support informed businesses expansion decisions.</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4409150" y="197463"/>
            <a:ext cx="76887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21242C"/>
              </a:buClr>
              <a:buSzPts val="2000"/>
              <a:buFont typeface="Arial"/>
              <a:buNone/>
            </a:pPr>
            <a:r>
              <a:rPr b="1" i="0" lang="en-US" sz="2400" u="none" cap="none" strike="noStrike">
                <a:solidFill>
                  <a:srgbClr val="E69138"/>
                </a:solidFill>
                <a:latin typeface="Arial"/>
                <a:ea typeface="Arial"/>
                <a:cs typeface="Arial"/>
                <a:sym typeface="Arial"/>
              </a:rPr>
              <a:t>Dataset Details</a:t>
            </a:r>
            <a:endParaRPr b="0" i="0" sz="2400" u="none" cap="none" strike="noStrike">
              <a:solidFill>
                <a:srgbClr val="E69138"/>
              </a:solidFill>
              <a:latin typeface="Arial"/>
              <a:ea typeface="Arial"/>
              <a:cs typeface="Arial"/>
              <a:sym typeface="Arial"/>
            </a:endParaRPr>
          </a:p>
          <a:p>
            <a:pPr indent="0" lvl="0" marL="0" marR="0" rtl="0" algn="l">
              <a:lnSpc>
                <a:spcPct val="150000"/>
              </a:lnSpc>
              <a:spcBef>
                <a:spcPts val="2400"/>
              </a:spcBef>
              <a:spcAft>
                <a:spcPts val="0"/>
              </a:spcAft>
              <a:buClr>
                <a:srgbClr val="21242C"/>
              </a:buClr>
              <a:buSzPts val="2000"/>
              <a:buFont typeface="Arial"/>
              <a:buChar char="•"/>
            </a:pPr>
            <a:r>
              <a:rPr lang="en-US" sz="2000" u="sng">
                <a:solidFill>
                  <a:srgbClr val="21242C"/>
                </a:solidFill>
              </a:rPr>
              <a:t>R</a:t>
            </a:r>
            <a:r>
              <a:rPr lang="en-US" sz="2000" u="sng">
                <a:solidFill>
                  <a:srgbClr val="21242C"/>
                </a:solidFill>
              </a:rPr>
              <a:t>egistered B</a:t>
            </a:r>
            <a:r>
              <a:rPr lang="en-US" sz="2000" u="sng">
                <a:solidFill>
                  <a:srgbClr val="21242C"/>
                </a:solidFill>
              </a:rPr>
              <a:t>usinesses:</a:t>
            </a:r>
            <a:r>
              <a:rPr lang="en-US" sz="2000">
                <a:solidFill>
                  <a:srgbClr val="21242C"/>
                </a:solidFill>
              </a:rPr>
              <a:t> 158,330 (</a:t>
            </a:r>
            <a:r>
              <a:rPr lang="en-US" sz="2000">
                <a:solidFill>
                  <a:srgbClr val="21242C"/>
                </a:solidFill>
              </a:rPr>
              <a:t>since 1926).</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21242C"/>
              </a:buClr>
              <a:buSzPts val="2000"/>
              <a:buFont typeface="Arial"/>
              <a:buChar char="•"/>
            </a:pPr>
            <a:r>
              <a:rPr b="0" i="0" lang="en-US" sz="2000" u="none" cap="none" strike="noStrike">
                <a:solidFill>
                  <a:srgbClr val="21242C"/>
                </a:solidFill>
                <a:latin typeface="Arial"/>
                <a:ea typeface="Arial"/>
                <a:cs typeface="Arial"/>
                <a:sym typeface="Arial"/>
              </a:rPr>
              <a:t> </a:t>
            </a:r>
            <a:r>
              <a:rPr lang="en-US" sz="2000" u="sng">
                <a:solidFill>
                  <a:srgbClr val="21242C"/>
                </a:solidFill>
              </a:rPr>
              <a:t>Relevant V</a:t>
            </a:r>
            <a:r>
              <a:rPr b="0" lang="en-US" sz="2000" u="sng" cap="none" strike="noStrike">
                <a:solidFill>
                  <a:srgbClr val="21242C"/>
                </a:solidFill>
                <a:latin typeface="Arial"/>
                <a:ea typeface="Arial"/>
                <a:cs typeface="Arial"/>
                <a:sym typeface="Arial"/>
              </a:rPr>
              <a:t>ariables:</a:t>
            </a:r>
            <a:r>
              <a:rPr b="0" i="0" lang="en-US" sz="2000" u="none" cap="none" strike="noStrike">
                <a:solidFill>
                  <a:srgbClr val="21242C"/>
                </a:solidFill>
                <a:latin typeface="Arial"/>
                <a:ea typeface="Arial"/>
                <a:cs typeface="Arial"/>
                <a:sym typeface="Arial"/>
              </a:rPr>
              <a:t> </a:t>
            </a:r>
            <a:r>
              <a:rPr lang="en-US" sz="2000">
                <a:solidFill>
                  <a:srgbClr val="21242C"/>
                </a:solidFill>
              </a:rPr>
              <a:t>Geographic location</a:t>
            </a:r>
            <a:r>
              <a:rPr b="0" i="0" lang="en-US" sz="2000" u="none" cap="none" strike="noStrike">
                <a:solidFill>
                  <a:srgbClr val="21242C"/>
                </a:solidFill>
                <a:latin typeface="Arial"/>
                <a:ea typeface="Arial"/>
                <a:cs typeface="Arial"/>
                <a:sym typeface="Arial"/>
              </a:rPr>
              <a:t>, </a:t>
            </a:r>
            <a:r>
              <a:rPr lang="en-US" sz="2000">
                <a:solidFill>
                  <a:srgbClr val="21242C"/>
                </a:solidFill>
              </a:rPr>
              <a:t>businesses</a:t>
            </a:r>
            <a:r>
              <a:rPr lang="en-US" sz="2000">
                <a:solidFill>
                  <a:srgbClr val="21242C"/>
                </a:solidFill>
              </a:rPr>
              <a:t> info, etc.</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21242C"/>
              </a:buClr>
              <a:buSzPts val="2000"/>
              <a:buFont typeface="Arial"/>
              <a:buChar char="•"/>
            </a:pPr>
            <a:r>
              <a:rPr b="0" i="0" lang="en-US" sz="2000" u="none" cap="none" strike="noStrike">
                <a:solidFill>
                  <a:srgbClr val="21242C"/>
                </a:solidFill>
                <a:latin typeface="Arial"/>
                <a:ea typeface="Arial"/>
                <a:cs typeface="Arial"/>
                <a:sym typeface="Arial"/>
              </a:rPr>
              <a:t> </a:t>
            </a:r>
            <a:r>
              <a:rPr b="0" i="0" lang="en-US" sz="2000" u="sng" cap="none" strike="noStrike">
                <a:solidFill>
                  <a:srgbClr val="21242C"/>
                </a:solidFill>
                <a:latin typeface="Arial"/>
                <a:ea typeface="Arial"/>
                <a:cs typeface="Arial"/>
                <a:sym typeface="Arial"/>
              </a:rPr>
              <a:t>Main Focus:</a:t>
            </a:r>
            <a:r>
              <a:rPr b="0" i="0" lang="en-US" sz="2000" u="none" cap="none" strike="noStrike">
                <a:solidFill>
                  <a:srgbClr val="21242C"/>
                </a:solidFill>
                <a:latin typeface="Arial"/>
                <a:ea typeface="Arial"/>
                <a:cs typeface="Arial"/>
                <a:sym typeface="Arial"/>
              </a:rPr>
              <a:t> </a:t>
            </a:r>
            <a:r>
              <a:rPr lang="en-US" sz="2000">
                <a:solidFill>
                  <a:srgbClr val="21242C"/>
                </a:solidFill>
              </a:rPr>
              <a:t>Find a predictive business s</a:t>
            </a:r>
            <a:r>
              <a:rPr lang="en-US" sz="2000">
                <a:solidFill>
                  <a:srgbClr val="21242C"/>
                </a:solidFill>
              </a:rPr>
              <a:t>urvival</a:t>
            </a:r>
            <a:r>
              <a:rPr lang="en-US" sz="2000">
                <a:solidFill>
                  <a:srgbClr val="21242C"/>
                </a:solidFill>
              </a:rPr>
              <a:t> model.</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570270" y="3077496"/>
            <a:ext cx="10854813" cy="45719"/>
          </a:xfrm>
          <a:prstGeom prst="rect">
            <a:avLst/>
          </a:prstGeom>
          <a:solidFill>
            <a:schemeClr val="accent1"/>
          </a:solidFill>
          <a:ln cap="flat" cmpd="sng" w="12700">
            <a:solidFill>
              <a:srgbClr val="0A306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pic>
        <p:nvPicPr>
          <p:cNvPr id="121" name="Google Shape;121;p3"/>
          <p:cNvPicPr preferRelativeResize="0"/>
          <p:nvPr/>
        </p:nvPicPr>
        <p:blipFill>
          <a:blip r:embed="rId3">
            <a:alphaModFix/>
          </a:blip>
          <a:stretch>
            <a:fillRect/>
          </a:stretch>
        </p:blipFill>
        <p:spPr>
          <a:xfrm>
            <a:off x="69425" y="70675"/>
            <a:ext cx="4229700" cy="2346975"/>
          </a:xfrm>
          <a:prstGeom prst="rect">
            <a:avLst/>
          </a:prstGeom>
          <a:noFill/>
          <a:ln>
            <a:noFill/>
          </a:ln>
        </p:spPr>
      </p:pic>
      <p:pic>
        <p:nvPicPr>
          <p:cNvPr id="122" name="Google Shape;122;p3"/>
          <p:cNvPicPr preferRelativeResize="0"/>
          <p:nvPr/>
        </p:nvPicPr>
        <p:blipFill>
          <a:blip r:embed="rId4">
            <a:alphaModFix/>
          </a:blip>
          <a:stretch>
            <a:fillRect/>
          </a:stretch>
        </p:blipFill>
        <p:spPr>
          <a:xfrm>
            <a:off x="8344638" y="3609725"/>
            <a:ext cx="3804274" cy="2738300"/>
          </a:xfrm>
          <a:prstGeom prst="rect">
            <a:avLst/>
          </a:prstGeom>
          <a:noFill/>
          <a:ln>
            <a:noFill/>
          </a:ln>
        </p:spPr>
      </p:pic>
      <p:sp>
        <p:nvSpPr>
          <p:cNvPr id="123" name="Google Shape;123;p3"/>
          <p:cNvSpPr txBox="1"/>
          <p:nvPr/>
        </p:nvSpPr>
        <p:spPr>
          <a:xfrm>
            <a:off x="186725" y="4789824"/>
            <a:ext cx="81042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rgbClr val="21242C"/>
                </a:solidFill>
              </a:rPr>
              <a:t>Main </a:t>
            </a:r>
            <a:r>
              <a:rPr b="1" lang="en-US" sz="2000" u="sng">
                <a:solidFill>
                  <a:srgbClr val="21242C"/>
                </a:solidFill>
              </a:rPr>
              <a:t>Goal</a:t>
            </a:r>
            <a:endParaRPr b="1" sz="2000" u="sng">
              <a:solidFill>
                <a:srgbClr val="21242C"/>
              </a:solidFill>
            </a:endParaRPr>
          </a:p>
          <a:p>
            <a:pPr indent="0" lvl="0" marL="0" rtl="0" algn="l">
              <a:spcBef>
                <a:spcPts val="0"/>
              </a:spcBef>
              <a:spcAft>
                <a:spcPts val="0"/>
              </a:spcAft>
              <a:buNone/>
            </a:pPr>
            <a:r>
              <a:rPr lang="en-US" sz="2000">
                <a:solidFill>
                  <a:srgbClr val="21242C"/>
                </a:solidFill>
              </a:rPr>
              <a:t>  </a:t>
            </a:r>
            <a:r>
              <a:rPr lang="en-US" sz="2000">
                <a:solidFill>
                  <a:srgbClr val="21242C"/>
                </a:solidFill>
              </a:rPr>
              <a:t>Apply logistic regression modeling to the San Diego County Business Listings dataset to identify statistically significant predictors of business survival and to evaluate the feasibility of constructing an accurate and interpretable predictive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cxnSp>
        <p:nvCxnSpPr>
          <p:cNvPr id="128" name="Google Shape;128;p4"/>
          <p:cNvCxnSpPr/>
          <p:nvPr/>
        </p:nvCxnSpPr>
        <p:spPr>
          <a:xfrm>
            <a:off x="713232" y="1031001"/>
            <a:ext cx="978862" cy="0"/>
          </a:xfrm>
          <a:prstGeom prst="straightConnector1">
            <a:avLst/>
          </a:prstGeom>
          <a:noFill/>
          <a:ln cap="flat" cmpd="sng" w="76200">
            <a:solidFill>
              <a:schemeClr val="accent1"/>
            </a:solidFill>
            <a:prstDash val="solid"/>
            <a:miter lim="800000"/>
            <a:headEnd len="sm" w="sm" type="none"/>
            <a:tailEnd len="sm" w="sm" type="none"/>
          </a:ln>
        </p:spPr>
      </p:cxnSp>
      <p:sp>
        <p:nvSpPr>
          <p:cNvPr id="129" name="Google Shape;129;p4"/>
          <p:cNvSpPr/>
          <p:nvPr/>
        </p:nvSpPr>
        <p:spPr>
          <a:xfrm>
            <a:off x="41525" y="20250"/>
            <a:ext cx="6964800" cy="6817500"/>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201"/>
              <a:buFont typeface="Play"/>
              <a:buNone/>
            </a:pPr>
            <a:r>
              <a:rPr lang="en-US" sz="1800">
                <a:solidFill>
                  <a:schemeClr val="lt1"/>
                </a:solidFill>
                <a:latin typeface="Play"/>
                <a:ea typeface="Play"/>
                <a:cs typeface="Play"/>
                <a:sym typeface="Play"/>
              </a:rPr>
              <a:t>Can a logistic regression model be constructed on the San Diego County Business Listings dataset to estimate the likelihood of business survival?</a:t>
            </a:r>
            <a:endParaRPr b="0" i="0" sz="1800" u="none" cap="none" strike="noStrike">
              <a:solidFill>
                <a:schemeClr val="lt1"/>
              </a:solidFill>
              <a:latin typeface="Play"/>
              <a:ea typeface="Play"/>
              <a:cs typeface="Play"/>
              <a:sym typeface="Play"/>
            </a:endParaRPr>
          </a:p>
        </p:txBody>
      </p:sp>
      <p:cxnSp>
        <p:nvCxnSpPr>
          <p:cNvPr id="130" name="Google Shape;130;p4"/>
          <p:cNvCxnSpPr/>
          <p:nvPr/>
        </p:nvCxnSpPr>
        <p:spPr>
          <a:xfrm flipH="1" rot="10800000">
            <a:off x="5672328" y="6267921"/>
            <a:ext cx="6519672" cy="2"/>
          </a:xfrm>
          <a:prstGeom prst="straightConnector1">
            <a:avLst/>
          </a:prstGeom>
          <a:noFill/>
          <a:ln cap="flat" cmpd="sng" w="76200">
            <a:solidFill>
              <a:schemeClr val="accent1"/>
            </a:solidFill>
            <a:prstDash val="solid"/>
            <a:miter lim="800000"/>
            <a:headEnd len="sm" w="sm" type="none"/>
            <a:tailEnd len="sm" w="sm" type="none"/>
          </a:ln>
        </p:spPr>
      </p:cxnSp>
      <p:sp>
        <p:nvSpPr>
          <p:cNvPr id="131" name="Google Shape;131;p4"/>
          <p:cNvSpPr txBox="1"/>
          <p:nvPr/>
        </p:nvSpPr>
        <p:spPr>
          <a:xfrm>
            <a:off x="165950" y="104275"/>
            <a:ext cx="7242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2000" u="sng">
                <a:solidFill>
                  <a:srgbClr val="E69138"/>
                </a:solidFill>
              </a:rPr>
              <a:t>San Diego County Businesses Survival A</a:t>
            </a:r>
            <a:r>
              <a:rPr b="1" lang="en-US" sz="2000" u="sng">
                <a:solidFill>
                  <a:srgbClr val="E69138"/>
                </a:solidFill>
              </a:rPr>
              <a:t>nalysis Cycle</a:t>
            </a:r>
            <a:endParaRPr b="0" i="0" sz="2000" u="sng" cap="none" strike="noStrike">
              <a:solidFill>
                <a:srgbClr val="E69138"/>
              </a:solidFill>
              <a:latin typeface="Play"/>
              <a:ea typeface="Play"/>
              <a:cs typeface="Play"/>
              <a:sym typeface="Play"/>
            </a:endParaRPr>
          </a:p>
        </p:txBody>
      </p:sp>
      <p:pic>
        <p:nvPicPr>
          <p:cNvPr id="132" name="Google Shape;132;p4"/>
          <p:cNvPicPr preferRelativeResize="0"/>
          <p:nvPr/>
        </p:nvPicPr>
        <p:blipFill>
          <a:blip r:embed="rId3">
            <a:alphaModFix/>
          </a:blip>
          <a:stretch>
            <a:fillRect/>
          </a:stretch>
        </p:blipFill>
        <p:spPr>
          <a:xfrm rot="-1193249">
            <a:off x="3561588" y="5293300"/>
            <a:ext cx="1133475" cy="771525"/>
          </a:xfrm>
          <a:prstGeom prst="rect">
            <a:avLst/>
          </a:prstGeom>
          <a:solidFill>
            <a:schemeClr val="lt1"/>
          </a:solidFill>
          <a:ln>
            <a:noFill/>
          </a:ln>
        </p:spPr>
      </p:pic>
      <p:pic>
        <p:nvPicPr>
          <p:cNvPr id="133" name="Google Shape;133;p4"/>
          <p:cNvPicPr preferRelativeResize="0"/>
          <p:nvPr/>
        </p:nvPicPr>
        <p:blipFill>
          <a:blip r:embed="rId4">
            <a:alphaModFix/>
          </a:blip>
          <a:stretch>
            <a:fillRect/>
          </a:stretch>
        </p:blipFill>
        <p:spPr>
          <a:xfrm>
            <a:off x="4593975" y="2659888"/>
            <a:ext cx="800100" cy="1362075"/>
          </a:xfrm>
          <a:prstGeom prst="rect">
            <a:avLst/>
          </a:prstGeom>
          <a:solidFill>
            <a:schemeClr val="lt1"/>
          </a:solidFill>
          <a:ln>
            <a:noFill/>
          </a:ln>
        </p:spPr>
      </p:pic>
      <p:pic>
        <p:nvPicPr>
          <p:cNvPr id="134" name="Google Shape;134;p4"/>
          <p:cNvPicPr preferRelativeResize="0"/>
          <p:nvPr/>
        </p:nvPicPr>
        <p:blipFill>
          <a:blip r:embed="rId5">
            <a:alphaModFix/>
          </a:blip>
          <a:stretch>
            <a:fillRect/>
          </a:stretch>
        </p:blipFill>
        <p:spPr>
          <a:xfrm rot="481130">
            <a:off x="2453245" y="881796"/>
            <a:ext cx="1323584" cy="725257"/>
          </a:xfrm>
          <a:prstGeom prst="rect">
            <a:avLst/>
          </a:prstGeom>
          <a:solidFill>
            <a:schemeClr val="lt1"/>
          </a:solidFill>
          <a:ln>
            <a:noFill/>
          </a:ln>
        </p:spPr>
      </p:pic>
      <p:pic>
        <p:nvPicPr>
          <p:cNvPr id="135" name="Google Shape;135;p4"/>
          <p:cNvPicPr preferRelativeResize="0"/>
          <p:nvPr/>
        </p:nvPicPr>
        <p:blipFill>
          <a:blip r:embed="rId6">
            <a:alphaModFix/>
          </a:blip>
          <a:stretch>
            <a:fillRect/>
          </a:stretch>
        </p:blipFill>
        <p:spPr>
          <a:xfrm rot="629779">
            <a:off x="420143" y="2396312"/>
            <a:ext cx="790575" cy="1257300"/>
          </a:xfrm>
          <a:prstGeom prst="rect">
            <a:avLst/>
          </a:prstGeom>
          <a:solidFill>
            <a:schemeClr val="lt1"/>
          </a:solidFill>
          <a:ln>
            <a:noFill/>
          </a:ln>
        </p:spPr>
      </p:pic>
      <p:sp>
        <p:nvSpPr>
          <p:cNvPr id="136" name="Google Shape;136;p4"/>
          <p:cNvSpPr txBox="1"/>
          <p:nvPr/>
        </p:nvSpPr>
        <p:spPr>
          <a:xfrm>
            <a:off x="3774845" y="1374400"/>
            <a:ext cx="1735800" cy="12375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a:solidFill>
                  <a:schemeClr val="dk1"/>
                </a:solidFill>
                <a:latin typeface="Play"/>
                <a:ea typeface="Play"/>
                <a:cs typeface="Play"/>
                <a:sym typeface="Play"/>
              </a:rPr>
              <a:t>Exploratory Data Analysis </a:t>
            </a:r>
            <a:r>
              <a:rPr lang="en-US" sz="1600">
                <a:solidFill>
                  <a:schemeClr val="dk1"/>
                </a:solidFill>
                <a:latin typeface="Play"/>
                <a:ea typeface="Play"/>
                <a:cs typeface="Play"/>
                <a:sym typeface="Play"/>
              </a:rPr>
              <a:t>(Dashboard)</a:t>
            </a:r>
            <a:endParaRPr sz="1600"/>
          </a:p>
        </p:txBody>
      </p:sp>
      <p:sp>
        <p:nvSpPr>
          <p:cNvPr id="137" name="Google Shape;137;p4"/>
          <p:cNvSpPr txBox="1"/>
          <p:nvPr/>
        </p:nvSpPr>
        <p:spPr>
          <a:xfrm>
            <a:off x="617872" y="969844"/>
            <a:ext cx="1884600" cy="1459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a:solidFill>
                  <a:schemeClr val="dk1"/>
                </a:solidFill>
                <a:latin typeface="Play"/>
                <a:ea typeface="Play"/>
                <a:cs typeface="Play"/>
                <a:sym typeface="Play"/>
              </a:rPr>
              <a:t>Data Collection &amp; </a:t>
            </a:r>
            <a:r>
              <a:rPr b="1" lang="en-US" sz="2000">
                <a:solidFill>
                  <a:schemeClr val="dk1"/>
                </a:solidFill>
                <a:latin typeface="Play"/>
                <a:ea typeface="Play"/>
                <a:cs typeface="Play"/>
                <a:sym typeface="Play"/>
              </a:rPr>
              <a:t>Cleaning</a:t>
            </a:r>
            <a:endParaRPr b="1" sz="2000">
              <a:solidFill>
                <a:schemeClr val="dk1"/>
              </a:solidFill>
              <a:latin typeface="Play"/>
              <a:ea typeface="Play"/>
              <a:cs typeface="Play"/>
              <a:sym typeface="Play"/>
            </a:endParaRPr>
          </a:p>
          <a:p>
            <a:pPr indent="0" lvl="0" marL="0" rtl="0" algn="ctr">
              <a:lnSpc>
                <a:spcPct val="90000"/>
              </a:lnSpc>
              <a:spcBef>
                <a:spcPts val="0"/>
              </a:spcBef>
              <a:spcAft>
                <a:spcPts val="0"/>
              </a:spcAft>
              <a:buNone/>
            </a:pPr>
            <a:r>
              <a:rPr lang="en-US" sz="1600">
                <a:solidFill>
                  <a:schemeClr val="dk1"/>
                </a:solidFill>
                <a:latin typeface="Play"/>
                <a:ea typeface="Play"/>
                <a:cs typeface="Play"/>
                <a:sym typeface="Play"/>
              </a:rPr>
              <a:t>(San Diego County  Business dataset)</a:t>
            </a:r>
            <a:endParaRPr sz="1600"/>
          </a:p>
        </p:txBody>
      </p:sp>
      <p:sp>
        <p:nvSpPr>
          <p:cNvPr id="138" name="Google Shape;138;p4"/>
          <p:cNvSpPr txBox="1"/>
          <p:nvPr/>
        </p:nvSpPr>
        <p:spPr>
          <a:xfrm>
            <a:off x="1579550" y="5473975"/>
            <a:ext cx="1884600" cy="1182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a:solidFill>
                  <a:schemeClr val="dk1"/>
                </a:solidFill>
                <a:latin typeface="Play"/>
                <a:ea typeface="Play"/>
                <a:cs typeface="Play"/>
                <a:sym typeface="Play"/>
              </a:rPr>
              <a:t>Modeling &amp; Deployment</a:t>
            </a:r>
            <a:endParaRPr b="1" sz="2000">
              <a:solidFill>
                <a:schemeClr val="dk1"/>
              </a:solidFill>
              <a:latin typeface="Play"/>
              <a:ea typeface="Play"/>
              <a:cs typeface="Play"/>
              <a:sym typeface="Play"/>
            </a:endParaRPr>
          </a:p>
          <a:p>
            <a:pPr indent="0" lvl="0" marL="0" rtl="0" algn="ctr">
              <a:lnSpc>
                <a:spcPct val="90000"/>
              </a:lnSpc>
              <a:spcBef>
                <a:spcPts val="0"/>
              </a:spcBef>
              <a:spcAft>
                <a:spcPts val="0"/>
              </a:spcAft>
              <a:buNone/>
            </a:pPr>
            <a:r>
              <a:rPr lang="en-US" sz="1600">
                <a:solidFill>
                  <a:schemeClr val="dk1"/>
                </a:solidFill>
                <a:latin typeface="Play"/>
                <a:ea typeface="Play"/>
                <a:cs typeface="Play"/>
                <a:sym typeface="Play"/>
              </a:rPr>
              <a:t>(Predictive Models)</a:t>
            </a:r>
            <a:endParaRPr sz="1600"/>
          </a:p>
        </p:txBody>
      </p:sp>
      <p:sp>
        <p:nvSpPr>
          <p:cNvPr id="139" name="Google Shape;139;p4"/>
          <p:cNvSpPr txBox="1"/>
          <p:nvPr/>
        </p:nvSpPr>
        <p:spPr>
          <a:xfrm>
            <a:off x="4173825" y="4046595"/>
            <a:ext cx="1640400" cy="1404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1">
                <a:solidFill>
                  <a:schemeClr val="dk1"/>
                </a:solidFill>
                <a:latin typeface="Play"/>
                <a:ea typeface="Play"/>
                <a:cs typeface="Play"/>
                <a:sym typeface="Play"/>
              </a:rPr>
              <a:t>Statistical Data Analysis</a:t>
            </a:r>
            <a:endParaRPr b="1" sz="2001">
              <a:solidFill>
                <a:schemeClr val="dk1"/>
              </a:solidFill>
              <a:latin typeface="Play"/>
              <a:ea typeface="Play"/>
              <a:cs typeface="Play"/>
              <a:sym typeface="Play"/>
            </a:endParaRPr>
          </a:p>
          <a:p>
            <a:pPr indent="0" lvl="0" marL="0" rtl="0" algn="ctr">
              <a:lnSpc>
                <a:spcPct val="90000"/>
              </a:lnSpc>
              <a:spcBef>
                <a:spcPts val="0"/>
              </a:spcBef>
              <a:spcAft>
                <a:spcPts val="0"/>
              </a:spcAft>
              <a:buNone/>
            </a:pPr>
            <a:r>
              <a:rPr lang="en-US">
                <a:solidFill>
                  <a:schemeClr val="dk1"/>
                </a:solidFill>
                <a:latin typeface="Play"/>
                <a:ea typeface="Play"/>
                <a:cs typeface="Play"/>
                <a:sym typeface="Play"/>
              </a:rPr>
              <a:t>(Hypothesis Tests &amp; Clustering)</a:t>
            </a:r>
            <a:endParaRPr/>
          </a:p>
        </p:txBody>
      </p:sp>
      <p:sp>
        <p:nvSpPr>
          <p:cNvPr id="140" name="Google Shape;140;p4"/>
          <p:cNvSpPr txBox="1"/>
          <p:nvPr/>
        </p:nvSpPr>
        <p:spPr>
          <a:xfrm>
            <a:off x="19801" y="3710925"/>
            <a:ext cx="1640400" cy="960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a:solidFill>
                  <a:schemeClr val="dk1"/>
                </a:solidFill>
                <a:latin typeface="Play"/>
                <a:ea typeface="Play"/>
                <a:cs typeface="Play"/>
                <a:sym typeface="Play"/>
              </a:rPr>
              <a:t>Presenting</a:t>
            </a:r>
            <a:r>
              <a:rPr b="1" lang="en-US" sz="2000">
                <a:solidFill>
                  <a:schemeClr val="dk1"/>
                </a:solidFill>
                <a:latin typeface="Play"/>
                <a:ea typeface="Play"/>
                <a:cs typeface="Play"/>
                <a:sym typeface="Play"/>
              </a:rPr>
              <a:t> Findings</a:t>
            </a:r>
            <a:endParaRPr b="1" sz="2000">
              <a:solidFill>
                <a:schemeClr val="dk1"/>
              </a:solidFill>
              <a:latin typeface="Play"/>
              <a:ea typeface="Play"/>
              <a:cs typeface="Play"/>
              <a:sym typeface="Play"/>
            </a:endParaRPr>
          </a:p>
          <a:p>
            <a:pPr indent="0" lvl="0" marL="0" rtl="0" algn="ctr">
              <a:lnSpc>
                <a:spcPct val="90000"/>
              </a:lnSpc>
              <a:spcBef>
                <a:spcPts val="0"/>
              </a:spcBef>
              <a:spcAft>
                <a:spcPts val="0"/>
              </a:spcAft>
              <a:buNone/>
            </a:pPr>
            <a:r>
              <a:rPr lang="en-US" sz="1600">
                <a:solidFill>
                  <a:schemeClr val="dk1"/>
                </a:solidFill>
                <a:latin typeface="Play"/>
                <a:ea typeface="Play"/>
                <a:cs typeface="Play"/>
                <a:sym typeface="Play"/>
              </a:rPr>
              <a:t>(Report)</a:t>
            </a:r>
            <a:endParaRPr sz="1600"/>
          </a:p>
        </p:txBody>
      </p:sp>
      <p:pic>
        <p:nvPicPr>
          <p:cNvPr id="141" name="Google Shape;141;p4"/>
          <p:cNvPicPr preferRelativeResize="0"/>
          <p:nvPr/>
        </p:nvPicPr>
        <p:blipFill>
          <a:blip r:embed="rId3">
            <a:alphaModFix/>
          </a:blip>
          <a:stretch>
            <a:fillRect/>
          </a:stretch>
        </p:blipFill>
        <p:spPr>
          <a:xfrm rot="2898616">
            <a:off x="587087" y="4893750"/>
            <a:ext cx="1133475" cy="771525"/>
          </a:xfrm>
          <a:prstGeom prst="rect">
            <a:avLst/>
          </a:prstGeom>
          <a:solidFill>
            <a:schemeClr val="lt1"/>
          </a:solidFill>
          <a:ln>
            <a:noFill/>
          </a:ln>
        </p:spPr>
      </p:pic>
      <p:sp>
        <p:nvSpPr>
          <p:cNvPr id="142" name="Google Shape;142;p4"/>
          <p:cNvSpPr txBox="1"/>
          <p:nvPr/>
        </p:nvSpPr>
        <p:spPr>
          <a:xfrm>
            <a:off x="7373325" y="1874000"/>
            <a:ext cx="47397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600">
                <a:solidFill>
                  <a:schemeClr val="dk1"/>
                </a:solidFill>
              </a:rPr>
              <a:t>Can a logistic regression model be constructed on the </a:t>
            </a:r>
            <a:r>
              <a:rPr lang="en-US" sz="1600" u="sng">
                <a:solidFill>
                  <a:schemeClr val="accent1"/>
                </a:solidFill>
                <a:hlinkClick r:id="rId7">
                  <a:extLst>
                    <a:ext uri="{A12FA001-AC4F-418D-AE19-62706E023703}">
                      <ahyp:hlinkClr val="tx"/>
                    </a:ext>
                  </a:extLst>
                </a:hlinkClick>
              </a:rPr>
              <a:t>San Diego County Business Listings dataset</a:t>
            </a:r>
            <a:r>
              <a:rPr lang="en-US" sz="1600">
                <a:solidFill>
                  <a:schemeClr val="accent1"/>
                </a:solidFill>
              </a:rPr>
              <a:t> </a:t>
            </a:r>
            <a:r>
              <a:rPr lang="en-US" sz="1600">
                <a:solidFill>
                  <a:schemeClr val="dk1"/>
                </a:solidFill>
              </a:rPr>
              <a:t>to estimate the likelihood of </a:t>
            </a:r>
            <a:r>
              <a:rPr b="1" lang="en-US" sz="1600">
                <a:solidFill>
                  <a:schemeClr val="dk1"/>
                </a:solidFill>
              </a:rPr>
              <a:t>business survival</a:t>
            </a:r>
            <a:r>
              <a:rPr b="1" lang="en-US" sz="1600">
                <a:solidFill>
                  <a:schemeClr val="dk1"/>
                </a:solidFill>
              </a:rPr>
              <a:t>?</a:t>
            </a:r>
            <a:endParaRPr sz="1900"/>
          </a:p>
        </p:txBody>
      </p:sp>
      <p:sp>
        <p:nvSpPr>
          <p:cNvPr id="143" name="Google Shape;143;p4"/>
          <p:cNvSpPr txBox="1"/>
          <p:nvPr/>
        </p:nvSpPr>
        <p:spPr>
          <a:xfrm>
            <a:off x="6285700" y="4297000"/>
            <a:ext cx="5827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t>•Null Hypothesis (H0): </a:t>
            </a:r>
            <a:r>
              <a:rPr lang="en-US" sz="1600"/>
              <a:t>A predictive parametric logistic regression model cannot be constructed from the research dataset at or above a benchmark performance threshold of an F1-Score of 0.70 </a:t>
            </a:r>
            <a:r>
              <a:rPr b="1" lang="en-US" sz="1600"/>
              <a:t>.</a:t>
            </a:r>
            <a:endParaRPr b="1" sz="1600"/>
          </a:p>
          <a:p>
            <a:pPr indent="0" lvl="0" marL="0" rtl="0" algn="l">
              <a:spcBef>
                <a:spcPts val="0"/>
              </a:spcBef>
              <a:spcAft>
                <a:spcPts val="0"/>
              </a:spcAft>
              <a:buNone/>
            </a:pPr>
            <a:r>
              <a:rPr b="1" lang="en-US" sz="1600"/>
              <a:t>•Alternative Hypothesis (H1): </a:t>
            </a:r>
            <a:r>
              <a:rPr lang="en-US" sz="1600"/>
              <a:t>A predictive parametric logistic regression model can be constructed from the research dataset achieving an F1-Score of 0.70 or higher</a:t>
            </a:r>
            <a:endParaRPr b="1" sz="1600"/>
          </a:p>
          <a:p>
            <a:pPr indent="0" lvl="0" marL="0" rtl="0" algn="l">
              <a:spcBef>
                <a:spcPts val="0"/>
              </a:spcBef>
              <a:spcAft>
                <a:spcPts val="0"/>
              </a:spcAft>
              <a:buNone/>
            </a:pPr>
            <a:r>
              <a:t/>
            </a:r>
            <a:endParaRPr b="1" sz="1600"/>
          </a:p>
        </p:txBody>
      </p:sp>
      <p:pic>
        <p:nvPicPr>
          <p:cNvPr id="144" name="Google Shape;144;p4"/>
          <p:cNvPicPr preferRelativeResize="0"/>
          <p:nvPr/>
        </p:nvPicPr>
        <p:blipFill>
          <a:blip r:embed="rId8">
            <a:alphaModFix/>
          </a:blip>
          <a:stretch>
            <a:fillRect/>
          </a:stretch>
        </p:blipFill>
        <p:spPr>
          <a:xfrm>
            <a:off x="7042232" y="3247840"/>
            <a:ext cx="2100000" cy="902800"/>
          </a:xfrm>
          <a:prstGeom prst="rect">
            <a:avLst/>
          </a:prstGeom>
          <a:noFill/>
          <a:ln>
            <a:noFill/>
          </a:ln>
        </p:spPr>
      </p:pic>
      <p:pic>
        <p:nvPicPr>
          <p:cNvPr id="145" name="Google Shape;145;p4"/>
          <p:cNvPicPr preferRelativeResize="0"/>
          <p:nvPr/>
        </p:nvPicPr>
        <p:blipFill>
          <a:blip r:embed="rId9">
            <a:alphaModFix/>
          </a:blip>
          <a:stretch>
            <a:fillRect/>
          </a:stretch>
        </p:blipFill>
        <p:spPr>
          <a:xfrm>
            <a:off x="7515500" y="745663"/>
            <a:ext cx="2100000" cy="99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b148cf25cd_0_19"/>
          <p:cNvSpPr txBox="1"/>
          <p:nvPr/>
        </p:nvSpPr>
        <p:spPr>
          <a:xfrm>
            <a:off x="0" y="0"/>
            <a:ext cx="2202300" cy="461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u="sng">
                <a:solidFill>
                  <a:srgbClr val="E69138"/>
                </a:solidFill>
                <a:latin typeface="Play"/>
                <a:ea typeface="Play"/>
                <a:cs typeface="Play"/>
                <a:sym typeface="Play"/>
              </a:rPr>
              <a:t>Data Collection</a:t>
            </a:r>
            <a:endParaRPr u="sng">
              <a:solidFill>
                <a:srgbClr val="E69138"/>
              </a:solidFill>
            </a:endParaRPr>
          </a:p>
        </p:txBody>
      </p:sp>
      <p:sp>
        <p:nvSpPr>
          <p:cNvPr id="151" name="Google Shape;151;g3b148cf25cd_0_19"/>
          <p:cNvSpPr txBox="1"/>
          <p:nvPr/>
        </p:nvSpPr>
        <p:spPr>
          <a:xfrm>
            <a:off x="145250" y="510142"/>
            <a:ext cx="2403300" cy="581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600">
                <a:solidFill>
                  <a:schemeClr val="dk1"/>
                </a:solidFill>
              </a:rPr>
              <a:t>The data used in this study was the integration of  </a:t>
            </a:r>
            <a:r>
              <a:rPr lang="en-US" sz="1600">
                <a:solidFill>
                  <a:schemeClr val="dk1"/>
                </a:solidFill>
                <a:highlight>
                  <a:srgbClr val="00FFFF"/>
                </a:highlight>
              </a:rPr>
              <a:t>three primary public data sources:</a:t>
            </a:r>
            <a:r>
              <a:rPr lang="en-US" sz="1600">
                <a:solidFill>
                  <a:schemeClr val="dk1"/>
                </a:solidFill>
              </a:rPr>
              <a:t> the City of San Diego's</a:t>
            </a:r>
            <a:r>
              <a:rPr b="1" lang="en-US" sz="1600">
                <a:solidFill>
                  <a:schemeClr val="dk1"/>
                </a:solidFill>
              </a:rPr>
              <a:t> Active</a:t>
            </a:r>
            <a:r>
              <a:rPr lang="en-US" sz="1600">
                <a:solidFill>
                  <a:schemeClr val="dk1"/>
                </a:solidFill>
              </a:rPr>
              <a:t> and </a:t>
            </a:r>
            <a:r>
              <a:rPr b="1" lang="en-US" sz="1600">
                <a:solidFill>
                  <a:schemeClr val="dk1"/>
                </a:solidFill>
              </a:rPr>
              <a:t>Inactive Business Listings datasets</a:t>
            </a:r>
            <a:r>
              <a:rPr lang="en-US" sz="1600">
                <a:solidFill>
                  <a:schemeClr val="dk1"/>
                </a:solidFill>
              </a:rPr>
              <a:t> (City of San Diego, n.d.) and the </a:t>
            </a:r>
            <a:r>
              <a:rPr b="1" lang="en-US" sz="1600">
                <a:solidFill>
                  <a:schemeClr val="dk1"/>
                </a:solidFill>
              </a:rPr>
              <a:t>2020 Census ZIP Code–level population</a:t>
            </a:r>
            <a:r>
              <a:rPr lang="en-US" sz="1600">
                <a:solidFill>
                  <a:schemeClr val="dk1"/>
                </a:solidFill>
              </a:rPr>
              <a:t> dataset compiled by the San Diego Association of Governments (SANDAG, n.d.). The final dataset contains </a:t>
            </a:r>
            <a:r>
              <a:rPr b="1" lang="en-US" sz="1600">
                <a:solidFill>
                  <a:schemeClr val="dk1"/>
                </a:solidFill>
              </a:rPr>
              <a:t>158,330 registered businesses</a:t>
            </a:r>
            <a:r>
              <a:rPr lang="en-US" sz="1600">
                <a:solidFill>
                  <a:schemeClr val="dk1"/>
                </a:solidFill>
              </a:rPr>
              <a:t> established between 1926, and November 3, 2025.</a:t>
            </a:r>
            <a:endParaRPr sz="1600"/>
          </a:p>
        </p:txBody>
      </p:sp>
      <p:sp>
        <p:nvSpPr>
          <p:cNvPr id="152" name="Google Shape;152;g3b148cf25cd_0_19"/>
          <p:cNvSpPr txBox="1"/>
          <p:nvPr/>
        </p:nvSpPr>
        <p:spPr>
          <a:xfrm>
            <a:off x="3016075" y="430795"/>
            <a:ext cx="3021000" cy="637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600"/>
              <a:t>Each record includes key variables such as </a:t>
            </a:r>
            <a:r>
              <a:rPr b="1" lang="en-US" sz="1600"/>
              <a:t>account creation date, business start date, ownership type, NAICS sector and code, city, ZIP code, latitude, longitude, population, and the response variable account_status</a:t>
            </a:r>
            <a:r>
              <a:rPr lang="en-US" sz="1600"/>
              <a:t>, which indicates whether a business is active or inactive. Several </a:t>
            </a:r>
            <a:r>
              <a:rPr b="1" lang="en-US" sz="1600">
                <a:solidFill>
                  <a:srgbClr val="9900FF"/>
                </a:solidFill>
              </a:rPr>
              <a:t>derived variables</a:t>
            </a:r>
            <a:r>
              <a:rPr lang="en-US" sz="1600">
                <a:solidFill>
                  <a:srgbClr val="9900FF"/>
                </a:solidFill>
              </a:rPr>
              <a:t> </a:t>
            </a:r>
            <a:r>
              <a:rPr lang="en-US" sz="1600"/>
              <a:t>were also generated to support the analysis, including </a:t>
            </a:r>
            <a:r>
              <a:rPr lang="en-US" sz="1600">
                <a:solidFill>
                  <a:srgbClr val="9900FF"/>
                </a:solidFill>
              </a:rPr>
              <a:t>business age, business life-cycle groupings, local business density, and active/closed rates by ZIP code, NAICS sector, or city.</a:t>
            </a:r>
            <a:r>
              <a:rPr lang="en-US" sz="1600"/>
              <a:t> These derived measures align with accepted practices in multivariate analysis and predictive modeling.</a:t>
            </a:r>
            <a:endParaRPr sz="1600"/>
          </a:p>
        </p:txBody>
      </p:sp>
      <p:sp>
        <p:nvSpPr>
          <p:cNvPr id="153" name="Google Shape;153;g3b148cf25cd_0_19"/>
          <p:cNvSpPr txBox="1"/>
          <p:nvPr/>
        </p:nvSpPr>
        <p:spPr>
          <a:xfrm>
            <a:off x="6259675" y="452356"/>
            <a:ext cx="5802300" cy="213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600"/>
              <a:t>An important </a:t>
            </a:r>
            <a:r>
              <a:rPr b="1" lang="en-US" sz="1600"/>
              <a:t>advantage</a:t>
            </a:r>
            <a:r>
              <a:rPr lang="en-US" sz="1600"/>
              <a:t> of this data-gathering methodology is that the dataset draws from reputable, publicly maintained sources, ensuring transparency, accessibility, and consistent documentation. Because it </a:t>
            </a:r>
            <a:r>
              <a:rPr lang="en-US" sz="1600">
                <a:highlight>
                  <a:srgbClr val="00FFFF"/>
                </a:highlight>
              </a:rPr>
              <a:t>integrates three independently curated datasets, it provides both business-level detail and contextual demographic information</a:t>
            </a:r>
            <a:r>
              <a:rPr lang="en-US" sz="1600"/>
              <a:t>, supporting a more comprehensive modeling framework.</a:t>
            </a:r>
            <a:endParaRPr sz="1600"/>
          </a:p>
        </p:txBody>
      </p:sp>
      <p:sp>
        <p:nvSpPr>
          <p:cNvPr id="154" name="Google Shape;154;g3b148cf25cd_0_19"/>
          <p:cNvSpPr txBox="1"/>
          <p:nvPr/>
        </p:nvSpPr>
        <p:spPr>
          <a:xfrm>
            <a:off x="6237924" y="2631175"/>
            <a:ext cx="5874300" cy="411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600"/>
              <a:t>However, the methodology also presents a significant </a:t>
            </a:r>
            <a:r>
              <a:rPr b="1" lang="en-US" sz="1600"/>
              <a:t>disadvantage.</a:t>
            </a:r>
            <a:r>
              <a:rPr lang="en-US" sz="1600"/>
              <a:t> </a:t>
            </a:r>
            <a:r>
              <a:rPr lang="en-US" sz="1600">
                <a:highlight>
                  <a:srgbClr val="FFFF00"/>
                </a:highlight>
              </a:rPr>
              <a:t>The dataset reflects only registered businesses, excluding unregistered or informal establishments. This limitation may result in an underrepresentation of true business density in certain ZIP codes, </a:t>
            </a:r>
            <a:r>
              <a:rPr lang="en-US" sz="1600">
                <a:highlight>
                  <a:srgbClr val="FFFFFF"/>
                </a:highlight>
              </a:rPr>
              <a:t>potentially reducing the generalizability of findings to the broader business ecosystem. Additionally, </a:t>
            </a:r>
            <a:r>
              <a:rPr lang="en-US" sz="1600">
                <a:highlight>
                  <a:srgbClr val="FFFF00"/>
                </a:highlight>
              </a:rPr>
              <a:t>the dataset includes some imprecision in latitude and longitude values and relies on ZIP Code–level population counts from the 2020 Census (SANDAG, n.d.), which do not capture population changes occurring after 2020.</a:t>
            </a:r>
            <a:r>
              <a:rPr lang="en-US" sz="1600"/>
              <a:t> In addition, business registries often contain inconsistent address formatting, missing values, and category inconsistencies. These limitations represent constraints on both spatial accuracy and temporal relevance.</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b148cf25cd_0_27"/>
          <p:cNvSpPr txBox="1"/>
          <p:nvPr/>
        </p:nvSpPr>
        <p:spPr>
          <a:xfrm>
            <a:off x="0" y="0"/>
            <a:ext cx="2202300" cy="461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u="sng">
                <a:solidFill>
                  <a:srgbClr val="E69138"/>
                </a:solidFill>
                <a:latin typeface="Play"/>
                <a:ea typeface="Play"/>
                <a:cs typeface="Play"/>
                <a:sym typeface="Play"/>
              </a:rPr>
              <a:t>Data </a:t>
            </a:r>
            <a:r>
              <a:rPr b="1" lang="en-US" sz="2000" u="sng">
                <a:solidFill>
                  <a:srgbClr val="E69138"/>
                </a:solidFill>
                <a:latin typeface="Play"/>
                <a:ea typeface="Play"/>
                <a:cs typeface="Play"/>
                <a:sym typeface="Play"/>
              </a:rPr>
              <a:t>Cleaning</a:t>
            </a:r>
            <a:endParaRPr u="sng">
              <a:solidFill>
                <a:srgbClr val="E69138"/>
              </a:solidFill>
            </a:endParaRPr>
          </a:p>
        </p:txBody>
      </p:sp>
      <p:sp>
        <p:nvSpPr>
          <p:cNvPr id="160" name="Google Shape;160;g3b148cf25cd_0_27"/>
          <p:cNvSpPr txBox="1"/>
          <p:nvPr/>
        </p:nvSpPr>
        <p:spPr>
          <a:xfrm>
            <a:off x="128400" y="627050"/>
            <a:ext cx="3285000" cy="583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600">
                <a:solidFill>
                  <a:schemeClr val="dk1"/>
                </a:solidFill>
              </a:rPr>
              <a:t>To address the </a:t>
            </a:r>
            <a:r>
              <a:rPr b="1" lang="en-US" sz="1600">
                <a:solidFill>
                  <a:schemeClr val="dk1"/>
                </a:solidFill>
              </a:rPr>
              <a:t>challenges encountered</a:t>
            </a:r>
            <a:r>
              <a:rPr lang="en-US" sz="1600">
                <a:solidFill>
                  <a:schemeClr val="dk1"/>
                </a:solidFill>
              </a:rPr>
              <a:t> during the data collection and preparation process, several steps were taken to mitigate them. </a:t>
            </a:r>
            <a:r>
              <a:rPr lang="en-US" sz="1600">
                <a:solidFill>
                  <a:schemeClr val="dk1"/>
                </a:solidFill>
                <a:highlight>
                  <a:srgbClr val="00FF00"/>
                </a:highlight>
              </a:rPr>
              <a:t>Python was used extensively for data cleaning, transformation, and validation. </a:t>
            </a:r>
            <a:endParaRPr sz="1600">
              <a:solidFill>
                <a:schemeClr val="dk1"/>
              </a:solidFill>
              <a:highlight>
                <a:srgbClr val="00FF00"/>
              </a:highlight>
            </a:endParaRPr>
          </a:p>
          <a:p>
            <a:pPr indent="0" lvl="0" marL="0" rtl="0" algn="l">
              <a:lnSpc>
                <a:spcPct val="115000"/>
              </a:lnSpc>
              <a:spcBef>
                <a:spcPts val="1200"/>
              </a:spcBef>
              <a:spcAft>
                <a:spcPts val="0"/>
              </a:spcAft>
              <a:buNone/>
            </a:pPr>
            <a:r>
              <a:rPr b="1" lang="en-US" sz="1600">
                <a:solidFill>
                  <a:schemeClr val="dk1"/>
                </a:solidFill>
              </a:rPr>
              <a:t>Missing values were imputed where appropriate, categorical variables were converted into binary dummy variables, and duplicate or invalid records were removed. </a:t>
            </a:r>
            <a:endParaRPr b="1" sz="1600">
              <a:solidFill>
                <a:schemeClr val="dk1"/>
              </a:solidFill>
            </a:endParaRPr>
          </a:p>
          <a:p>
            <a:pPr indent="0" lvl="0" marL="0" rtl="0" algn="l">
              <a:lnSpc>
                <a:spcPct val="115000"/>
              </a:lnSpc>
              <a:spcBef>
                <a:spcPts val="1200"/>
              </a:spcBef>
              <a:spcAft>
                <a:spcPts val="1200"/>
              </a:spcAft>
              <a:buNone/>
            </a:pPr>
            <a:r>
              <a:rPr b="1" lang="en-US" sz="1600">
                <a:solidFill>
                  <a:schemeClr val="dk1"/>
                </a:solidFill>
              </a:rPr>
              <a:t>Outliers</a:t>
            </a:r>
            <a:r>
              <a:rPr lang="en-US" sz="1600">
                <a:solidFill>
                  <a:schemeClr val="dk1"/>
                </a:solidFill>
              </a:rPr>
              <a:t> in </a:t>
            </a:r>
            <a:r>
              <a:rPr lang="en-US" sz="1600">
                <a:solidFill>
                  <a:schemeClr val="dk1"/>
                </a:solidFill>
                <a:highlight>
                  <a:srgbClr val="00FFFF"/>
                </a:highlight>
              </a:rPr>
              <a:t>date_account_creation were retained </a:t>
            </a:r>
            <a:r>
              <a:rPr lang="en-US" sz="1600">
                <a:solidFill>
                  <a:schemeClr val="dk1"/>
                </a:solidFill>
              </a:rPr>
              <a:t>as delimitations of the study to preserve potentially meaningful cases of long-standing businesses.</a:t>
            </a:r>
            <a:endParaRPr b="1" sz="1600">
              <a:solidFill>
                <a:schemeClr val="dk1"/>
              </a:solidFill>
            </a:endParaRPr>
          </a:p>
        </p:txBody>
      </p:sp>
      <p:sp>
        <p:nvSpPr>
          <p:cNvPr id="161" name="Google Shape;161;g3b148cf25cd_0_27"/>
          <p:cNvSpPr txBox="1"/>
          <p:nvPr/>
        </p:nvSpPr>
        <p:spPr>
          <a:xfrm>
            <a:off x="3841925" y="1064150"/>
            <a:ext cx="2719200" cy="496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600"/>
              <a:t>Additionally, </a:t>
            </a:r>
            <a:r>
              <a:rPr b="1" lang="en-US" sz="1600"/>
              <a:t>sectors 22 (Utilities) and 92 (Public Administration) </a:t>
            </a:r>
            <a:r>
              <a:rPr lang="en-US" sz="1600">
                <a:highlight>
                  <a:srgbClr val="FFFF00"/>
                </a:highlight>
              </a:rPr>
              <a:t>were excluded to ensure that the analysis remained focused on private-sector business activity.</a:t>
            </a:r>
            <a:endParaRPr sz="1600">
              <a:highlight>
                <a:srgbClr val="FFFF00"/>
              </a:highlight>
            </a:endParaRPr>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rPr lang="en-US" sz="1600"/>
              <a:t>These measures ensured that, despite limitations inherent in the source data, the final dataset was sufficiently clean, consistent, and analytically ready for logistic regression modeling (Ramirez, 2025).</a:t>
            </a:r>
            <a:endParaRPr sz="1600"/>
          </a:p>
          <a:p>
            <a:pPr indent="0" lvl="0" marL="0" rtl="0" algn="l">
              <a:lnSpc>
                <a:spcPct val="115000"/>
              </a:lnSpc>
              <a:spcBef>
                <a:spcPts val="0"/>
              </a:spcBef>
              <a:spcAft>
                <a:spcPts val="0"/>
              </a:spcAft>
              <a:buNone/>
            </a:pPr>
            <a:r>
              <a:t/>
            </a:r>
            <a:endParaRPr sz="1600"/>
          </a:p>
        </p:txBody>
      </p:sp>
      <p:sp>
        <p:nvSpPr>
          <p:cNvPr id="162" name="Google Shape;162;g3b148cf25cd_0_27"/>
          <p:cNvSpPr txBox="1"/>
          <p:nvPr/>
        </p:nvSpPr>
        <p:spPr>
          <a:xfrm>
            <a:off x="7115338" y="1803000"/>
            <a:ext cx="46104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US" sz="1600" u="sng">
                <a:solidFill>
                  <a:schemeClr val="dk1"/>
                </a:solidFill>
              </a:rPr>
              <a:t>Challenges &amp; How They Were Overcome</a:t>
            </a:r>
            <a:endParaRPr sz="1600">
              <a:solidFill>
                <a:srgbClr val="434343"/>
              </a:solidFill>
              <a:highlight>
                <a:srgbClr val="FFFFFF"/>
              </a:highlight>
            </a:endParaRPr>
          </a:p>
        </p:txBody>
      </p:sp>
      <p:pic>
        <p:nvPicPr>
          <p:cNvPr id="163" name="Google Shape;163;g3b148cf25cd_0_27"/>
          <p:cNvPicPr preferRelativeResize="0"/>
          <p:nvPr/>
        </p:nvPicPr>
        <p:blipFill>
          <a:blip r:embed="rId3">
            <a:alphaModFix/>
          </a:blip>
          <a:stretch>
            <a:fillRect/>
          </a:stretch>
        </p:blipFill>
        <p:spPr>
          <a:xfrm>
            <a:off x="6757513" y="2293138"/>
            <a:ext cx="5326075" cy="2271720"/>
          </a:xfrm>
          <a:prstGeom prst="rect">
            <a:avLst/>
          </a:prstGeom>
          <a:noFill/>
          <a:ln>
            <a:noFill/>
          </a:ln>
        </p:spPr>
      </p:pic>
      <p:pic>
        <p:nvPicPr>
          <p:cNvPr id="164" name="Google Shape;164;g3b148cf25cd_0_27"/>
          <p:cNvPicPr preferRelativeResize="0"/>
          <p:nvPr/>
        </p:nvPicPr>
        <p:blipFill>
          <a:blip r:embed="rId4">
            <a:alphaModFix/>
          </a:blip>
          <a:stretch>
            <a:fillRect/>
          </a:stretch>
        </p:blipFill>
        <p:spPr>
          <a:xfrm>
            <a:off x="10795775" y="36725"/>
            <a:ext cx="1362150" cy="1362150"/>
          </a:xfrm>
          <a:prstGeom prst="rect">
            <a:avLst/>
          </a:prstGeom>
          <a:noFill/>
          <a:ln>
            <a:noFill/>
          </a:ln>
        </p:spPr>
      </p:pic>
      <p:sp>
        <p:nvSpPr>
          <p:cNvPr id="165" name="Google Shape;165;g3b148cf25cd_0_27"/>
          <p:cNvSpPr txBox="1"/>
          <p:nvPr/>
        </p:nvSpPr>
        <p:spPr>
          <a:xfrm>
            <a:off x="6989650" y="4623900"/>
            <a:ext cx="50841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u="sng">
                <a:solidFill>
                  <a:srgbClr val="0000FF"/>
                </a:solidFill>
              </a:rPr>
              <a:t>Note: </a:t>
            </a:r>
            <a:endParaRPr b="1" u="sng">
              <a:solidFill>
                <a:srgbClr val="0000FF"/>
              </a:solidFill>
            </a:endParaRPr>
          </a:p>
          <a:p>
            <a:pPr indent="0" lvl="0" marL="0" rtl="0" algn="l">
              <a:spcBef>
                <a:spcPts val="0"/>
              </a:spcBef>
              <a:spcAft>
                <a:spcPts val="0"/>
              </a:spcAft>
              <a:buNone/>
            </a:pPr>
            <a:r>
              <a:rPr lang="en-US">
                <a:solidFill>
                  <a:schemeClr val="dk1"/>
                </a:solidFill>
                <a:highlight>
                  <a:srgbClr val="FFFF00"/>
                </a:highlight>
              </a:rPr>
              <a:t>Data sparsity was maintained below 10% to preserve dataset integrity and analytical reliability.</a:t>
            </a:r>
            <a:endParaRPr>
              <a:solidFill>
                <a:schemeClr val="dk1"/>
              </a:solidFill>
              <a:highlight>
                <a:srgbClr val="FFFF00"/>
              </a:highlight>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cxnSp>
        <p:nvCxnSpPr>
          <p:cNvPr id="170" name="Google Shape;170;g3b099c229a1_0_27"/>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171" name="Google Shape;171;g3b099c229a1_0_2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cxnSp>
        <p:nvCxnSpPr>
          <p:cNvPr id="172" name="Google Shape;172;g3b099c229a1_0_27"/>
          <p:cNvCxnSpPr/>
          <p:nvPr/>
        </p:nvCxnSpPr>
        <p:spPr>
          <a:xfrm>
            <a:off x="5672328" y="6267923"/>
            <a:ext cx="6519600" cy="0"/>
          </a:xfrm>
          <a:prstGeom prst="straightConnector1">
            <a:avLst/>
          </a:prstGeom>
          <a:noFill/>
          <a:ln cap="flat" cmpd="sng" w="76200">
            <a:solidFill>
              <a:schemeClr val="accent1"/>
            </a:solidFill>
            <a:prstDash val="solid"/>
            <a:miter lim="800000"/>
            <a:headEnd len="sm" w="sm" type="none"/>
            <a:tailEnd len="sm" w="sm" type="none"/>
          </a:ln>
        </p:spPr>
      </p:cxnSp>
      <p:sp>
        <p:nvSpPr>
          <p:cNvPr id="173" name="Google Shape;173;g3b099c229a1_0_27"/>
          <p:cNvSpPr txBox="1"/>
          <p:nvPr/>
        </p:nvSpPr>
        <p:spPr>
          <a:xfrm>
            <a:off x="52130" y="63125"/>
            <a:ext cx="3300000" cy="461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u="sng">
                <a:solidFill>
                  <a:srgbClr val="E69138"/>
                </a:solidFill>
                <a:latin typeface="Play"/>
                <a:ea typeface="Play"/>
                <a:cs typeface="Play"/>
                <a:sym typeface="Play"/>
              </a:rPr>
              <a:t>Exploratory Data Analysis </a:t>
            </a:r>
            <a:endParaRPr sz="1600" u="sng">
              <a:solidFill>
                <a:srgbClr val="E69138"/>
              </a:solidFill>
            </a:endParaRPr>
          </a:p>
        </p:txBody>
      </p:sp>
      <p:pic>
        <p:nvPicPr>
          <p:cNvPr id="174" name="Google Shape;174;g3b099c229a1_0_27"/>
          <p:cNvPicPr preferRelativeResize="0"/>
          <p:nvPr/>
        </p:nvPicPr>
        <p:blipFill>
          <a:blip r:embed="rId3">
            <a:alphaModFix/>
          </a:blip>
          <a:stretch>
            <a:fillRect/>
          </a:stretch>
        </p:blipFill>
        <p:spPr>
          <a:xfrm>
            <a:off x="10573975" y="17599"/>
            <a:ext cx="1604750" cy="1504450"/>
          </a:xfrm>
          <a:prstGeom prst="rect">
            <a:avLst/>
          </a:prstGeom>
          <a:solidFill>
            <a:schemeClr val="lt1"/>
          </a:solidFill>
          <a:ln>
            <a:noFill/>
          </a:ln>
        </p:spPr>
      </p:pic>
      <p:pic>
        <p:nvPicPr>
          <p:cNvPr id="175" name="Google Shape;175;g3b099c229a1_0_27"/>
          <p:cNvPicPr preferRelativeResize="0"/>
          <p:nvPr/>
        </p:nvPicPr>
        <p:blipFill>
          <a:blip r:embed="rId4">
            <a:alphaModFix/>
          </a:blip>
          <a:stretch>
            <a:fillRect/>
          </a:stretch>
        </p:blipFill>
        <p:spPr>
          <a:xfrm>
            <a:off x="149550" y="1133100"/>
            <a:ext cx="10179224" cy="5689699"/>
          </a:xfrm>
          <a:prstGeom prst="rect">
            <a:avLst/>
          </a:prstGeom>
          <a:noFill/>
          <a:ln>
            <a:noFill/>
          </a:ln>
        </p:spPr>
      </p:pic>
      <p:sp>
        <p:nvSpPr>
          <p:cNvPr id="176" name="Google Shape;176;g3b099c229a1_0_27"/>
          <p:cNvSpPr txBox="1"/>
          <p:nvPr/>
        </p:nvSpPr>
        <p:spPr>
          <a:xfrm>
            <a:off x="3553700" y="551200"/>
            <a:ext cx="2851200" cy="461700"/>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5400"/>
              <a:buFont typeface="Arial"/>
              <a:buNone/>
            </a:pPr>
            <a:r>
              <a:rPr b="1" i="0" lang="en-US" sz="2000" u="sng" cap="none" strike="noStrike">
                <a:solidFill>
                  <a:srgbClr val="0000FF"/>
                </a:solidFill>
                <a:latin typeface="Play"/>
                <a:ea typeface="Play"/>
                <a:cs typeface="Play"/>
                <a:sym typeface="Play"/>
                <a:hlinkClick r:id="rId5">
                  <a:extLst>
                    <a:ext uri="{A12FA001-AC4F-418D-AE19-62706E023703}">
                      <ahyp:hlinkClr val="tx"/>
                    </a:ext>
                  </a:extLst>
                </a:hlinkClick>
              </a:rPr>
              <a:t>Interactive Dashboard</a:t>
            </a:r>
            <a:endParaRPr b="1" i="0" sz="2000" u="sng" cap="none" strike="noStrike">
              <a:solidFill>
                <a:srgbClr val="0000FF"/>
              </a:solidFill>
              <a:latin typeface="Play"/>
              <a:ea typeface="Play"/>
              <a:cs typeface="Play"/>
              <a:sym typeface="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cxnSp>
        <p:nvCxnSpPr>
          <p:cNvPr id="181" name="Google Shape;181;g3b099c229a1_0_36"/>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182" name="Google Shape;182;g3b099c229a1_0_36"/>
          <p:cNvSpPr/>
          <p:nvPr/>
        </p:nvSpPr>
        <p:spPr>
          <a:xfrm>
            <a:off x="0" y="0"/>
            <a:ext cx="5586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183" name="Google Shape;183;g3b099c229a1_0_36"/>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184" name="Google Shape;184;g3b099c229a1_0_36"/>
          <p:cNvSpPr txBox="1"/>
          <p:nvPr/>
        </p:nvSpPr>
        <p:spPr>
          <a:xfrm>
            <a:off x="162650" y="765288"/>
            <a:ext cx="4446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US" sz="1600" u="sng">
                <a:solidFill>
                  <a:schemeClr val="dk1"/>
                </a:solidFill>
              </a:rPr>
              <a:t>1.1 Closure Rate by Business Age Group</a:t>
            </a:r>
            <a:endParaRPr sz="1600"/>
          </a:p>
        </p:txBody>
      </p:sp>
      <p:sp>
        <p:nvSpPr>
          <p:cNvPr id="185" name="Google Shape;185;g3b099c229a1_0_36"/>
          <p:cNvSpPr txBox="1"/>
          <p:nvPr/>
        </p:nvSpPr>
        <p:spPr>
          <a:xfrm>
            <a:off x="162650" y="5573882"/>
            <a:ext cx="57618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highlight>
                  <a:srgbClr val="FFFFFF"/>
                </a:highlight>
              </a:rPr>
              <a:t>Output observed:</a:t>
            </a:r>
            <a:endParaRPr b="1" sz="1600">
              <a:solidFill>
                <a:schemeClr val="dk1"/>
              </a:solidFill>
              <a:highlight>
                <a:srgbClr val="FFFFFF"/>
              </a:highlight>
            </a:endParaRPr>
          </a:p>
          <a:p>
            <a:pPr indent="-330200" lvl="0" marL="457200" rtl="0" algn="l">
              <a:lnSpc>
                <a:spcPct val="115000"/>
              </a:lnSpc>
              <a:spcBef>
                <a:spcPts val="1200"/>
              </a:spcBef>
              <a:spcAft>
                <a:spcPts val="1200"/>
              </a:spcAft>
              <a:buClr>
                <a:schemeClr val="dk1"/>
              </a:buClr>
              <a:buSzPts val="1600"/>
              <a:buChar char="●"/>
            </a:pPr>
            <a:r>
              <a:rPr b="1" lang="en-US" sz="1600">
                <a:solidFill>
                  <a:schemeClr val="dk1"/>
                </a:solidFill>
                <a:highlight>
                  <a:srgbClr val="FFFFFF"/>
                </a:highlight>
              </a:rPr>
              <a:t>p &lt; 0.05 → Reject H₀</a:t>
            </a:r>
            <a:br>
              <a:rPr b="1" lang="en-US" sz="1600">
                <a:solidFill>
                  <a:schemeClr val="dk1"/>
                </a:solidFill>
                <a:highlight>
                  <a:srgbClr val="FFFFFF"/>
                </a:highlight>
              </a:rPr>
            </a:br>
            <a:r>
              <a:rPr b="1" lang="en-US" sz="1600">
                <a:solidFill>
                  <a:schemeClr val="dk1"/>
                </a:solidFill>
                <a:highlight>
                  <a:srgbClr val="FFFFFF"/>
                </a:highlight>
              </a:rPr>
              <a:t> ⇒ Closure rate </a:t>
            </a:r>
            <a:r>
              <a:rPr b="1" i="1" lang="en-US" sz="1600">
                <a:solidFill>
                  <a:schemeClr val="dk1"/>
                </a:solidFill>
                <a:highlight>
                  <a:srgbClr val="FFFFFF"/>
                </a:highlight>
              </a:rPr>
              <a:t>depends</a:t>
            </a:r>
            <a:r>
              <a:rPr b="1" lang="en-US" sz="1600">
                <a:solidFill>
                  <a:schemeClr val="dk1"/>
                </a:solidFill>
                <a:highlight>
                  <a:srgbClr val="FFFFFF"/>
                </a:highlight>
              </a:rPr>
              <a:t> on the business age group.</a:t>
            </a:r>
            <a:endParaRPr sz="1600"/>
          </a:p>
        </p:txBody>
      </p:sp>
      <p:sp>
        <p:nvSpPr>
          <p:cNvPr id="186" name="Google Shape;186;g3b099c229a1_0_36"/>
          <p:cNvSpPr txBox="1"/>
          <p:nvPr/>
        </p:nvSpPr>
        <p:spPr>
          <a:xfrm>
            <a:off x="6514250" y="854000"/>
            <a:ext cx="4279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highlight>
                  <a:srgbClr val="FFFFFF"/>
                </a:highlight>
              </a:rPr>
              <a:t>1.2 Closure Rate by NAICS Sector </a:t>
            </a:r>
            <a:endParaRPr sz="1600"/>
          </a:p>
        </p:txBody>
      </p:sp>
      <p:sp>
        <p:nvSpPr>
          <p:cNvPr id="187" name="Google Shape;187;g3b099c229a1_0_36"/>
          <p:cNvSpPr txBox="1"/>
          <p:nvPr/>
        </p:nvSpPr>
        <p:spPr>
          <a:xfrm>
            <a:off x="6514250" y="5672275"/>
            <a:ext cx="55863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highlight>
                  <a:srgbClr val="FFFFFF"/>
                </a:highlight>
              </a:rPr>
              <a:t>Output observed:</a:t>
            </a:r>
            <a:endParaRPr b="1" sz="1600">
              <a:solidFill>
                <a:schemeClr val="dk1"/>
              </a:solidFill>
              <a:highlight>
                <a:srgbClr val="FFFFFF"/>
              </a:highlight>
            </a:endParaRPr>
          </a:p>
          <a:p>
            <a:pPr indent="-330200" lvl="0" marL="457200" rtl="0" algn="l">
              <a:lnSpc>
                <a:spcPct val="115000"/>
              </a:lnSpc>
              <a:spcBef>
                <a:spcPts val="1200"/>
              </a:spcBef>
              <a:spcAft>
                <a:spcPts val="1200"/>
              </a:spcAft>
              <a:buClr>
                <a:schemeClr val="dk1"/>
              </a:buClr>
              <a:buSzPts val="1600"/>
              <a:buChar char="●"/>
            </a:pPr>
            <a:r>
              <a:rPr b="1" lang="en-US" sz="1600">
                <a:solidFill>
                  <a:schemeClr val="dk1"/>
                </a:solidFill>
                <a:highlight>
                  <a:srgbClr val="FFFFFF"/>
                </a:highlight>
              </a:rPr>
              <a:t>p &lt; 0.05 → Reject H₀</a:t>
            </a:r>
            <a:br>
              <a:rPr b="1" lang="en-US" sz="1600">
                <a:solidFill>
                  <a:schemeClr val="dk1"/>
                </a:solidFill>
                <a:highlight>
                  <a:srgbClr val="FFFFFF"/>
                </a:highlight>
              </a:rPr>
            </a:br>
            <a:r>
              <a:rPr b="1" lang="en-US" sz="1600">
                <a:solidFill>
                  <a:schemeClr val="dk1"/>
                </a:solidFill>
                <a:highlight>
                  <a:srgbClr val="FFFFFF"/>
                </a:highlight>
              </a:rPr>
              <a:t> ⇒ Closure rate </a:t>
            </a:r>
            <a:r>
              <a:rPr b="1" i="1" lang="en-US" sz="1600">
                <a:solidFill>
                  <a:schemeClr val="dk1"/>
                </a:solidFill>
                <a:highlight>
                  <a:srgbClr val="FFFFFF"/>
                </a:highlight>
              </a:rPr>
              <a:t>depends</a:t>
            </a:r>
            <a:r>
              <a:rPr b="1" lang="en-US" sz="1600">
                <a:solidFill>
                  <a:schemeClr val="dk1"/>
                </a:solidFill>
                <a:highlight>
                  <a:srgbClr val="FFFFFF"/>
                </a:highlight>
              </a:rPr>
              <a:t> on NAICS Sector.</a:t>
            </a:r>
            <a:endParaRPr sz="1600"/>
          </a:p>
        </p:txBody>
      </p:sp>
      <p:pic>
        <p:nvPicPr>
          <p:cNvPr id="188" name="Google Shape;188;g3b099c229a1_0_36"/>
          <p:cNvPicPr preferRelativeResize="0"/>
          <p:nvPr/>
        </p:nvPicPr>
        <p:blipFill>
          <a:blip r:embed="rId3">
            <a:alphaModFix/>
          </a:blip>
          <a:stretch>
            <a:fillRect/>
          </a:stretch>
        </p:blipFill>
        <p:spPr>
          <a:xfrm>
            <a:off x="162650" y="2312504"/>
            <a:ext cx="5458649" cy="3230630"/>
          </a:xfrm>
          <a:prstGeom prst="rect">
            <a:avLst/>
          </a:prstGeom>
          <a:noFill/>
          <a:ln>
            <a:noFill/>
          </a:ln>
        </p:spPr>
      </p:pic>
      <p:pic>
        <p:nvPicPr>
          <p:cNvPr id="189" name="Google Shape;189;g3b099c229a1_0_36"/>
          <p:cNvPicPr preferRelativeResize="0"/>
          <p:nvPr/>
        </p:nvPicPr>
        <p:blipFill>
          <a:blip r:embed="rId4">
            <a:alphaModFix/>
          </a:blip>
          <a:stretch>
            <a:fillRect/>
          </a:stretch>
        </p:blipFill>
        <p:spPr>
          <a:xfrm>
            <a:off x="311850" y="1351367"/>
            <a:ext cx="3592377" cy="889375"/>
          </a:xfrm>
          <a:prstGeom prst="rect">
            <a:avLst/>
          </a:prstGeom>
          <a:noFill/>
          <a:ln>
            <a:noFill/>
          </a:ln>
        </p:spPr>
      </p:pic>
      <p:pic>
        <p:nvPicPr>
          <p:cNvPr id="190" name="Google Shape;190;g3b099c229a1_0_36"/>
          <p:cNvPicPr preferRelativeResize="0"/>
          <p:nvPr/>
        </p:nvPicPr>
        <p:blipFill>
          <a:blip r:embed="rId5">
            <a:alphaModFix/>
          </a:blip>
          <a:stretch>
            <a:fillRect/>
          </a:stretch>
        </p:blipFill>
        <p:spPr>
          <a:xfrm>
            <a:off x="6614290" y="2339594"/>
            <a:ext cx="5156526" cy="3408549"/>
          </a:xfrm>
          <a:prstGeom prst="rect">
            <a:avLst/>
          </a:prstGeom>
          <a:noFill/>
          <a:ln>
            <a:noFill/>
          </a:ln>
        </p:spPr>
      </p:pic>
      <p:pic>
        <p:nvPicPr>
          <p:cNvPr id="191" name="Google Shape;191;g3b099c229a1_0_36"/>
          <p:cNvPicPr preferRelativeResize="0"/>
          <p:nvPr/>
        </p:nvPicPr>
        <p:blipFill>
          <a:blip r:embed="rId6">
            <a:alphaModFix/>
          </a:blip>
          <a:stretch>
            <a:fillRect/>
          </a:stretch>
        </p:blipFill>
        <p:spPr>
          <a:xfrm>
            <a:off x="6614925" y="1379368"/>
            <a:ext cx="3592375" cy="9426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cxnSp>
        <p:nvCxnSpPr>
          <p:cNvPr id="196" name="Google Shape;196;g3b148cf25cd_0_52"/>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197" name="Google Shape;197;g3b148cf25cd_0_52"/>
          <p:cNvSpPr/>
          <p:nvPr/>
        </p:nvSpPr>
        <p:spPr>
          <a:xfrm>
            <a:off x="0" y="0"/>
            <a:ext cx="5729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198" name="Google Shape;198;g3b148cf25cd_0_52"/>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199" name="Google Shape;199;g3b148cf25cd_0_52"/>
          <p:cNvSpPr txBox="1"/>
          <p:nvPr/>
        </p:nvSpPr>
        <p:spPr>
          <a:xfrm>
            <a:off x="245400" y="5748150"/>
            <a:ext cx="5238900" cy="76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US" sz="1600">
                <a:highlight>
                  <a:srgbClr val="FFFFFF"/>
                </a:highlight>
              </a:rPr>
              <a:t>Output observed:</a:t>
            </a:r>
            <a:endParaRPr b="1" sz="1600">
              <a:highlight>
                <a:srgbClr val="FFFFFF"/>
              </a:highlight>
            </a:endParaRPr>
          </a:p>
          <a:p>
            <a:pPr indent="-330200" lvl="0" marL="457200" rtl="0" algn="l">
              <a:lnSpc>
                <a:spcPct val="115000"/>
              </a:lnSpc>
              <a:spcBef>
                <a:spcPts val="1200"/>
              </a:spcBef>
              <a:spcAft>
                <a:spcPts val="1200"/>
              </a:spcAft>
              <a:buSzPts val="1600"/>
              <a:buChar char="●"/>
            </a:pPr>
            <a:r>
              <a:rPr b="1" lang="en-US" sz="1600">
                <a:highlight>
                  <a:srgbClr val="FFFFFF"/>
                </a:highlight>
              </a:rPr>
              <a:t>p &lt; 0.05 → Reject H₀</a:t>
            </a:r>
            <a:br>
              <a:rPr b="1" lang="en-US" sz="1600">
                <a:highlight>
                  <a:srgbClr val="FFFFFF"/>
                </a:highlight>
              </a:rPr>
            </a:br>
            <a:r>
              <a:rPr b="1" lang="en-US" sz="1600">
                <a:highlight>
                  <a:srgbClr val="FFFFFF"/>
                </a:highlight>
              </a:rPr>
              <a:t> ⇒ Closure rate </a:t>
            </a:r>
            <a:r>
              <a:rPr b="1" i="1" lang="en-US" sz="1600">
                <a:highlight>
                  <a:srgbClr val="FFFFFF"/>
                </a:highlight>
              </a:rPr>
              <a:t>depends</a:t>
            </a:r>
            <a:r>
              <a:rPr b="1" lang="en-US" sz="1600">
                <a:highlight>
                  <a:srgbClr val="FFFFFF"/>
                </a:highlight>
              </a:rPr>
              <a:t> on Ownership Type.</a:t>
            </a:r>
            <a:endParaRPr b="1" sz="1600">
              <a:highlight>
                <a:srgbClr val="FFFFFF"/>
              </a:highlight>
            </a:endParaRPr>
          </a:p>
        </p:txBody>
      </p:sp>
      <p:sp>
        <p:nvSpPr>
          <p:cNvPr id="200" name="Google Shape;200;g3b148cf25cd_0_52"/>
          <p:cNvSpPr txBox="1"/>
          <p:nvPr/>
        </p:nvSpPr>
        <p:spPr>
          <a:xfrm>
            <a:off x="111400" y="752593"/>
            <a:ext cx="45318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rPr>
              <a:t>1.3 </a:t>
            </a:r>
            <a:r>
              <a:rPr b="1" lang="en-US" sz="1600" u="sng">
                <a:solidFill>
                  <a:schemeClr val="dk1"/>
                </a:solidFill>
                <a:highlight>
                  <a:schemeClr val="lt1"/>
                </a:highlight>
              </a:rPr>
              <a:t> Closure Rate by Ownership Type </a:t>
            </a:r>
            <a:endParaRPr sz="1600"/>
          </a:p>
        </p:txBody>
      </p:sp>
      <p:sp>
        <p:nvSpPr>
          <p:cNvPr id="201" name="Google Shape;201;g3b148cf25cd_0_52"/>
          <p:cNvSpPr txBox="1"/>
          <p:nvPr/>
        </p:nvSpPr>
        <p:spPr>
          <a:xfrm>
            <a:off x="6970076" y="5683931"/>
            <a:ext cx="42543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highlight>
                  <a:srgbClr val="FFFFFF"/>
                </a:highlight>
              </a:rPr>
              <a:t>Output observed:</a:t>
            </a:r>
            <a:endParaRPr b="1" sz="1600">
              <a:solidFill>
                <a:schemeClr val="dk1"/>
              </a:solidFill>
              <a:highlight>
                <a:srgbClr val="FFFFFF"/>
              </a:highlight>
            </a:endParaRPr>
          </a:p>
          <a:p>
            <a:pPr indent="-330200" lvl="0" marL="457200" rtl="0" algn="l">
              <a:lnSpc>
                <a:spcPct val="115000"/>
              </a:lnSpc>
              <a:spcBef>
                <a:spcPts val="1200"/>
              </a:spcBef>
              <a:spcAft>
                <a:spcPts val="1200"/>
              </a:spcAft>
              <a:buClr>
                <a:schemeClr val="dk1"/>
              </a:buClr>
              <a:buSzPts val="1600"/>
              <a:buChar char="●"/>
            </a:pPr>
            <a:r>
              <a:rPr b="1" lang="en-US" sz="1600">
                <a:solidFill>
                  <a:schemeClr val="dk1"/>
                </a:solidFill>
                <a:highlight>
                  <a:srgbClr val="FFFFFF"/>
                </a:highlight>
              </a:rPr>
              <a:t>p &lt; 0.05 → Reject H₀</a:t>
            </a:r>
            <a:br>
              <a:rPr b="1" lang="en-US" sz="1600">
                <a:solidFill>
                  <a:schemeClr val="dk1"/>
                </a:solidFill>
                <a:highlight>
                  <a:srgbClr val="FFFFFF"/>
                </a:highlight>
              </a:rPr>
            </a:br>
            <a:r>
              <a:rPr b="1" lang="en-US" sz="1600">
                <a:solidFill>
                  <a:schemeClr val="dk1"/>
                </a:solidFill>
                <a:highlight>
                  <a:srgbClr val="FFFFFF"/>
                </a:highlight>
              </a:rPr>
              <a:t> ⇒ Closure rate </a:t>
            </a:r>
            <a:r>
              <a:rPr b="1" i="1" lang="en-US" sz="1600">
                <a:solidFill>
                  <a:schemeClr val="dk1"/>
                </a:solidFill>
                <a:highlight>
                  <a:srgbClr val="FFFFFF"/>
                </a:highlight>
              </a:rPr>
              <a:t>depends</a:t>
            </a:r>
            <a:r>
              <a:rPr b="1" lang="en-US" sz="1600">
                <a:solidFill>
                  <a:schemeClr val="dk1"/>
                </a:solidFill>
                <a:highlight>
                  <a:srgbClr val="FFFFFF"/>
                </a:highlight>
              </a:rPr>
              <a:t> on City.</a:t>
            </a:r>
            <a:endParaRPr b="1" sz="1600">
              <a:solidFill>
                <a:schemeClr val="dk1"/>
              </a:solidFill>
              <a:highlight>
                <a:srgbClr val="FFFFFF"/>
              </a:highlight>
            </a:endParaRPr>
          </a:p>
        </p:txBody>
      </p:sp>
      <p:sp>
        <p:nvSpPr>
          <p:cNvPr id="202" name="Google Shape;202;g3b148cf25cd_0_52"/>
          <p:cNvSpPr txBox="1"/>
          <p:nvPr/>
        </p:nvSpPr>
        <p:spPr>
          <a:xfrm>
            <a:off x="7354850" y="6902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rPr>
              <a:t>1.4 </a:t>
            </a:r>
            <a:r>
              <a:rPr b="1" lang="en-US" sz="1600" u="sng">
                <a:solidFill>
                  <a:schemeClr val="dk1"/>
                </a:solidFill>
                <a:highlight>
                  <a:srgbClr val="FFFFFF"/>
                </a:highlight>
              </a:rPr>
              <a:t>Closure Rate by City</a:t>
            </a:r>
            <a:endParaRPr sz="1600"/>
          </a:p>
        </p:txBody>
      </p:sp>
      <p:pic>
        <p:nvPicPr>
          <p:cNvPr id="203" name="Google Shape;203;g3b148cf25cd_0_52"/>
          <p:cNvPicPr preferRelativeResize="0"/>
          <p:nvPr/>
        </p:nvPicPr>
        <p:blipFill>
          <a:blip r:embed="rId3">
            <a:alphaModFix/>
          </a:blip>
          <a:stretch>
            <a:fillRect/>
          </a:stretch>
        </p:blipFill>
        <p:spPr>
          <a:xfrm>
            <a:off x="0" y="2166850"/>
            <a:ext cx="5480412" cy="3243512"/>
          </a:xfrm>
          <a:prstGeom prst="rect">
            <a:avLst/>
          </a:prstGeom>
          <a:noFill/>
          <a:ln>
            <a:noFill/>
          </a:ln>
        </p:spPr>
      </p:pic>
      <p:pic>
        <p:nvPicPr>
          <p:cNvPr id="204" name="Google Shape;204;g3b148cf25cd_0_52"/>
          <p:cNvPicPr preferRelativeResize="0"/>
          <p:nvPr/>
        </p:nvPicPr>
        <p:blipFill>
          <a:blip r:embed="rId4">
            <a:alphaModFix/>
          </a:blip>
          <a:stretch>
            <a:fillRect/>
          </a:stretch>
        </p:blipFill>
        <p:spPr>
          <a:xfrm>
            <a:off x="191600" y="1240904"/>
            <a:ext cx="3621216" cy="929925"/>
          </a:xfrm>
          <a:prstGeom prst="rect">
            <a:avLst/>
          </a:prstGeom>
          <a:noFill/>
          <a:ln>
            <a:noFill/>
          </a:ln>
        </p:spPr>
      </p:pic>
      <p:pic>
        <p:nvPicPr>
          <p:cNvPr id="205" name="Google Shape;205;g3b148cf25cd_0_52"/>
          <p:cNvPicPr preferRelativeResize="0"/>
          <p:nvPr/>
        </p:nvPicPr>
        <p:blipFill>
          <a:blip r:embed="rId5">
            <a:alphaModFix/>
          </a:blip>
          <a:stretch>
            <a:fillRect/>
          </a:stretch>
        </p:blipFill>
        <p:spPr>
          <a:xfrm>
            <a:off x="6978150" y="1472264"/>
            <a:ext cx="4994476" cy="4337399"/>
          </a:xfrm>
          <a:prstGeom prst="rect">
            <a:avLst/>
          </a:prstGeom>
          <a:noFill/>
          <a:ln>
            <a:noFill/>
          </a:ln>
        </p:spPr>
      </p:pic>
      <p:pic>
        <p:nvPicPr>
          <p:cNvPr id="206" name="Google Shape;206;g3b148cf25cd_0_52"/>
          <p:cNvPicPr preferRelativeResize="0"/>
          <p:nvPr/>
        </p:nvPicPr>
        <p:blipFill>
          <a:blip r:embed="rId6">
            <a:alphaModFix/>
          </a:blip>
          <a:stretch>
            <a:fillRect/>
          </a:stretch>
        </p:blipFill>
        <p:spPr>
          <a:xfrm>
            <a:off x="7332507" y="601916"/>
            <a:ext cx="2479861" cy="768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cxnSp>
        <p:nvCxnSpPr>
          <p:cNvPr id="211" name="Google Shape;211;g3b148cf25cd_0_59"/>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212" name="Google Shape;212;g3b148cf25cd_0_59"/>
          <p:cNvSpPr/>
          <p:nvPr/>
        </p:nvSpPr>
        <p:spPr>
          <a:xfrm>
            <a:off x="0" y="0"/>
            <a:ext cx="45816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13" name="Google Shape;213;g3b148cf25cd_0_59"/>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214" name="Google Shape;214;g3b148cf25cd_0_59"/>
          <p:cNvSpPr txBox="1"/>
          <p:nvPr/>
        </p:nvSpPr>
        <p:spPr>
          <a:xfrm>
            <a:off x="6456175" y="51138"/>
            <a:ext cx="42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rPr>
              <a:t>1.6 </a:t>
            </a:r>
            <a:r>
              <a:rPr b="1" lang="en-US" sz="1600" u="sng">
                <a:solidFill>
                  <a:schemeClr val="dk1"/>
                </a:solidFill>
                <a:highlight>
                  <a:srgbClr val="FFFFFF"/>
                </a:highlight>
              </a:rPr>
              <a:t>Closure Rate by ZIP Code</a:t>
            </a:r>
            <a:endParaRPr sz="1600"/>
          </a:p>
        </p:txBody>
      </p:sp>
      <p:sp>
        <p:nvSpPr>
          <p:cNvPr id="215" name="Google Shape;215;g3b148cf25cd_0_59"/>
          <p:cNvSpPr txBox="1"/>
          <p:nvPr/>
        </p:nvSpPr>
        <p:spPr>
          <a:xfrm>
            <a:off x="8725150" y="1440550"/>
            <a:ext cx="3188100" cy="143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highlight>
                  <a:srgbClr val="FFFFFF"/>
                </a:highlight>
              </a:rPr>
              <a:t>Output observed:</a:t>
            </a:r>
            <a:endParaRPr b="1" sz="1600">
              <a:solidFill>
                <a:schemeClr val="dk1"/>
              </a:solidFill>
              <a:highlight>
                <a:srgbClr val="FFFFFF"/>
              </a:highlight>
            </a:endParaRPr>
          </a:p>
          <a:p>
            <a:pPr indent="-330200" lvl="0" marL="457200" rtl="0" algn="l">
              <a:lnSpc>
                <a:spcPct val="115000"/>
              </a:lnSpc>
              <a:spcBef>
                <a:spcPts val="1200"/>
              </a:spcBef>
              <a:spcAft>
                <a:spcPts val="1200"/>
              </a:spcAft>
              <a:buClr>
                <a:schemeClr val="dk1"/>
              </a:buClr>
              <a:buSzPts val="1600"/>
              <a:buChar char="●"/>
            </a:pPr>
            <a:r>
              <a:rPr b="1" lang="en-US" sz="1600">
                <a:solidFill>
                  <a:schemeClr val="dk1"/>
                </a:solidFill>
                <a:highlight>
                  <a:srgbClr val="FFFFFF"/>
                </a:highlight>
              </a:rPr>
              <a:t>p &lt; 0.05 → Reject H₀</a:t>
            </a:r>
            <a:br>
              <a:rPr b="1" lang="en-US" sz="1600">
                <a:solidFill>
                  <a:schemeClr val="dk1"/>
                </a:solidFill>
                <a:highlight>
                  <a:srgbClr val="FFFFFF"/>
                </a:highlight>
              </a:rPr>
            </a:br>
            <a:r>
              <a:rPr b="1" lang="en-US" sz="1600">
                <a:solidFill>
                  <a:schemeClr val="dk1"/>
                </a:solidFill>
                <a:highlight>
                  <a:srgbClr val="FFFFFF"/>
                </a:highlight>
              </a:rPr>
              <a:t> ⇒ Closure rate </a:t>
            </a:r>
            <a:r>
              <a:rPr b="1" i="1" lang="en-US" sz="1600">
                <a:solidFill>
                  <a:schemeClr val="dk1"/>
                </a:solidFill>
                <a:highlight>
                  <a:srgbClr val="FFFFFF"/>
                </a:highlight>
              </a:rPr>
              <a:t>depends</a:t>
            </a:r>
            <a:r>
              <a:rPr b="1" lang="en-US" sz="1600">
                <a:solidFill>
                  <a:schemeClr val="dk1"/>
                </a:solidFill>
                <a:highlight>
                  <a:srgbClr val="FFFFFF"/>
                </a:highlight>
              </a:rPr>
              <a:t> on ZIP Code.</a:t>
            </a:r>
            <a:endParaRPr sz="1600"/>
          </a:p>
        </p:txBody>
      </p:sp>
      <p:pic>
        <p:nvPicPr>
          <p:cNvPr id="216" name="Google Shape;216;g3b148cf25cd_0_59"/>
          <p:cNvPicPr preferRelativeResize="0"/>
          <p:nvPr/>
        </p:nvPicPr>
        <p:blipFill>
          <a:blip r:embed="rId3">
            <a:alphaModFix/>
          </a:blip>
          <a:stretch>
            <a:fillRect/>
          </a:stretch>
        </p:blipFill>
        <p:spPr>
          <a:xfrm>
            <a:off x="6456175" y="561075"/>
            <a:ext cx="2198199" cy="6191677"/>
          </a:xfrm>
          <a:prstGeom prst="rect">
            <a:avLst/>
          </a:prstGeom>
          <a:noFill/>
          <a:ln>
            <a:noFill/>
          </a:ln>
        </p:spPr>
      </p:pic>
      <p:pic>
        <p:nvPicPr>
          <p:cNvPr id="217" name="Google Shape;217;g3b148cf25cd_0_59"/>
          <p:cNvPicPr preferRelativeResize="0"/>
          <p:nvPr/>
        </p:nvPicPr>
        <p:blipFill>
          <a:blip r:embed="rId4">
            <a:alphaModFix/>
          </a:blip>
          <a:stretch>
            <a:fillRect/>
          </a:stretch>
        </p:blipFill>
        <p:spPr>
          <a:xfrm>
            <a:off x="8805774" y="482250"/>
            <a:ext cx="3271500" cy="901835"/>
          </a:xfrm>
          <a:prstGeom prst="rect">
            <a:avLst/>
          </a:prstGeom>
          <a:noFill/>
          <a:ln>
            <a:noFill/>
          </a:ln>
        </p:spPr>
      </p:pic>
      <p:pic>
        <p:nvPicPr>
          <p:cNvPr id="218" name="Google Shape;218;g3b148cf25cd_0_59"/>
          <p:cNvPicPr preferRelativeResize="0"/>
          <p:nvPr/>
        </p:nvPicPr>
        <p:blipFill>
          <a:blip r:embed="rId5">
            <a:alphaModFix/>
          </a:blip>
          <a:stretch>
            <a:fillRect/>
          </a:stretch>
        </p:blipFill>
        <p:spPr>
          <a:xfrm>
            <a:off x="185575" y="1994125"/>
            <a:ext cx="4293526" cy="3687679"/>
          </a:xfrm>
          <a:prstGeom prst="rect">
            <a:avLst/>
          </a:prstGeom>
          <a:noFill/>
          <a:ln>
            <a:noFill/>
          </a:ln>
        </p:spPr>
      </p:pic>
      <p:sp>
        <p:nvSpPr>
          <p:cNvPr id="219" name="Google Shape;219;g3b148cf25cd_0_59"/>
          <p:cNvSpPr txBox="1"/>
          <p:nvPr/>
        </p:nvSpPr>
        <p:spPr>
          <a:xfrm>
            <a:off x="135750" y="615493"/>
            <a:ext cx="3923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rPr>
              <a:t>1.5 </a:t>
            </a:r>
            <a:r>
              <a:rPr b="1" lang="en-US" sz="1600" u="sng">
                <a:solidFill>
                  <a:schemeClr val="dk1"/>
                </a:solidFill>
                <a:highlight>
                  <a:srgbClr val="FFFFFF"/>
                </a:highlight>
              </a:rPr>
              <a:t>Ownership Type by NAICS Sector</a:t>
            </a:r>
            <a:endParaRPr sz="1600"/>
          </a:p>
        </p:txBody>
      </p:sp>
      <p:pic>
        <p:nvPicPr>
          <p:cNvPr id="220" name="Google Shape;220;g3b148cf25cd_0_59"/>
          <p:cNvPicPr preferRelativeResize="0"/>
          <p:nvPr/>
        </p:nvPicPr>
        <p:blipFill>
          <a:blip r:embed="rId6">
            <a:alphaModFix/>
          </a:blip>
          <a:stretch>
            <a:fillRect/>
          </a:stretch>
        </p:blipFill>
        <p:spPr>
          <a:xfrm>
            <a:off x="231824" y="1030999"/>
            <a:ext cx="3188101" cy="836672"/>
          </a:xfrm>
          <a:prstGeom prst="rect">
            <a:avLst/>
          </a:prstGeom>
          <a:noFill/>
          <a:ln>
            <a:noFill/>
          </a:ln>
        </p:spPr>
      </p:pic>
      <p:sp>
        <p:nvSpPr>
          <p:cNvPr id="221" name="Google Shape;221;g3b148cf25cd_0_59"/>
          <p:cNvSpPr txBox="1"/>
          <p:nvPr/>
        </p:nvSpPr>
        <p:spPr>
          <a:xfrm>
            <a:off x="135750" y="5808250"/>
            <a:ext cx="4117800" cy="8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highlight>
                  <a:srgbClr val="FFFFFF"/>
                </a:highlight>
              </a:rPr>
              <a:t>Output observed:</a:t>
            </a:r>
            <a:endParaRPr b="1" sz="1100">
              <a:solidFill>
                <a:schemeClr val="dk1"/>
              </a:solidFill>
              <a:highlight>
                <a:srgbClr val="FFFFFF"/>
              </a:highlight>
            </a:endParaRPr>
          </a:p>
          <a:p>
            <a:pPr indent="-298450" lvl="0" marL="457200" rtl="0" algn="l">
              <a:lnSpc>
                <a:spcPct val="115000"/>
              </a:lnSpc>
              <a:spcBef>
                <a:spcPts val="1200"/>
              </a:spcBef>
              <a:spcAft>
                <a:spcPts val="1200"/>
              </a:spcAft>
              <a:buClr>
                <a:schemeClr val="dk1"/>
              </a:buClr>
              <a:buSzPts val="1100"/>
              <a:buChar char="●"/>
            </a:pPr>
            <a:r>
              <a:rPr b="1" lang="en-US" sz="1100">
                <a:solidFill>
                  <a:schemeClr val="dk1"/>
                </a:solidFill>
                <a:highlight>
                  <a:srgbClr val="FFFFFF"/>
                </a:highlight>
              </a:rPr>
              <a:t>p &lt; 0.05 → Reject H₀</a:t>
            </a:r>
            <a:br>
              <a:rPr b="1" lang="en-US" sz="1100">
                <a:solidFill>
                  <a:schemeClr val="dk1"/>
                </a:solidFill>
                <a:highlight>
                  <a:srgbClr val="FFFFFF"/>
                </a:highlight>
              </a:rPr>
            </a:br>
            <a:r>
              <a:rPr b="1" lang="en-US" sz="1100">
                <a:solidFill>
                  <a:schemeClr val="dk1"/>
                </a:solidFill>
                <a:highlight>
                  <a:srgbClr val="FFFFFF"/>
                </a:highlight>
              </a:rPr>
              <a:t> ⇒ Ownership Type </a:t>
            </a:r>
            <a:r>
              <a:rPr b="1" i="1" lang="en-US" sz="1100">
                <a:solidFill>
                  <a:schemeClr val="dk1"/>
                </a:solidFill>
                <a:highlight>
                  <a:srgbClr val="FFFFFF"/>
                </a:highlight>
              </a:rPr>
              <a:t>depends</a:t>
            </a:r>
            <a:r>
              <a:rPr b="1" lang="en-US" sz="1100">
                <a:solidFill>
                  <a:schemeClr val="dk1"/>
                </a:solidFill>
                <a:highlight>
                  <a:srgbClr val="FFFFFF"/>
                </a:highlight>
              </a:rPr>
              <a:t> on NAICS Sector.</a:t>
            </a:r>
            <a:endParaRPr/>
          </a:p>
        </p:txBody>
      </p:sp>
      <p:sp>
        <p:nvSpPr>
          <p:cNvPr id="222" name="Google Shape;222;g3b148cf25cd_0_59"/>
          <p:cNvSpPr txBox="1"/>
          <p:nvPr/>
        </p:nvSpPr>
        <p:spPr>
          <a:xfrm>
            <a:off x="8538502" y="3557121"/>
            <a:ext cx="3523500" cy="3274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92134</a:t>
            </a:r>
            <a:r>
              <a:rPr lang="en-US" sz="1100">
                <a:solidFill>
                  <a:schemeClr val="dk1"/>
                </a:solidFill>
              </a:rPr>
              <a:t> — Naval Medical Center (federal/military installation). </a:t>
            </a:r>
            <a:r>
              <a:rPr lang="en-US" sz="1100" u="sng">
                <a:solidFill>
                  <a:schemeClr val="hlink"/>
                </a:solidFill>
                <a:hlinkClick r:id="rId7"/>
              </a:rPr>
              <a:t> TRICARE San Diego </a:t>
            </a:r>
            <a:endParaRPr sz="1100" u="sng">
              <a:solidFill>
                <a:srgbClr val="1155CC"/>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92155</a:t>
            </a:r>
            <a:r>
              <a:rPr lang="en-US" sz="1100">
                <a:solidFill>
                  <a:schemeClr val="dk1"/>
                </a:solidFill>
              </a:rPr>
              <a:t> — classified as a </a:t>
            </a:r>
            <a:r>
              <a:rPr b="1" lang="en-US" sz="1100">
                <a:solidFill>
                  <a:schemeClr val="dk1"/>
                </a:solidFill>
              </a:rPr>
              <a:t>Unique / government</a:t>
            </a:r>
            <a:r>
              <a:rPr lang="en-US" sz="1100">
                <a:solidFill>
                  <a:schemeClr val="dk1"/>
                </a:solidFill>
              </a:rPr>
              <a:t> ZIP (Naval Amphibious Base / related).</a:t>
            </a:r>
            <a:r>
              <a:rPr lang="en-US" sz="1100" u="sng">
                <a:solidFill>
                  <a:schemeClr val="hlink"/>
                </a:solidFill>
                <a:hlinkClick r:id="rId8"/>
              </a:rPr>
              <a:t> ZIP-Codes.com+1 </a:t>
            </a:r>
            <a:endParaRPr sz="1100" u="sng">
              <a:solidFill>
                <a:srgbClr val="1155CC"/>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92069</a:t>
            </a:r>
            <a:r>
              <a:rPr lang="en-US" sz="1100">
                <a:solidFill>
                  <a:schemeClr val="dk1"/>
                </a:solidFill>
              </a:rPr>
              <a:t> — appears to be a PO-box ZIP for San Marcos (many PO BOX ranges listed).</a:t>
            </a:r>
            <a:r>
              <a:rPr lang="en-US" sz="1100" u="sng">
                <a:solidFill>
                  <a:schemeClr val="hlink"/>
                </a:solidFill>
                <a:hlinkClick r:id="rId9"/>
              </a:rPr>
              <a:t> California U.S. ZIP Code 5 Plus 4 </a:t>
            </a:r>
            <a:endParaRPr sz="1100" u="sng">
              <a:solidFill>
                <a:srgbClr val="1155CC"/>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91948</a:t>
            </a:r>
            <a:r>
              <a:rPr lang="en-US" sz="1100">
                <a:solidFill>
                  <a:schemeClr val="dk1"/>
                </a:solidFill>
              </a:rPr>
              <a:t> — has PO-box / small-community usage (evidence in USPS location listings for nearby PO Box post offices like Mount Laguna). PO-box / small rural ZIPs. </a:t>
            </a:r>
            <a:r>
              <a:rPr lang="en-US" sz="1100" u="sng">
                <a:solidFill>
                  <a:schemeClr val="hlink"/>
                </a:solidFill>
                <a:hlinkClick r:id="rId10"/>
              </a:rPr>
              <a:t>USPS Tools </a:t>
            </a:r>
            <a:endParaRPr sz="1100" u="sng">
              <a:solidFill>
                <a:srgbClr val="1155CC"/>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92078</a:t>
            </a:r>
            <a:r>
              <a:rPr lang="en-US" sz="1100">
                <a:solidFill>
                  <a:schemeClr val="dk1"/>
                </a:solidFill>
              </a:rPr>
              <a:t> — geographic ZIP (San Marcos / Elfin Forest area). </a:t>
            </a:r>
            <a:r>
              <a:rPr lang="en-US" sz="1100" u="sng">
                <a:solidFill>
                  <a:schemeClr val="hlink"/>
                </a:solidFill>
                <a:hlinkClick r:id="rId11"/>
              </a:rPr>
              <a:t>ZIP-Codes.com+1</a:t>
            </a:r>
            <a:endParaRPr/>
          </a:p>
        </p:txBody>
      </p:sp>
      <p:sp>
        <p:nvSpPr>
          <p:cNvPr id="223" name="Google Shape;223;g3b148cf25cd_0_59"/>
          <p:cNvSpPr txBox="1"/>
          <p:nvPr/>
        </p:nvSpPr>
        <p:spPr>
          <a:xfrm>
            <a:off x="9002227" y="2982881"/>
            <a:ext cx="31260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300" u="sng">
                <a:solidFill>
                  <a:srgbClr val="0000FF"/>
                </a:solidFill>
              </a:rPr>
              <a:t>O</a:t>
            </a:r>
            <a:r>
              <a:rPr b="1" lang="en-US" sz="1300" u="sng">
                <a:solidFill>
                  <a:srgbClr val="0000FF"/>
                </a:solidFill>
              </a:rPr>
              <a:t>ften have few or no city business registrations: </a:t>
            </a:r>
            <a:endParaRPr b="1" sz="1600" u="sng">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cxnSp>
        <p:nvCxnSpPr>
          <p:cNvPr id="228" name="Google Shape;228;g3b148cf25cd_0_66"/>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229" name="Google Shape;229;g3b148cf25cd_0_66"/>
          <p:cNvSpPr/>
          <p:nvPr/>
        </p:nvSpPr>
        <p:spPr>
          <a:xfrm>
            <a:off x="0" y="0"/>
            <a:ext cx="52479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30" name="Google Shape;230;g3b148cf25cd_0_66"/>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231" name="Google Shape;231;g3b148cf25cd_0_66"/>
          <p:cNvSpPr txBox="1"/>
          <p:nvPr/>
        </p:nvSpPr>
        <p:spPr>
          <a:xfrm>
            <a:off x="63998" y="548644"/>
            <a:ext cx="45177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rPr>
              <a:t>2.1 </a:t>
            </a:r>
            <a:r>
              <a:rPr b="1" lang="en-US" sz="1600" u="sng">
                <a:solidFill>
                  <a:schemeClr val="dk1"/>
                </a:solidFill>
                <a:highlight>
                  <a:srgbClr val="FFFFFF"/>
                </a:highlight>
              </a:rPr>
              <a:t>Business Age by NAICS Sector</a:t>
            </a:r>
            <a:endParaRPr sz="1600"/>
          </a:p>
        </p:txBody>
      </p:sp>
      <p:pic>
        <p:nvPicPr>
          <p:cNvPr id="232" name="Google Shape;232;g3b148cf25cd_0_66"/>
          <p:cNvPicPr preferRelativeResize="0"/>
          <p:nvPr/>
        </p:nvPicPr>
        <p:blipFill>
          <a:blip r:embed="rId3">
            <a:alphaModFix/>
          </a:blip>
          <a:stretch>
            <a:fillRect/>
          </a:stretch>
        </p:blipFill>
        <p:spPr>
          <a:xfrm>
            <a:off x="202300" y="1061750"/>
            <a:ext cx="3279586" cy="1019775"/>
          </a:xfrm>
          <a:prstGeom prst="rect">
            <a:avLst/>
          </a:prstGeom>
          <a:noFill/>
          <a:ln>
            <a:noFill/>
          </a:ln>
        </p:spPr>
      </p:pic>
      <p:pic>
        <p:nvPicPr>
          <p:cNvPr id="233" name="Google Shape;233;g3b148cf25cd_0_66"/>
          <p:cNvPicPr preferRelativeResize="0"/>
          <p:nvPr/>
        </p:nvPicPr>
        <p:blipFill>
          <a:blip r:embed="rId4">
            <a:alphaModFix/>
          </a:blip>
          <a:stretch>
            <a:fillRect/>
          </a:stretch>
        </p:blipFill>
        <p:spPr>
          <a:xfrm>
            <a:off x="161296" y="2081516"/>
            <a:ext cx="4329525" cy="3591096"/>
          </a:xfrm>
          <a:prstGeom prst="rect">
            <a:avLst/>
          </a:prstGeom>
          <a:noFill/>
          <a:ln>
            <a:noFill/>
          </a:ln>
        </p:spPr>
      </p:pic>
      <p:sp>
        <p:nvSpPr>
          <p:cNvPr id="234" name="Google Shape;234;g3b148cf25cd_0_66"/>
          <p:cNvSpPr txBox="1"/>
          <p:nvPr/>
        </p:nvSpPr>
        <p:spPr>
          <a:xfrm>
            <a:off x="76729" y="5682851"/>
            <a:ext cx="55506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highlight>
                  <a:srgbClr val="FFFFFF"/>
                </a:highlight>
              </a:rPr>
              <a:t>Output observed:</a:t>
            </a:r>
            <a:endParaRPr b="1" sz="1600">
              <a:solidFill>
                <a:schemeClr val="dk1"/>
              </a:solidFill>
              <a:highlight>
                <a:srgbClr val="FFFFFF"/>
              </a:highlight>
            </a:endParaRPr>
          </a:p>
          <a:p>
            <a:pPr indent="-330200" lvl="0" marL="457200" rtl="0" algn="l">
              <a:lnSpc>
                <a:spcPct val="115000"/>
              </a:lnSpc>
              <a:spcBef>
                <a:spcPts val="1200"/>
              </a:spcBef>
              <a:spcAft>
                <a:spcPts val="1200"/>
              </a:spcAft>
              <a:buClr>
                <a:schemeClr val="dk1"/>
              </a:buClr>
              <a:buSzPts val="1600"/>
              <a:buChar char="●"/>
            </a:pPr>
            <a:r>
              <a:rPr b="1" lang="en-US" sz="1600">
                <a:solidFill>
                  <a:schemeClr val="dk1"/>
                </a:solidFill>
                <a:highlight>
                  <a:srgbClr val="FFFFFF"/>
                </a:highlight>
              </a:rPr>
              <a:t>p &lt; 0.05 → Reject H₀</a:t>
            </a:r>
            <a:br>
              <a:rPr b="1" lang="en-US" sz="1600">
                <a:solidFill>
                  <a:schemeClr val="dk1"/>
                </a:solidFill>
                <a:highlight>
                  <a:srgbClr val="FFFFFF"/>
                </a:highlight>
              </a:rPr>
            </a:br>
            <a:r>
              <a:rPr b="1" lang="en-US" sz="1600">
                <a:solidFill>
                  <a:schemeClr val="dk1"/>
                </a:solidFill>
                <a:highlight>
                  <a:srgbClr val="FFFFFF"/>
                </a:highlight>
              </a:rPr>
              <a:t> ⇒ Business age </a:t>
            </a:r>
            <a:r>
              <a:rPr b="1" i="1" lang="en-US" sz="1600">
                <a:solidFill>
                  <a:schemeClr val="dk1"/>
                </a:solidFill>
                <a:highlight>
                  <a:srgbClr val="FFFFFF"/>
                </a:highlight>
              </a:rPr>
              <a:t>depends</a:t>
            </a:r>
            <a:r>
              <a:rPr b="1" lang="en-US" sz="1600">
                <a:solidFill>
                  <a:schemeClr val="dk1"/>
                </a:solidFill>
                <a:highlight>
                  <a:srgbClr val="FFFFFF"/>
                </a:highlight>
              </a:rPr>
              <a:t> on the NAICS sector.</a:t>
            </a:r>
            <a:endParaRPr sz="1600"/>
          </a:p>
        </p:txBody>
      </p:sp>
      <p:pic>
        <p:nvPicPr>
          <p:cNvPr id="235" name="Google Shape;235;g3b148cf25cd_0_66"/>
          <p:cNvPicPr preferRelativeResize="0"/>
          <p:nvPr/>
        </p:nvPicPr>
        <p:blipFill>
          <a:blip r:embed="rId5">
            <a:alphaModFix/>
          </a:blip>
          <a:stretch>
            <a:fillRect/>
          </a:stretch>
        </p:blipFill>
        <p:spPr>
          <a:xfrm>
            <a:off x="5990072" y="1133517"/>
            <a:ext cx="4343400" cy="1047750"/>
          </a:xfrm>
          <a:prstGeom prst="rect">
            <a:avLst/>
          </a:prstGeom>
          <a:noFill/>
          <a:ln>
            <a:noFill/>
          </a:ln>
        </p:spPr>
      </p:pic>
      <p:sp>
        <p:nvSpPr>
          <p:cNvPr id="236" name="Google Shape;236;g3b148cf25cd_0_66"/>
          <p:cNvSpPr txBox="1"/>
          <p:nvPr/>
        </p:nvSpPr>
        <p:spPr>
          <a:xfrm>
            <a:off x="5785050" y="586923"/>
            <a:ext cx="39837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rPr>
              <a:t>2.2 </a:t>
            </a:r>
            <a:r>
              <a:rPr b="1" lang="en-US" sz="1600" u="sng">
                <a:solidFill>
                  <a:schemeClr val="dk1"/>
                </a:solidFill>
                <a:highlight>
                  <a:srgbClr val="FFFFFF"/>
                </a:highlight>
              </a:rPr>
              <a:t>Business Age by Ownership Type</a:t>
            </a:r>
            <a:endParaRPr sz="1600"/>
          </a:p>
        </p:txBody>
      </p:sp>
      <p:pic>
        <p:nvPicPr>
          <p:cNvPr id="237" name="Google Shape;237;g3b148cf25cd_0_66"/>
          <p:cNvPicPr preferRelativeResize="0"/>
          <p:nvPr/>
        </p:nvPicPr>
        <p:blipFill>
          <a:blip r:embed="rId6">
            <a:alphaModFix/>
          </a:blip>
          <a:stretch>
            <a:fillRect/>
          </a:stretch>
        </p:blipFill>
        <p:spPr>
          <a:xfrm>
            <a:off x="5785050" y="2296775"/>
            <a:ext cx="5659265" cy="3351600"/>
          </a:xfrm>
          <a:prstGeom prst="rect">
            <a:avLst/>
          </a:prstGeom>
          <a:noFill/>
          <a:ln>
            <a:noFill/>
          </a:ln>
        </p:spPr>
      </p:pic>
      <p:sp>
        <p:nvSpPr>
          <p:cNvPr id="238" name="Google Shape;238;g3b148cf25cd_0_66"/>
          <p:cNvSpPr txBox="1"/>
          <p:nvPr/>
        </p:nvSpPr>
        <p:spPr>
          <a:xfrm>
            <a:off x="5956616" y="5679808"/>
            <a:ext cx="59034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highlight>
                  <a:srgbClr val="FFFFFF"/>
                </a:highlight>
              </a:rPr>
              <a:t>Output observed:</a:t>
            </a:r>
            <a:endParaRPr b="1" sz="1600">
              <a:solidFill>
                <a:schemeClr val="dk1"/>
              </a:solidFill>
              <a:highlight>
                <a:srgbClr val="FFFFFF"/>
              </a:highlight>
            </a:endParaRPr>
          </a:p>
          <a:p>
            <a:pPr indent="-330200" lvl="0" marL="457200" rtl="0" algn="l">
              <a:lnSpc>
                <a:spcPct val="115000"/>
              </a:lnSpc>
              <a:spcBef>
                <a:spcPts val="1200"/>
              </a:spcBef>
              <a:spcAft>
                <a:spcPts val="1200"/>
              </a:spcAft>
              <a:buClr>
                <a:schemeClr val="dk1"/>
              </a:buClr>
              <a:buSzPts val="1600"/>
              <a:buChar char="●"/>
            </a:pPr>
            <a:r>
              <a:rPr b="1" lang="en-US" sz="1600">
                <a:solidFill>
                  <a:schemeClr val="dk1"/>
                </a:solidFill>
                <a:highlight>
                  <a:srgbClr val="FFFFFF"/>
                </a:highlight>
              </a:rPr>
              <a:t>p &lt; 0.05 → Reject H₀</a:t>
            </a:r>
            <a:br>
              <a:rPr b="1" lang="en-US" sz="1600">
                <a:solidFill>
                  <a:schemeClr val="dk1"/>
                </a:solidFill>
                <a:highlight>
                  <a:srgbClr val="FFFFFF"/>
                </a:highlight>
              </a:rPr>
            </a:br>
            <a:r>
              <a:rPr b="1" lang="en-US" sz="1600">
                <a:solidFill>
                  <a:schemeClr val="dk1"/>
                </a:solidFill>
                <a:highlight>
                  <a:srgbClr val="FFFFFF"/>
                </a:highlight>
              </a:rPr>
              <a:t> ⇒ Business age </a:t>
            </a:r>
            <a:r>
              <a:rPr b="1" i="1" lang="en-US" sz="1600">
                <a:solidFill>
                  <a:schemeClr val="dk1"/>
                </a:solidFill>
                <a:highlight>
                  <a:srgbClr val="FFFFFF"/>
                </a:highlight>
              </a:rPr>
              <a:t>depends</a:t>
            </a:r>
            <a:r>
              <a:rPr b="1" lang="en-US" sz="1600">
                <a:solidFill>
                  <a:schemeClr val="dk1"/>
                </a:solidFill>
                <a:highlight>
                  <a:srgbClr val="FFFFFF"/>
                </a:highlight>
              </a:rPr>
              <a:t> on the Ownership Type.</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cxnSp>
        <p:nvCxnSpPr>
          <p:cNvPr id="243" name="Google Shape;243;g3b12fe420c2_0_87"/>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244" name="Google Shape;244;g3b12fe420c2_0_87"/>
          <p:cNvSpPr/>
          <p:nvPr/>
        </p:nvSpPr>
        <p:spPr>
          <a:xfrm>
            <a:off x="0" y="0"/>
            <a:ext cx="52479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45" name="Google Shape;245;g3b12fe420c2_0_87"/>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246" name="Google Shape;246;g3b12fe420c2_0_87"/>
          <p:cNvSpPr txBox="1"/>
          <p:nvPr/>
        </p:nvSpPr>
        <p:spPr>
          <a:xfrm>
            <a:off x="1574550" y="674650"/>
            <a:ext cx="7057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chemeClr val="dk1"/>
                </a:solidFill>
              </a:rPr>
              <a:t>2.3 Active Business Rate per 1,000 Residents by  ZIP Code Population</a:t>
            </a:r>
            <a:endParaRPr sz="1600"/>
          </a:p>
        </p:txBody>
      </p:sp>
      <p:pic>
        <p:nvPicPr>
          <p:cNvPr id="247" name="Google Shape;247;g3b12fe420c2_0_87"/>
          <p:cNvPicPr preferRelativeResize="0"/>
          <p:nvPr/>
        </p:nvPicPr>
        <p:blipFill>
          <a:blip r:embed="rId3">
            <a:alphaModFix/>
          </a:blip>
          <a:stretch>
            <a:fillRect/>
          </a:stretch>
        </p:blipFill>
        <p:spPr>
          <a:xfrm>
            <a:off x="1574550" y="1247912"/>
            <a:ext cx="6276500" cy="861075"/>
          </a:xfrm>
          <a:prstGeom prst="rect">
            <a:avLst/>
          </a:prstGeom>
          <a:noFill/>
          <a:ln>
            <a:noFill/>
          </a:ln>
        </p:spPr>
      </p:pic>
      <p:pic>
        <p:nvPicPr>
          <p:cNvPr id="248" name="Google Shape;248;g3b12fe420c2_0_87"/>
          <p:cNvPicPr preferRelativeResize="0"/>
          <p:nvPr/>
        </p:nvPicPr>
        <p:blipFill>
          <a:blip r:embed="rId4">
            <a:alphaModFix/>
          </a:blip>
          <a:stretch>
            <a:fillRect/>
          </a:stretch>
        </p:blipFill>
        <p:spPr>
          <a:xfrm>
            <a:off x="1574550" y="2251150"/>
            <a:ext cx="5381625" cy="3190875"/>
          </a:xfrm>
          <a:prstGeom prst="rect">
            <a:avLst/>
          </a:prstGeom>
          <a:noFill/>
          <a:ln>
            <a:noFill/>
          </a:ln>
        </p:spPr>
      </p:pic>
      <p:sp>
        <p:nvSpPr>
          <p:cNvPr id="249" name="Google Shape;249;g3b12fe420c2_0_87"/>
          <p:cNvSpPr txBox="1"/>
          <p:nvPr/>
        </p:nvSpPr>
        <p:spPr>
          <a:xfrm>
            <a:off x="1619075" y="5442025"/>
            <a:ext cx="85275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highlight>
                  <a:srgbClr val="FFFFFF"/>
                </a:highlight>
              </a:rPr>
              <a:t>Output observed:</a:t>
            </a:r>
            <a:endParaRPr b="1" sz="1600">
              <a:solidFill>
                <a:schemeClr val="dk1"/>
              </a:solidFill>
              <a:highlight>
                <a:srgbClr val="FFFFFF"/>
              </a:highlight>
            </a:endParaRPr>
          </a:p>
          <a:p>
            <a:pPr indent="-330200" lvl="0" marL="457200" rtl="0" algn="l">
              <a:lnSpc>
                <a:spcPct val="115000"/>
              </a:lnSpc>
              <a:spcBef>
                <a:spcPts val="1200"/>
              </a:spcBef>
              <a:spcAft>
                <a:spcPts val="1200"/>
              </a:spcAft>
              <a:buClr>
                <a:schemeClr val="dk1"/>
              </a:buClr>
              <a:buSzPts val="1600"/>
              <a:buChar char="●"/>
            </a:pPr>
            <a:r>
              <a:rPr b="1" lang="en-US" sz="1600">
                <a:solidFill>
                  <a:schemeClr val="dk1"/>
                </a:solidFill>
                <a:highlight>
                  <a:srgbClr val="FFFFFF"/>
                </a:highlight>
              </a:rPr>
              <a:t>p &lt; 0.05 → Reject H₀</a:t>
            </a:r>
            <a:br>
              <a:rPr b="1" lang="en-US" sz="1600">
                <a:solidFill>
                  <a:schemeClr val="dk1"/>
                </a:solidFill>
                <a:highlight>
                  <a:srgbClr val="FFFFFF"/>
                </a:highlight>
              </a:rPr>
            </a:br>
            <a:r>
              <a:rPr b="1" lang="en-US" sz="1600">
                <a:solidFill>
                  <a:schemeClr val="dk1"/>
                </a:solidFill>
                <a:highlight>
                  <a:srgbClr val="FFFFFF"/>
                </a:highlight>
              </a:rPr>
              <a:t> ⇒ Active Business Rate per 1,000 Residents</a:t>
            </a:r>
            <a:r>
              <a:rPr b="1" i="1" lang="en-US" sz="1600">
                <a:solidFill>
                  <a:schemeClr val="dk1"/>
                </a:solidFill>
                <a:highlight>
                  <a:srgbClr val="FFFFFF"/>
                </a:highlight>
              </a:rPr>
              <a:t> is correlated with</a:t>
            </a:r>
            <a:r>
              <a:rPr b="1" lang="en-US" sz="1600">
                <a:solidFill>
                  <a:schemeClr val="dk1"/>
                </a:solidFill>
                <a:highlight>
                  <a:srgbClr val="FFFFFF"/>
                </a:highlight>
              </a:rPr>
              <a:t> ZIP Population.</a:t>
            </a:r>
            <a:endParaRPr sz="1600"/>
          </a:p>
        </p:txBody>
      </p:sp>
      <p:sp>
        <p:nvSpPr>
          <p:cNvPr id="250" name="Google Shape;250;g3b12fe420c2_0_87"/>
          <p:cNvSpPr txBox="1"/>
          <p:nvPr/>
        </p:nvSpPr>
        <p:spPr>
          <a:xfrm>
            <a:off x="8118875" y="2675525"/>
            <a:ext cx="3437700" cy="184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rgbClr val="0000FF"/>
                </a:solidFill>
                <a:highlight>
                  <a:srgbClr val="FFFFFF"/>
                </a:highlight>
              </a:rPr>
              <a:t>NOTE:</a:t>
            </a:r>
            <a:r>
              <a:rPr b="1" lang="en-US" sz="1600">
                <a:solidFill>
                  <a:schemeClr val="dk1"/>
                </a:solidFill>
                <a:highlight>
                  <a:srgbClr val="FFFFFF"/>
                </a:highlight>
              </a:rPr>
              <a:t> </a:t>
            </a:r>
            <a:r>
              <a:rPr lang="en-US" sz="1600">
                <a:solidFill>
                  <a:schemeClr val="dk1"/>
                </a:solidFill>
                <a:highlight>
                  <a:srgbClr val="FFFFFF"/>
                </a:highlight>
              </a:rPr>
              <a:t>There is a positive association between ZIP Code population and the Active Business Rate; larger ZIP Code populations are associated with higher business activity rates.</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cxnSp>
        <p:nvCxnSpPr>
          <p:cNvPr id="255" name="Google Shape;255;g3b148cf25cd_0_107"/>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256" name="Google Shape;256;g3b148cf25cd_0_107"/>
          <p:cNvSpPr/>
          <p:nvPr/>
        </p:nvSpPr>
        <p:spPr>
          <a:xfrm>
            <a:off x="-46750" y="0"/>
            <a:ext cx="52479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57" name="Google Shape;257;g3b148cf25cd_0_107"/>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258" name="Google Shape;258;g3b148cf25cd_0_107"/>
          <p:cNvSpPr txBox="1"/>
          <p:nvPr/>
        </p:nvSpPr>
        <p:spPr>
          <a:xfrm>
            <a:off x="205889" y="1085570"/>
            <a:ext cx="3322500" cy="241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a:solidFill>
                  <a:schemeClr val="dk1"/>
                </a:solidFill>
                <a:highlight>
                  <a:srgbClr val="FFFFFF"/>
                </a:highlight>
              </a:rPr>
              <a:t>K-Prototype </a:t>
            </a:r>
            <a:r>
              <a:rPr lang="en-US" sz="1600">
                <a:solidFill>
                  <a:schemeClr val="dk1"/>
                </a:solidFill>
                <a:highlight>
                  <a:srgbClr val="FFFFFF"/>
                </a:highlight>
              </a:rPr>
              <a:t>clustering was applied to capture patterns in both numeric (business_age, population, business_density) and categorical (NAICS sector, ownership type) features. Using the elbow method (see picture below), k=4 clusters were chosen. </a:t>
            </a:r>
            <a:endParaRPr sz="1600"/>
          </a:p>
        </p:txBody>
      </p:sp>
      <p:sp>
        <p:nvSpPr>
          <p:cNvPr id="259" name="Google Shape;259;g3b148cf25cd_0_107"/>
          <p:cNvSpPr txBox="1"/>
          <p:nvPr/>
        </p:nvSpPr>
        <p:spPr>
          <a:xfrm>
            <a:off x="43300" y="604565"/>
            <a:ext cx="2464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rgbClr val="0000FF"/>
                </a:solidFill>
                <a:highlight>
                  <a:srgbClr val="FFFFFF"/>
                </a:highlight>
              </a:rPr>
              <a:t>Clustering Techniques</a:t>
            </a:r>
            <a:endParaRPr b="1" sz="1600" u="sng">
              <a:solidFill>
                <a:srgbClr val="0000FF"/>
              </a:solidFill>
            </a:endParaRPr>
          </a:p>
        </p:txBody>
      </p:sp>
      <p:pic>
        <p:nvPicPr>
          <p:cNvPr id="260" name="Google Shape;260;g3b148cf25cd_0_107"/>
          <p:cNvPicPr preferRelativeResize="0"/>
          <p:nvPr/>
        </p:nvPicPr>
        <p:blipFill>
          <a:blip r:embed="rId3">
            <a:alphaModFix/>
          </a:blip>
          <a:stretch>
            <a:fillRect/>
          </a:stretch>
        </p:blipFill>
        <p:spPr>
          <a:xfrm>
            <a:off x="73848" y="3721276"/>
            <a:ext cx="3415150" cy="2209825"/>
          </a:xfrm>
          <a:prstGeom prst="rect">
            <a:avLst/>
          </a:prstGeom>
          <a:noFill/>
          <a:ln>
            <a:noFill/>
          </a:ln>
        </p:spPr>
      </p:pic>
      <p:pic>
        <p:nvPicPr>
          <p:cNvPr id="261" name="Google Shape;261;g3b148cf25cd_0_107"/>
          <p:cNvPicPr preferRelativeResize="0"/>
          <p:nvPr/>
        </p:nvPicPr>
        <p:blipFill>
          <a:blip r:embed="rId4">
            <a:alphaModFix/>
          </a:blip>
          <a:stretch>
            <a:fillRect/>
          </a:stretch>
        </p:blipFill>
        <p:spPr>
          <a:xfrm>
            <a:off x="3882725" y="843430"/>
            <a:ext cx="4252356" cy="3158400"/>
          </a:xfrm>
          <a:prstGeom prst="rect">
            <a:avLst/>
          </a:prstGeom>
          <a:noFill/>
          <a:ln>
            <a:noFill/>
          </a:ln>
        </p:spPr>
      </p:pic>
      <p:sp>
        <p:nvSpPr>
          <p:cNvPr id="262" name="Google Shape;262;g3b148cf25cd_0_107"/>
          <p:cNvSpPr txBox="1"/>
          <p:nvPr/>
        </p:nvSpPr>
        <p:spPr>
          <a:xfrm>
            <a:off x="4223538" y="61505"/>
            <a:ext cx="3744900" cy="764400"/>
          </a:xfrm>
          <a:prstGeom prst="rect">
            <a:avLst/>
          </a:prstGeom>
          <a:noFill/>
          <a:ln>
            <a:noFill/>
          </a:ln>
        </p:spPr>
        <p:txBody>
          <a:bodyPr anchorCtr="0" anchor="t" bIns="91425" lIns="91425" spcFirstLastPara="1" rIns="91425" wrap="square" tIns="91425">
            <a:spAutoFit/>
          </a:bodyPr>
          <a:lstStyle/>
          <a:p>
            <a:pPr indent="0" lvl="0" marL="0" rtl="0" algn="ctr">
              <a:lnSpc>
                <a:spcPct val="135416"/>
              </a:lnSpc>
              <a:spcBef>
                <a:spcPts val="1200"/>
              </a:spcBef>
              <a:spcAft>
                <a:spcPts val="1200"/>
              </a:spcAft>
              <a:buNone/>
            </a:pPr>
            <a:r>
              <a:rPr b="1" lang="en-US" sz="1600" u="sng">
                <a:solidFill>
                  <a:srgbClr val="0000FF"/>
                </a:solidFill>
                <a:highlight>
                  <a:srgbClr val="FFFFFF"/>
                </a:highlight>
              </a:rPr>
              <a:t>Plot of quantitative metrics from each cluster:</a:t>
            </a:r>
            <a:endParaRPr sz="1600">
              <a:solidFill>
                <a:srgbClr val="0000FF"/>
              </a:solidFill>
            </a:endParaRPr>
          </a:p>
        </p:txBody>
      </p:sp>
      <p:sp>
        <p:nvSpPr>
          <p:cNvPr id="263" name="Google Shape;263;g3b148cf25cd_0_107"/>
          <p:cNvSpPr txBox="1"/>
          <p:nvPr/>
        </p:nvSpPr>
        <p:spPr>
          <a:xfrm>
            <a:off x="8235650" y="35111"/>
            <a:ext cx="4044600" cy="28629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200"/>
              </a:spcBef>
              <a:spcAft>
                <a:spcPts val="0"/>
              </a:spcAft>
              <a:buNone/>
            </a:pPr>
            <a:r>
              <a:rPr b="1" lang="en-US" sz="1100" u="sng">
                <a:solidFill>
                  <a:srgbClr val="0000FF"/>
                </a:solidFill>
                <a:highlight>
                  <a:srgbClr val="FFFFFF"/>
                </a:highlight>
              </a:rPr>
              <a:t>Interpretation of clusters</a:t>
            </a:r>
            <a:endParaRPr b="1" sz="1100" u="sng">
              <a:solidFill>
                <a:srgbClr val="0000FF"/>
              </a:solidFill>
              <a:highlight>
                <a:srgbClr val="FFFFFF"/>
              </a:highlight>
            </a:endParaRPr>
          </a:p>
          <a:p>
            <a:pPr indent="0" lvl="0" marL="0" rtl="0" algn="l">
              <a:lnSpc>
                <a:spcPct val="100000"/>
              </a:lnSpc>
              <a:spcBef>
                <a:spcPts val="1200"/>
              </a:spcBef>
              <a:spcAft>
                <a:spcPts val="0"/>
              </a:spcAft>
              <a:buNone/>
            </a:pPr>
            <a:r>
              <a:rPr b="1" lang="en-US" sz="1100">
                <a:solidFill>
                  <a:srgbClr val="4878D0"/>
                </a:solidFill>
                <a:highlight>
                  <a:srgbClr val="FFFFFF"/>
                </a:highlight>
              </a:rPr>
              <a:t>0.       Cluster 0:</a:t>
            </a:r>
            <a:endParaRPr sz="1100">
              <a:solidFill>
                <a:srgbClr val="4878D0"/>
              </a:solidFill>
              <a:highlight>
                <a:srgbClr val="FFFFFF"/>
              </a:highlight>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highlight>
                  <a:srgbClr val="FFFFFF"/>
                </a:highlight>
              </a:rPr>
              <a:t>Older businesses</a:t>
            </a:r>
            <a:r>
              <a:rPr lang="en-US" sz="1100">
                <a:solidFill>
                  <a:schemeClr val="dk1"/>
                </a:solidFill>
                <a:highlight>
                  <a:srgbClr val="FFFFFF"/>
                </a:highlight>
              </a:rPr>
              <a:t> (positive business_age)</a:t>
            </a:r>
            <a:endParaRPr sz="1100">
              <a:solidFill>
                <a:schemeClr val="dk1"/>
              </a:solidFill>
              <a:highlight>
                <a:srgbClr val="FFFFFF"/>
              </a:highlight>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highlight>
                  <a:srgbClr val="FFFFFF"/>
                </a:highlight>
              </a:rPr>
              <a:t>Slightly </a:t>
            </a:r>
            <a:r>
              <a:rPr b="1" lang="en-US" sz="1100">
                <a:solidFill>
                  <a:schemeClr val="dk1"/>
                </a:solidFill>
                <a:highlight>
                  <a:srgbClr val="FFFFFF"/>
                </a:highlight>
              </a:rPr>
              <a:t>below-average population and density</a:t>
            </a:r>
            <a:endParaRPr sz="1100">
              <a:solidFill>
                <a:schemeClr val="dk1"/>
              </a:solidFill>
              <a:highlight>
                <a:srgbClr val="FFFFFF"/>
              </a:highlight>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highlight>
                  <a:srgbClr val="FFFFFF"/>
                </a:highlight>
              </a:rPr>
              <a:t>Predominantly </a:t>
            </a:r>
            <a:r>
              <a:rPr b="1" lang="en-US" sz="1100">
                <a:solidFill>
                  <a:schemeClr val="dk1"/>
                </a:solidFill>
                <a:highlight>
                  <a:srgbClr val="FFFFFF"/>
                </a:highlight>
              </a:rPr>
              <a:t>professional services</a:t>
            </a:r>
            <a:r>
              <a:rPr lang="en-US" sz="1100">
                <a:solidFill>
                  <a:schemeClr val="dk1"/>
                </a:solidFill>
                <a:highlight>
                  <a:srgbClr val="FFFFFF"/>
                </a:highlight>
              </a:rPr>
              <a:t>, owned as </a:t>
            </a:r>
            <a:r>
              <a:rPr b="1" lang="en-US" sz="1100">
                <a:solidFill>
                  <a:schemeClr val="dk1"/>
                </a:solidFill>
                <a:highlight>
                  <a:srgbClr val="FFFFFF"/>
                </a:highlight>
              </a:rPr>
              <a:t>sole proprietorships</a:t>
            </a:r>
            <a:endParaRPr sz="1100">
              <a:solidFill>
                <a:schemeClr val="dk1"/>
              </a:solidFill>
              <a:highlight>
                <a:srgbClr val="FFFFFF"/>
              </a:highlight>
            </a:endParaRPr>
          </a:p>
          <a:p>
            <a:pPr indent="0" lvl="0" marL="0" rtl="0" algn="l">
              <a:lnSpc>
                <a:spcPct val="100000"/>
              </a:lnSpc>
              <a:spcBef>
                <a:spcPts val="1200"/>
              </a:spcBef>
              <a:spcAft>
                <a:spcPts val="0"/>
              </a:spcAft>
              <a:buNone/>
            </a:pPr>
            <a:r>
              <a:rPr b="1" lang="en-US" sz="1100">
                <a:solidFill>
                  <a:srgbClr val="EE854A"/>
                </a:solidFill>
                <a:highlight>
                  <a:srgbClr val="FFFFFF"/>
                </a:highlight>
              </a:rPr>
              <a:t>1.       Cluster 1:</a:t>
            </a:r>
            <a:endParaRPr sz="1100">
              <a:solidFill>
                <a:srgbClr val="EE854A"/>
              </a:solidFill>
              <a:highlight>
                <a:srgbClr val="FFFFFF"/>
              </a:highlight>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highlight>
                  <a:srgbClr val="FFFFFF"/>
                </a:highlight>
              </a:rPr>
              <a:t>Slightly younger businesses</a:t>
            </a:r>
            <a:endParaRPr sz="1100">
              <a:solidFill>
                <a:schemeClr val="dk1"/>
              </a:solidFill>
              <a:highlight>
                <a:srgbClr val="FFFFFF"/>
              </a:highlight>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highlight>
                  <a:srgbClr val="FFFFFF"/>
                </a:highlight>
              </a:rPr>
              <a:t>Lower-than-average population and density</a:t>
            </a:r>
            <a:endParaRPr sz="1100">
              <a:solidFill>
                <a:schemeClr val="dk1"/>
              </a:solidFill>
              <a:highlight>
                <a:srgbClr val="FFFFFF"/>
              </a:highlight>
            </a:endParaRPr>
          </a:p>
          <a:p>
            <a:pPr indent="-298450" lvl="1" marL="914400" rtl="0" algn="l">
              <a:lnSpc>
                <a:spcPct val="100000"/>
              </a:lnSpc>
              <a:spcBef>
                <a:spcPts val="0"/>
              </a:spcBef>
              <a:spcAft>
                <a:spcPts val="0"/>
              </a:spcAft>
              <a:buClr>
                <a:schemeClr val="dk1"/>
              </a:buClr>
              <a:buSzPts val="1100"/>
              <a:buFont typeface="Courier New"/>
              <a:buChar char="○"/>
            </a:pPr>
            <a:r>
              <a:rPr lang="en-US" sz="1100">
                <a:solidFill>
                  <a:schemeClr val="dk1"/>
                </a:solidFill>
                <a:highlight>
                  <a:srgbClr val="FFFFFF"/>
                </a:highlight>
              </a:rPr>
              <a:t>Also, professional services, mostly </a:t>
            </a:r>
            <a:r>
              <a:rPr b="1" lang="en-US" sz="1100">
                <a:solidFill>
                  <a:schemeClr val="dk1"/>
                </a:solidFill>
                <a:highlight>
                  <a:srgbClr val="FFFFFF"/>
                </a:highlight>
              </a:rPr>
              <a:t>sole proprietorships</a:t>
            </a:r>
            <a:endParaRPr sz="1100">
              <a:solidFill>
                <a:schemeClr val="dk1"/>
              </a:solidFill>
              <a:highlight>
                <a:srgbClr val="FFFFFF"/>
              </a:highlight>
              <a:latin typeface="Courier New"/>
              <a:ea typeface="Courier New"/>
              <a:cs typeface="Courier New"/>
              <a:sym typeface="Courier New"/>
            </a:endParaRPr>
          </a:p>
          <a:p>
            <a:pPr indent="-298450" lvl="1" marL="914400" rtl="0" algn="l">
              <a:lnSpc>
                <a:spcPct val="100000"/>
              </a:lnSpc>
              <a:spcBef>
                <a:spcPts val="0"/>
              </a:spcBef>
              <a:spcAft>
                <a:spcPts val="0"/>
              </a:spcAft>
              <a:buClr>
                <a:schemeClr val="dk1"/>
              </a:buClr>
              <a:buSzPts val="1100"/>
              <a:buFont typeface="Courier New"/>
              <a:buChar char="○"/>
            </a:pPr>
            <a:r>
              <a:rPr lang="en-US" sz="1100">
                <a:solidFill>
                  <a:schemeClr val="dk1"/>
                </a:solidFill>
                <a:highlight>
                  <a:srgbClr val="FFFFFF"/>
                </a:highlight>
              </a:rPr>
              <a:t>Could represent </a:t>
            </a:r>
            <a:r>
              <a:rPr b="1" lang="en-US" sz="1100">
                <a:solidFill>
                  <a:schemeClr val="dk1"/>
                </a:solidFill>
                <a:highlight>
                  <a:srgbClr val="FFFFFF"/>
                </a:highlight>
              </a:rPr>
              <a:t>small-scale professional startups</a:t>
            </a:r>
            <a:endParaRPr sz="1100">
              <a:solidFill>
                <a:schemeClr val="dk1"/>
              </a:solidFill>
              <a:highlight>
                <a:srgbClr val="FFFFFF"/>
              </a:highlight>
              <a:latin typeface="Courier New"/>
              <a:ea typeface="Courier New"/>
              <a:cs typeface="Courier New"/>
              <a:sym typeface="Courier New"/>
            </a:endParaRPr>
          </a:p>
        </p:txBody>
      </p:sp>
      <p:sp>
        <p:nvSpPr>
          <p:cNvPr id="264" name="Google Shape;264;g3b148cf25cd_0_107"/>
          <p:cNvSpPr txBox="1"/>
          <p:nvPr/>
        </p:nvSpPr>
        <p:spPr>
          <a:xfrm>
            <a:off x="8235641" y="2897998"/>
            <a:ext cx="3670200" cy="2385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sz="1100">
                <a:solidFill>
                  <a:srgbClr val="6ACC64"/>
                </a:solidFill>
                <a:highlight>
                  <a:srgbClr val="FFFFFF"/>
                </a:highlight>
              </a:rPr>
              <a:t>2.        Cluster 2:</a:t>
            </a:r>
            <a:endParaRPr sz="1100">
              <a:solidFill>
                <a:srgbClr val="6ACC64"/>
              </a:solidFill>
              <a:highlight>
                <a:srgbClr val="FFFFFF"/>
              </a:highlight>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highlight>
                  <a:srgbClr val="FFFFFF"/>
                </a:highlight>
              </a:rPr>
              <a:t>Moderate-aged businesses</a:t>
            </a:r>
            <a:endParaRPr sz="1100">
              <a:solidFill>
                <a:schemeClr val="dk1"/>
              </a:solidFill>
              <a:highlight>
                <a:srgbClr val="FFFFFF"/>
              </a:highlight>
            </a:endParaRPr>
          </a:p>
          <a:p>
            <a:pPr indent="-298450" lvl="1" marL="914400" rtl="0" algn="l">
              <a:lnSpc>
                <a:spcPct val="100000"/>
              </a:lnSpc>
              <a:spcBef>
                <a:spcPts val="0"/>
              </a:spcBef>
              <a:spcAft>
                <a:spcPts val="0"/>
              </a:spcAft>
              <a:buClr>
                <a:schemeClr val="dk1"/>
              </a:buClr>
              <a:buSzPts val="1100"/>
              <a:buFont typeface="Courier New"/>
              <a:buChar char="○"/>
            </a:pPr>
            <a:r>
              <a:rPr lang="en-US" sz="1100">
                <a:solidFill>
                  <a:schemeClr val="dk1"/>
                </a:solidFill>
                <a:highlight>
                  <a:srgbClr val="FFFFFF"/>
                </a:highlight>
              </a:rPr>
              <a:t>Located in </a:t>
            </a:r>
            <a:r>
              <a:rPr b="1" lang="en-US" sz="1100">
                <a:solidFill>
                  <a:schemeClr val="dk1"/>
                </a:solidFill>
                <a:highlight>
                  <a:srgbClr val="FFFFFF"/>
                </a:highlight>
              </a:rPr>
              <a:t>low-population areas</a:t>
            </a:r>
            <a:endParaRPr sz="1100">
              <a:solidFill>
                <a:schemeClr val="dk1"/>
              </a:solidFill>
              <a:highlight>
                <a:srgbClr val="FFFFFF"/>
              </a:highlight>
              <a:latin typeface="Courier New"/>
              <a:ea typeface="Courier New"/>
              <a:cs typeface="Courier New"/>
              <a:sym typeface="Courier New"/>
            </a:endParaRPr>
          </a:p>
          <a:p>
            <a:pPr indent="-298450" lvl="1" marL="914400" rtl="0" algn="l">
              <a:lnSpc>
                <a:spcPct val="100000"/>
              </a:lnSpc>
              <a:spcBef>
                <a:spcPts val="0"/>
              </a:spcBef>
              <a:spcAft>
                <a:spcPts val="0"/>
              </a:spcAft>
              <a:buClr>
                <a:schemeClr val="dk1"/>
              </a:buClr>
              <a:buSzPts val="1100"/>
              <a:buFont typeface="Courier New"/>
              <a:buChar char="○"/>
            </a:pPr>
            <a:r>
              <a:rPr b="1" lang="en-US" sz="1100">
                <a:solidFill>
                  <a:schemeClr val="dk1"/>
                </a:solidFill>
                <a:highlight>
                  <a:srgbClr val="FFFFFF"/>
                </a:highlight>
              </a:rPr>
              <a:t>Very high business density</a:t>
            </a:r>
            <a:r>
              <a:rPr lang="en-US" sz="1100">
                <a:solidFill>
                  <a:schemeClr val="dk1"/>
                </a:solidFill>
                <a:highlight>
                  <a:srgbClr val="FFFFFF"/>
                </a:highlight>
              </a:rPr>
              <a:t> → possibly industrial or corporate hubs</a:t>
            </a:r>
            <a:endParaRPr sz="1100">
              <a:solidFill>
                <a:schemeClr val="dk1"/>
              </a:solidFill>
              <a:highlight>
                <a:srgbClr val="FFFFFF"/>
              </a:highlight>
              <a:latin typeface="Courier New"/>
              <a:ea typeface="Courier New"/>
              <a:cs typeface="Courier New"/>
              <a:sym typeface="Courier New"/>
            </a:endParaRPr>
          </a:p>
          <a:p>
            <a:pPr indent="-298450" lvl="1" marL="914400" rtl="0" algn="l">
              <a:lnSpc>
                <a:spcPct val="100000"/>
              </a:lnSpc>
              <a:spcBef>
                <a:spcPts val="0"/>
              </a:spcBef>
              <a:spcAft>
                <a:spcPts val="0"/>
              </a:spcAft>
              <a:buClr>
                <a:schemeClr val="dk1"/>
              </a:buClr>
              <a:buSzPts val="1100"/>
              <a:buFont typeface="Courier New"/>
              <a:buChar char="○"/>
            </a:pPr>
            <a:r>
              <a:rPr lang="en-US" sz="1100">
                <a:solidFill>
                  <a:schemeClr val="dk1"/>
                </a:solidFill>
                <a:highlight>
                  <a:srgbClr val="FFFFFF"/>
                </a:highlight>
              </a:rPr>
              <a:t>Most businesses are </a:t>
            </a:r>
            <a:r>
              <a:rPr b="1" lang="en-US" sz="1100">
                <a:solidFill>
                  <a:schemeClr val="dk1"/>
                </a:solidFill>
                <a:highlight>
                  <a:srgbClr val="FFFFFF"/>
                </a:highlight>
              </a:rPr>
              <a:t>corporations</a:t>
            </a:r>
            <a:br>
              <a:rPr b="1" lang="en-US" sz="1100">
                <a:solidFill>
                  <a:schemeClr val="dk1"/>
                </a:solidFill>
                <a:highlight>
                  <a:srgbClr val="FFFFFF"/>
                </a:highlight>
              </a:rPr>
            </a:b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100">
                <a:solidFill>
                  <a:srgbClr val="D65F5E"/>
                </a:solidFill>
                <a:highlight>
                  <a:srgbClr val="FFFFFF"/>
                </a:highlight>
              </a:rPr>
              <a:t>3.        Cluster 3:</a:t>
            </a:r>
            <a:endParaRPr sz="1100">
              <a:solidFill>
                <a:srgbClr val="D65F5E"/>
              </a:solidFill>
              <a:highlight>
                <a:srgbClr val="FFFFFF"/>
              </a:highlight>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highlight>
                  <a:srgbClr val="FFFFFF"/>
                </a:highlight>
              </a:rPr>
              <a:t>Slightly younger businesses</a:t>
            </a:r>
            <a:endParaRPr sz="1100">
              <a:solidFill>
                <a:schemeClr val="dk1"/>
              </a:solidFill>
              <a:highlight>
                <a:srgbClr val="FFFFFF"/>
              </a:highlight>
            </a:endParaRPr>
          </a:p>
          <a:p>
            <a:pPr indent="-298450" lvl="1" marL="914400" rtl="0" algn="l">
              <a:lnSpc>
                <a:spcPct val="100000"/>
              </a:lnSpc>
              <a:spcBef>
                <a:spcPts val="0"/>
              </a:spcBef>
              <a:spcAft>
                <a:spcPts val="0"/>
              </a:spcAft>
              <a:buClr>
                <a:schemeClr val="dk1"/>
              </a:buClr>
              <a:buSzPts val="1100"/>
              <a:buFont typeface="Courier New"/>
              <a:buChar char="○"/>
            </a:pPr>
            <a:r>
              <a:rPr lang="en-US" sz="1100">
                <a:solidFill>
                  <a:schemeClr val="dk1"/>
                </a:solidFill>
                <a:highlight>
                  <a:srgbClr val="FFFFFF"/>
                </a:highlight>
              </a:rPr>
              <a:t>Found in </a:t>
            </a:r>
            <a:r>
              <a:rPr b="1" lang="en-US" sz="1100">
                <a:solidFill>
                  <a:schemeClr val="dk1"/>
                </a:solidFill>
                <a:highlight>
                  <a:srgbClr val="FFFFFF"/>
                </a:highlight>
              </a:rPr>
              <a:t>higher-population areas</a:t>
            </a:r>
            <a:endParaRPr sz="1100">
              <a:solidFill>
                <a:schemeClr val="dk1"/>
              </a:solidFill>
              <a:highlight>
                <a:srgbClr val="FFFFFF"/>
              </a:highlight>
              <a:latin typeface="Courier New"/>
              <a:ea typeface="Courier New"/>
              <a:cs typeface="Courier New"/>
              <a:sym typeface="Courier New"/>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highlight>
                  <a:srgbClr val="FFFFFF"/>
                </a:highlight>
              </a:rPr>
              <a:t>Lower business density</a:t>
            </a:r>
            <a:endParaRPr sz="1100">
              <a:solidFill>
                <a:schemeClr val="dk1"/>
              </a:solidFill>
              <a:highlight>
                <a:srgbClr val="FFFFFF"/>
              </a:highlight>
            </a:endParaRPr>
          </a:p>
          <a:p>
            <a:pPr indent="-298450" lvl="1" marL="914400" rtl="0" algn="l">
              <a:lnSpc>
                <a:spcPct val="100000"/>
              </a:lnSpc>
              <a:spcBef>
                <a:spcPts val="0"/>
              </a:spcBef>
              <a:spcAft>
                <a:spcPts val="0"/>
              </a:spcAft>
              <a:buClr>
                <a:schemeClr val="dk1"/>
              </a:buClr>
              <a:buSzPts val="1100"/>
              <a:buFont typeface="Courier New"/>
              <a:buChar char="○"/>
            </a:pPr>
            <a:r>
              <a:rPr lang="en-US" sz="1100">
                <a:solidFill>
                  <a:schemeClr val="dk1"/>
                </a:solidFill>
                <a:highlight>
                  <a:srgbClr val="FFFFFF"/>
                </a:highlight>
              </a:rPr>
              <a:t>Belongs mainly to the </a:t>
            </a:r>
            <a:r>
              <a:rPr b="1" lang="en-US" sz="1100">
                <a:solidFill>
                  <a:schemeClr val="dk1"/>
                </a:solidFill>
                <a:highlight>
                  <a:srgbClr val="FFFFFF"/>
                </a:highlight>
              </a:rPr>
              <a:t>retail sector</a:t>
            </a:r>
            <a:endParaRPr sz="1100">
              <a:solidFill>
                <a:schemeClr val="dk1"/>
              </a:solidFill>
              <a:highlight>
                <a:srgbClr val="FFFFFF"/>
              </a:highlight>
              <a:latin typeface="Courier New"/>
              <a:ea typeface="Courier New"/>
              <a:cs typeface="Courier New"/>
              <a:sym typeface="Courier New"/>
            </a:endParaRPr>
          </a:p>
          <a:p>
            <a:pPr indent="-298450" lvl="1" marL="914400" rtl="0" algn="l">
              <a:lnSpc>
                <a:spcPct val="100000"/>
              </a:lnSpc>
              <a:spcBef>
                <a:spcPts val="0"/>
              </a:spcBef>
              <a:spcAft>
                <a:spcPts val="1200"/>
              </a:spcAft>
              <a:buClr>
                <a:schemeClr val="dk1"/>
              </a:buClr>
              <a:buSzPts val="1100"/>
              <a:buFont typeface="Courier New"/>
              <a:buChar char="○"/>
            </a:pPr>
            <a:r>
              <a:rPr lang="en-US" sz="1100">
                <a:solidFill>
                  <a:schemeClr val="dk1"/>
                </a:solidFill>
                <a:highlight>
                  <a:srgbClr val="FFFFFF"/>
                </a:highlight>
              </a:rPr>
              <a:t>Mostly </a:t>
            </a:r>
            <a:r>
              <a:rPr b="1" lang="en-US" sz="1100">
                <a:solidFill>
                  <a:schemeClr val="dk1"/>
                </a:solidFill>
                <a:highlight>
                  <a:srgbClr val="FFFFFF"/>
                </a:highlight>
              </a:rPr>
              <a:t>sole proprietorships</a:t>
            </a:r>
            <a:endParaRPr/>
          </a:p>
        </p:txBody>
      </p:sp>
      <p:sp>
        <p:nvSpPr>
          <p:cNvPr id="265" name="Google Shape;265;g3b148cf25cd_0_107"/>
          <p:cNvSpPr txBox="1"/>
          <p:nvPr/>
        </p:nvSpPr>
        <p:spPr>
          <a:xfrm>
            <a:off x="4639650" y="4064925"/>
            <a:ext cx="2912700" cy="1077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n-US" sz="1200" u="sng">
                <a:solidFill>
                  <a:srgbClr val="0000FF"/>
                </a:solidFill>
                <a:highlight>
                  <a:srgbClr val="FFFFFF"/>
                </a:highlight>
              </a:rPr>
              <a:t>Numerical Variables in the Plot:</a:t>
            </a:r>
            <a:endParaRPr b="1" sz="1200" u="sng">
              <a:solidFill>
                <a:srgbClr val="0000FF"/>
              </a:solidFill>
              <a:highlight>
                <a:srgbClr val="FFFFFF"/>
              </a:highlight>
            </a:endParaRPr>
          </a:p>
          <a:p>
            <a:pPr indent="-304800" lvl="0" marL="457200" rtl="0" algn="l">
              <a:lnSpc>
                <a:spcPct val="100000"/>
              </a:lnSpc>
              <a:spcBef>
                <a:spcPts val="1200"/>
              </a:spcBef>
              <a:spcAft>
                <a:spcPts val="0"/>
              </a:spcAft>
              <a:buClr>
                <a:schemeClr val="dk1"/>
              </a:buClr>
              <a:buSzPts val="1200"/>
              <a:buChar char="●"/>
            </a:pPr>
            <a:r>
              <a:rPr lang="en-US" sz="1200">
                <a:solidFill>
                  <a:schemeClr val="dk1"/>
                </a:solidFill>
                <a:highlight>
                  <a:srgbClr val="FFFFFF"/>
                </a:highlight>
              </a:rPr>
              <a:t>business_age</a:t>
            </a:r>
            <a:endParaRPr sz="1200">
              <a:solidFill>
                <a:schemeClr val="dk1"/>
              </a:solidFill>
              <a:highlight>
                <a:srgbClr val="FFFFFF"/>
              </a:highlight>
            </a:endParaRPr>
          </a:p>
          <a:p>
            <a:pPr indent="-304800" lvl="0" marL="457200" rtl="0" algn="l">
              <a:lnSpc>
                <a:spcPct val="100000"/>
              </a:lnSpc>
              <a:spcBef>
                <a:spcPts val="0"/>
              </a:spcBef>
              <a:spcAft>
                <a:spcPts val="0"/>
              </a:spcAft>
              <a:buClr>
                <a:schemeClr val="dk1"/>
              </a:buClr>
              <a:buSzPts val="1200"/>
              <a:buChar char="●"/>
            </a:pPr>
            <a:r>
              <a:rPr lang="en-US" sz="1200">
                <a:solidFill>
                  <a:schemeClr val="dk1"/>
                </a:solidFill>
                <a:highlight>
                  <a:srgbClr val="FFFFFF"/>
                </a:highlight>
              </a:rPr>
              <a:t>population</a:t>
            </a:r>
            <a:endParaRPr sz="1200">
              <a:solidFill>
                <a:schemeClr val="dk1"/>
              </a:solidFill>
              <a:highlight>
                <a:srgbClr val="FFFFFF"/>
              </a:highlight>
            </a:endParaRPr>
          </a:p>
          <a:p>
            <a:pPr indent="-304800" lvl="0" marL="457200" rtl="0" algn="l">
              <a:lnSpc>
                <a:spcPct val="100000"/>
              </a:lnSpc>
              <a:spcBef>
                <a:spcPts val="0"/>
              </a:spcBef>
              <a:spcAft>
                <a:spcPts val="0"/>
              </a:spcAft>
              <a:buClr>
                <a:schemeClr val="dk1"/>
              </a:buClr>
              <a:buSzPts val="1200"/>
              <a:buChar char="●"/>
            </a:pPr>
            <a:r>
              <a:rPr lang="en-US" sz="1200">
                <a:solidFill>
                  <a:schemeClr val="dk1"/>
                </a:solidFill>
                <a:highlight>
                  <a:srgbClr val="FFFFFF"/>
                </a:highlight>
              </a:rPr>
              <a:t>business_density</a:t>
            </a:r>
            <a:endParaRPr sz="1200"/>
          </a:p>
        </p:txBody>
      </p:sp>
      <p:pic>
        <p:nvPicPr>
          <p:cNvPr id="266" name="Google Shape;266;g3b148cf25cd_0_107"/>
          <p:cNvPicPr preferRelativeResize="0"/>
          <p:nvPr/>
        </p:nvPicPr>
        <p:blipFill>
          <a:blip r:embed="rId5">
            <a:alphaModFix/>
          </a:blip>
          <a:stretch>
            <a:fillRect/>
          </a:stretch>
        </p:blipFill>
        <p:spPr>
          <a:xfrm>
            <a:off x="3700057" y="5416741"/>
            <a:ext cx="8315049" cy="1289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cxnSp>
        <p:nvCxnSpPr>
          <p:cNvPr id="271" name="Google Shape;271;g3b12fe420c2_0_246"/>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272" name="Google Shape;272;g3b12fe420c2_0_246"/>
          <p:cNvSpPr/>
          <p:nvPr/>
        </p:nvSpPr>
        <p:spPr>
          <a:xfrm>
            <a:off x="-46750" y="0"/>
            <a:ext cx="52479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73" name="Google Shape;273;g3b12fe420c2_0_246"/>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274" name="Google Shape;274;g3b12fe420c2_0_246"/>
          <p:cNvSpPr txBox="1"/>
          <p:nvPr/>
        </p:nvSpPr>
        <p:spPr>
          <a:xfrm>
            <a:off x="111950" y="1113605"/>
            <a:ext cx="4912800" cy="15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a:solidFill>
                  <a:schemeClr val="dk1"/>
                </a:solidFill>
                <a:highlight>
                  <a:srgbClr val="FFFFFF"/>
                </a:highlight>
              </a:rPr>
              <a:t>K-Means</a:t>
            </a:r>
            <a:r>
              <a:rPr lang="en-US" sz="1600">
                <a:solidFill>
                  <a:schemeClr val="dk1"/>
                </a:solidFill>
                <a:highlight>
                  <a:srgbClr val="FFFFFF"/>
                </a:highlight>
              </a:rPr>
              <a:t> clustering was applied to capture patterns </a:t>
            </a:r>
            <a:r>
              <a:rPr lang="en-US" sz="1600">
                <a:solidFill>
                  <a:schemeClr val="dk1"/>
                </a:solidFill>
                <a:highlight>
                  <a:srgbClr val="FFFFFF"/>
                </a:highlight>
              </a:rPr>
              <a:t>in numeric features, such as geographic concentration (latitude and longitude).</a:t>
            </a:r>
            <a:r>
              <a:rPr lang="en-US" sz="1600">
                <a:solidFill>
                  <a:schemeClr val="dk1"/>
                </a:solidFill>
                <a:highlight>
                  <a:srgbClr val="FFFFFF"/>
                </a:highlight>
              </a:rPr>
              <a:t> Using the elbow method (see picture below), k=7 clusters were chosen. </a:t>
            </a:r>
            <a:endParaRPr sz="1600"/>
          </a:p>
        </p:txBody>
      </p:sp>
      <p:sp>
        <p:nvSpPr>
          <p:cNvPr id="275" name="Google Shape;275;g3b12fe420c2_0_246"/>
          <p:cNvSpPr txBox="1"/>
          <p:nvPr/>
        </p:nvSpPr>
        <p:spPr>
          <a:xfrm>
            <a:off x="111950" y="651319"/>
            <a:ext cx="2464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u="sng">
                <a:solidFill>
                  <a:srgbClr val="0000FF"/>
                </a:solidFill>
                <a:highlight>
                  <a:srgbClr val="FFFFFF"/>
                </a:highlight>
              </a:rPr>
              <a:t>C</a:t>
            </a:r>
            <a:r>
              <a:rPr b="1" lang="en-US" sz="1600" u="sng">
                <a:solidFill>
                  <a:srgbClr val="0000FF"/>
                </a:solidFill>
                <a:highlight>
                  <a:srgbClr val="FFFFFF"/>
                </a:highlight>
              </a:rPr>
              <a:t>lustering Techniques</a:t>
            </a:r>
            <a:endParaRPr b="1" sz="1600" u="sng">
              <a:solidFill>
                <a:srgbClr val="0000FF"/>
              </a:solidFill>
            </a:endParaRPr>
          </a:p>
        </p:txBody>
      </p:sp>
      <p:sp>
        <p:nvSpPr>
          <p:cNvPr id="276" name="Google Shape;276;g3b12fe420c2_0_246"/>
          <p:cNvSpPr txBox="1"/>
          <p:nvPr/>
        </p:nvSpPr>
        <p:spPr>
          <a:xfrm>
            <a:off x="6113038" y="159793"/>
            <a:ext cx="3744900" cy="431100"/>
          </a:xfrm>
          <a:prstGeom prst="rect">
            <a:avLst/>
          </a:prstGeom>
          <a:noFill/>
          <a:ln>
            <a:noFill/>
          </a:ln>
        </p:spPr>
        <p:txBody>
          <a:bodyPr anchorCtr="0" anchor="t" bIns="91425" lIns="91425" spcFirstLastPara="1" rIns="91425" wrap="square" tIns="91425">
            <a:spAutoFit/>
          </a:bodyPr>
          <a:lstStyle/>
          <a:p>
            <a:pPr indent="0" lvl="0" marL="0" rtl="0" algn="ctr">
              <a:lnSpc>
                <a:spcPct val="135416"/>
              </a:lnSpc>
              <a:spcBef>
                <a:spcPts val="1200"/>
              </a:spcBef>
              <a:spcAft>
                <a:spcPts val="1200"/>
              </a:spcAft>
              <a:buNone/>
            </a:pPr>
            <a:r>
              <a:rPr b="1" lang="en-US" sz="1600" u="sng">
                <a:solidFill>
                  <a:srgbClr val="0000FF"/>
                </a:solidFill>
                <a:highlight>
                  <a:srgbClr val="FFFFFF"/>
                </a:highlight>
              </a:rPr>
              <a:t>Plot for Spatial features:</a:t>
            </a:r>
            <a:endParaRPr sz="1600">
              <a:solidFill>
                <a:srgbClr val="0000FF"/>
              </a:solidFill>
            </a:endParaRPr>
          </a:p>
        </p:txBody>
      </p:sp>
      <p:sp>
        <p:nvSpPr>
          <p:cNvPr id="277" name="Google Shape;277;g3b12fe420c2_0_246"/>
          <p:cNvSpPr txBox="1"/>
          <p:nvPr/>
        </p:nvSpPr>
        <p:spPr>
          <a:xfrm>
            <a:off x="7470613" y="4183575"/>
            <a:ext cx="2323800" cy="1077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n-US" sz="1600" u="sng">
                <a:solidFill>
                  <a:srgbClr val="0000FF"/>
                </a:solidFill>
                <a:highlight>
                  <a:srgbClr val="FFFFFF"/>
                </a:highlight>
              </a:rPr>
              <a:t>Numerical Variables:</a:t>
            </a:r>
            <a:endParaRPr b="1" sz="1600" u="sng">
              <a:solidFill>
                <a:srgbClr val="0000FF"/>
              </a:solidFill>
              <a:highlight>
                <a:srgbClr val="FFFFFF"/>
              </a:highlight>
            </a:endParaRPr>
          </a:p>
          <a:p>
            <a:pPr indent="-330200" lvl="0" marL="457200" rtl="0" algn="l">
              <a:lnSpc>
                <a:spcPct val="100000"/>
              </a:lnSpc>
              <a:spcBef>
                <a:spcPts val="1200"/>
              </a:spcBef>
              <a:spcAft>
                <a:spcPts val="0"/>
              </a:spcAft>
              <a:buClr>
                <a:schemeClr val="dk1"/>
              </a:buClr>
              <a:buSzPts val="1600"/>
              <a:buChar char="●"/>
            </a:pPr>
            <a:r>
              <a:rPr lang="en-US" sz="1600">
                <a:solidFill>
                  <a:schemeClr val="dk1"/>
                </a:solidFill>
                <a:highlight>
                  <a:srgbClr val="FFFFFF"/>
                </a:highlight>
              </a:rPr>
              <a:t>longitude </a:t>
            </a:r>
            <a:endParaRPr sz="1600">
              <a:solidFill>
                <a:schemeClr val="dk1"/>
              </a:solidFill>
              <a:highlight>
                <a:srgbClr val="FFFFFF"/>
              </a:highlight>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highlight>
                  <a:srgbClr val="FFFFFF"/>
                </a:highlight>
              </a:rPr>
              <a:t>latitude</a:t>
            </a:r>
            <a:endParaRPr/>
          </a:p>
        </p:txBody>
      </p:sp>
      <p:pic>
        <p:nvPicPr>
          <p:cNvPr id="278" name="Google Shape;278;g3b12fe420c2_0_246"/>
          <p:cNvPicPr preferRelativeResize="0"/>
          <p:nvPr/>
        </p:nvPicPr>
        <p:blipFill>
          <a:blip r:embed="rId3">
            <a:alphaModFix/>
          </a:blip>
          <a:stretch>
            <a:fillRect/>
          </a:stretch>
        </p:blipFill>
        <p:spPr>
          <a:xfrm>
            <a:off x="932600" y="2703825"/>
            <a:ext cx="3271501" cy="2123955"/>
          </a:xfrm>
          <a:prstGeom prst="rect">
            <a:avLst/>
          </a:prstGeom>
          <a:noFill/>
          <a:ln>
            <a:noFill/>
          </a:ln>
        </p:spPr>
      </p:pic>
      <p:sp>
        <p:nvSpPr>
          <p:cNvPr id="279" name="Google Shape;279;g3b12fe420c2_0_246"/>
          <p:cNvSpPr txBox="1"/>
          <p:nvPr/>
        </p:nvSpPr>
        <p:spPr>
          <a:xfrm>
            <a:off x="135750" y="4854109"/>
            <a:ext cx="4701900" cy="188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highlight>
                  <a:srgbClr val="FFFF00"/>
                </a:highlight>
              </a:rPr>
              <a:t>Although DBSCAN</a:t>
            </a:r>
            <a:r>
              <a:rPr lang="en-US">
                <a:solidFill>
                  <a:schemeClr val="dk1"/>
                </a:solidFill>
                <a:highlight>
                  <a:srgbClr val="FFFFFF"/>
                </a:highlight>
              </a:rPr>
              <a:t> is well-suited for detecting arbitrarily shaped clusters and filtering out noise, it did not perform effectively on this dataset. When applied to the spatial features (latitude and longitude), </a:t>
            </a:r>
            <a:r>
              <a:rPr lang="en-US">
                <a:solidFill>
                  <a:schemeClr val="dk1"/>
                </a:solidFill>
                <a:highlight>
                  <a:srgbClr val="FFFF00"/>
                </a:highlight>
              </a:rPr>
              <a:t>DBSCAN produced </a:t>
            </a:r>
            <a:r>
              <a:rPr b="1" lang="en-US">
                <a:solidFill>
                  <a:schemeClr val="dk1"/>
                </a:solidFill>
                <a:highlight>
                  <a:srgbClr val="FFFF00"/>
                </a:highlight>
              </a:rPr>
              <a:t>133 clusters</a:t>
            </a:r>
            <a:r>
              <a:rPr lang="en-US">
                <a:solidFill>
                  <a:schemeClr val="dk1"/>
                </a:solidFill>
                <a:highlight>
                  <a:srgbClr val="FFFF00"/>
                </a:highlight>
              </a:rPr>
              <a:t>, largely because the density of businesses varies greatly across San Diego.</a:t>
            </a:r>
            <a:r>
              <a:rPr lang="en-US">
                <a:solidFill>
                  <a:schemeClr val="dk1"/>
                </a:solidFill>
                <a:highlight>
                  <a:srgbClr val="FFFFFF"/>
                </a:highlight>
              </a:rPr>
              <a:t> Therefore, </a:t>
            </a:r>
            <a:r>
              <a:rPr b="1" lang="en-US">
                <a:solidFill>
                  <a:schemeClr val="dk1"/>
                </a:solidFill>
                <a:highlight>
                  <a:srgbClr val="FFFFFF"/>
                </a:highlight>
              </a:rPr>
              <a:t>K-Means was selected instead</a:t>
            </a:r>
            <a:r>
              <a:rPr lang="en-US">
                <a:solidFill>
                  <a:schemeClr val="dk1"/>
                </a:solidFill>
                <a:highlight>
                  <a:srgbClr val="FFFFFF"/>
                </a:highlight>
              </a:rPr>
              <a:t>.</a:t>
            </a:r>
            <a:endParaRPr/>
          </a:p>
        </p:txBody>
      </p:sp>
      <p:pic>
        <p:nvPicPr>
          <p:cNvPr id="280" name="Google Shape;280;g3b12fe420c2_0_246"/>
          <p:cNvPicPr preferRelativeResize="0"/>
          <p:nvPr/>
        </p:nvPicPr>
        <p:blipFill>
          <a:blip r:embed="rId4">
            <a:alphaModFix/>
          </a:blip>
          <a:stretch>
            <a:fillRect/>
          </a:stretch>
        </p:blipFill>
        <p:spPr>
          <a:xfrm>
            <a:off x="5999275" y="590900"/>
            <a:ext cx="4870250" cy="3571500"/>
          </a:xfrm>
          <a:prstGeom prst="rect">
            <a:avLst/>
          </a:prstGeom>
          <a:noFill/>
          <a:ln>
            <a:noFill/>
          </a:ln>
        </p:spPr>
      </p:pic>
      <p:pic>
        <p:nvPicPr>
          <p:cNvPr id="281" name="Google Shape;281;g3b12fe420c2_0_246"/>
          <p:cNvPicPr preferRelativeResize="0"/>
          <p:nvPr/>
        </p:nvPicPr>
        <p:blipFill>
          <a:blip r:embed="rId5">
            <a:alphaModFix/>
          </a:blip>
          <a:stretch>
            <a:fillRect/>
          </a:stretch>
        </p:blipFill>
        <p:spPr>
          <a:xfrm>
            <a:off x="5149350" y="5260875"/>
            <a:ext cx="6966326" cy="1503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cxnSp>
        <p:nvCxnSpPr>
          <p:cNvPr id="286" name="Google Shape;286;g3b148cf25cd_0_129"/>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287" name="Google Shape;287;g3b148cf25cd_0_129"/>
          <p:cNvSpPr/>
          <p:nvPr/>
        </p:nvSpPr>
        <p:spPr>
          <a:xfrm>
            <a:off x="-46750" y="0"/>
            <a:ext cx="52479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88" name="Google Shape;288;g3b148cf25cd_0_129"/>
          <p:cNvSpPr txBox="1"/>
          <p:nvPr/>
        </p:nvSpPr>
        <p:spPr>
          <a:xfrm>
            <a:off x="0" y="38125"/>
            <a:ext cx="3271500" cy="46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1" u="sng">
                <a:solidFill>
                  <a:srgbClr val="E69138"/>
                </a:solidFill>
                <a:latin typeface="Play"/>
                <a:ea typeface="Play"/>
                <a:cs typeface="Play"/>
                <a:sym typeface="Play"/>
              </a:rPr>
              <a:t>Statistical Data Analysis</a:t>
            </a:r>
            <a:endParaRPr>
              <a:solidFill>
                <a:srgbClr val="E69138"/>
              </a:solidFill>
            </a:endParaRPr>
          </a:p>
        </p:txBody>
      </p:sp>
      <p:sp>
        <p:nvSpPr>
          <p:cNvPr id="289" name="Google Shape;289;g3b148cf25cd_0_129"/>
          <p:cNvSpPr txBox="1"/>
          <p:nvPr/>
        </p:nvSpPr>
        <p:spPr>
          <a:xfrm>
            <a:off x="70150" y="1282311"/>
            <a:ext cx="5972400" cy="56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rgbClr val="1F77B4"/>
                </a:solidFill>
                <a:highlight>
                  <a:srgbClr val="FFFFFF"/>
                </a:highlight>
              </a:rPr>
              <a:t>0.       Cluster 0:</a:t>
            </a:r>
            <a:endParaRPr sz="1100">
              <a:solidFill>
                <a:srgbClr val="1F77B4"/>
              </a:solidFill>
              <a:highlight>
                <a:srgbClr val="FFFFFF"/>
              </a:highlight>
            </a:endParaRPr>
          </a:p>
          <a:p>
            <a:pPr indent="-298450" lvl="1" marL="914400" rtl="0" algn="l">
              <a:lnSpc>
                <a:spcPct val="115000"/>
              </a:lnSpc>
              <a:spcBef>
                <a:spcPts val="1200"/>
              </a:spcBef>
              <a:spcAft>
                <a:spcPts val="0"/>
              </a:spcAft>
              <a:buClr>
                <a:schemeClr val="dk1"/>
              </a:buClr>
              <a:buSzPts val="1100"/>
              <a:buChar char="○"/>
            </a:pPr>
            <a:r>
              <a:rPr lang="en-US" sz="1100">
                <a:solidFill>
                  <a:schemeClr val="dk1"/>
                </a:solidFill>
                <a:highlight>
                  <a:srgbClr val="FFFFFF"/>
                </a:highlight>
              </a:rPr>
              <a:t>Moderate-sized cluster</a:t>
            </a:r>
            <a:r>
              <a:rPr b="1" lang="en-US" sz="1100">
                <a:solidFill>
                  <a:schemeClr val="dk1"/>
                </a:solidFill>
                <a:highlight>
                  <a:srgbClr val="FFFFFF"/>
                </a:highlight>
              </a:rPr>
              <a:t> (23,754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Located around</a:t>
            </a:r>
            <a:r>
              <a:rPr b="1" lang="en-US" sz="1100">
                <a:solidFill>
                  <a:schemeClr val="dk1"/>
                </a:solidFill>
                <a:highlight>
                  <a:srgbClr val="FFFFFF"/>
                </a:highlight>
              </a:rPr>
              <a:t> 32.78° N, –117.23° W → </a:t>
            </a:r>
            <a:r>
              <a:rPr i="1" lang="en-US" sz="1100">
                <a:solidFill>
                  <a:schemeClr val="dk1"/>
                </a:solidFill>
                <a:highlight>
                  <a:srgbClr val="FFFFFF"/>
                </a:highlight>
              </a:rPr>
              <a:t>Central-West</a:t>
            </a:r>
            <a:r>
              <a:rPr lang="en-US" sz="1100">
                <a:solidFill>
                  <a:schemeClr val="dk1"/>
                </a:solidFill>
                <a:highlight>
                  <a:srgbClr val="FFFFFF"/>
                </a:highlight>
              </a:rPr>
              <a:t>.</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business age</a:t>
            </a:r>
            <a:r>
              <a:rPr b="1" lang="en-US" sz="1100">
                <a:solidFill>
                  <a:schemeClr val="dk1"/>
                </a:solidFill>
                <a:highlight>
                  <a:srgbClr val="FFFFFF"/>
                </a:highlight>
              </a:rPr>
              <a:t>: ~9.7 years </a:t>
            </a:r>
            <a:r>
              <a:rPr lang="en-US" sz="1100">
                <a:solidFill>
                  <a:schemeClr val="dk1"/>
                </a:solidFill>
                <a:highlight>
                  <a:srgbClr val="FFFFFF"/>
                </a:highlight>
              </a:rPr>
              <a:t>(older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population:</a:t>
            </a:r>
            <a:r>
              <a:rPr b="1" lang="en-US" sz="1100">
                <a:solidFill>
                  <a:schemeClr val="dk1"/>
                </a:solidFill>
                <a:highlight>
                  <a:srgbClr val="FFFFFF"/>
                </a:highlight>
              </a:rPr>
              <a:t> ~38k.</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Business density: </a:t>
            </a:r>
            <a:r>
              <a:rPr b="1" lang="en-US" sz="1100">
                <a:solidFill>
                  <a:schemeClr val="dk1"/>
                </a:solidFill>
                <a:highlight>
                  <a:srgbClr val="FFFFFF"/>
                </a:highlight>
              </a:rPr>
              <a:t>114.86 (high).</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Predominantly</a:t>
            </a:r>
            <a:r>
              <a:rPr b="1" lang="en-US" sz="1100">
                <a:solidFill>
                  <a:schemeClr val="dk1"/>
                </a:solidFill>
                <a:highlight>
                  <a:srgbClr val="FFFFFF"/>
                </a:highlight>
              </a:rPr>
              <a:t> professional, scientific, and technical services; </a:t>
            </a:r>
            <a:r>
              <a:rPr lang="en-US" sz="1100">
                <a:solidFill>
                  <a:schemeClr val="dk1"/>
                </a:solidFill>
                <a:highlight>
                  <a:srgbClr val="FFFFFF"/>
                </a:highlight>
              </a:rPr>
              <a:t>mostly</a:t>
            </a:r>
            <a:r>
              <a:rPr b="1" lang="en-US" sz="1100">
                <a:solidFill>
                  <a:schemeClr val="dk1"/>
                </a:solidFill>
                <a:highlight>
                  <a:srgbClr val="FFFFFF"/>
                </a:highlight>
              </a:rPr>
              <a:t> sole proprietorships.</a:t>
            </a:r>
            <a:endParaRPr b="1" sz="1100">
              <a:solidFill>
                <a:schemeClr val="dk1"/>
              </a:solidFill>
              <a:highlight>
                <a:srgbClr val="FFFFFF"/>
              </a:highlight>
            </a:endParaRPr>
          </a:p>
          <a:p>
            <a:pPr indent="0" lvl="0" marL="0" rtl="0" algn="l">
              <a:lnSpc>
                <a:spcPct val="115000"/>
              </a:lnSpc>
              <a:spcBef>
                <a:spcPts val="1200"/>
              </a:spcBef>
              <a:spcAft>
                <a:spcPts val="0"/>
              </a:spcAft>
              <a:buNone/>
            </a:pPr>
            <a:r>
              <a:rPr b="1" lang="en-US" sz="1100">
                <a:solidFill>
                  <a:srgbClr val="FF7F0E"/>
                </a:solidFill>
                <a:highlight>
                  <a:srgbClr val="FFFFFF"/>
                </a:highlight>
              </a:rPr>
              <a:t>1.       Cluster 1:</a:t>
            </a:r>
            <a:endParaRPr sz="1100">
              <a:solidFill>
                <a:srgbClr val="FF7F0E"/>
              </a:solidFill>
              <a:highlight>
                <a:srgbClr val="FFFFFF"/>
              </a:highlight>
            </a:endParaRPr>
          </a:p>
          <a:p>
            <a:pPr indent="-298450" lvl="1" marL="914400" rtl="0" algn="l">
              <a:lnSpc>
                <a:spcPct val="115000"/>
              </a:lnSpc>
              <a:spcBef>
                <a:spcPts val="1200"/>
              </a:spcBef>
              <a:spcAft>
                <a:spcPts val="0"/>
              </a:spcAft>
              <a:buClr>
                <a:schemeClr val="dk1"/>
              </a:buClr>
              <a:buSzPts val="1100"/>
              <a:buChar char="○"/>
            </a:pPr>
            <a:r>
              <a:rPr lang="en-US" sz="1100">
                <a:solidFill>
                  <a:schemeClr val="dk1"/>
                </a:solidFill>
                <a:highlight>
                  <a:srgbClr val="FFFFFF"/>
                </a:highlight>
              </a:rPr>
              <a:t>Largest cluster</a:t>
            </a:r>
            <a:r>
              <a:rPr b="1" lang="en-US" sz="1100">
                <a:solidFill>
                  <a:schemeClr val="dk1"/>
                </a:solidFill>
                <a:highlight>
                  <a:srgbClr val="FFFFFF"/>
                </a:highlight>
              </a:rPr>
              <a:t> (55,919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Located around</a:t>
            </a:r>
            <a:r>
              <a:rPr b="1" lang="en-US" sz="1100">
                <a:solidFill>
                  <a:schemeClr val="dk1"/>
                </a:solidFill>
                <a:highlight>
                  <a:srgbClr val="FFFFFF"/>
                </a:highlight>
              </a:rPr>
              <a:t> 32.75° N, –117.13° W </a:t>
            </a:r>
            <a:r>
              <a:rPr lang="en-US" sz="1100">
                <a:solidFill>
                  <a:schemeClr val="dk1"/>
                </a:solidFill>
                <a:highlight>
                  <a:srgbClr val="FFFFFF"/>
                </a:highlight>
              </a:rPr>
              <a:t>→ </a:t>
            </a:r>
            <a:r>
              <a:rPr i="1" lang="en-US" sz="1100">
                <a:solidFill>
                  <a:schemeClr val="dk1"/>
                </a:solidFill>
                <a:highlight>
                  <a:srgbClr val="FFFFFF"/>
                </a:highlight>
              </a:rPr>
              <a:t>Central-East</a:t>
            </a:r>
            <a:r>
              <a:rPr lang="en-US" sz="1100">
                <a:solidFill>
                  <a:schemeClr val="dk1"/>
                </a:solidFill>
                <a:highlight>
                  <a:srgbClr val="FFFFFF"/>
                </a:highlight>
              </a:rPr>
              <a:t>.</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business age:</a:t>
            </a:r>
            <a:r>
              <a:rPr b="1" lang="en-US" sz="1100">
                <a:solidFill>
                  <a:schemeClr val="dk1"/>
                </a:solidFill>
                <a:highlight>
                  <a:srgbClr val="FFFFFF"/>
                </a:highlight>
              </a:rPr>
              <a:t> ~8.8 years.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population:</a:t>
            </a:r>
            <a:r>
              <a:rPr b="1" lang="en-US" sz="1100">
                <a:solidFill>
                  <a:schemeClr val="dk1"/>
                </a:solidFill>
                <a:highlight>
                  <a:srgbClr val="FFFFFF"/>
                </a:highlight>
              </a:rPr>
              <a:t> ~43k.</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highlight>
                  <a:srgbClr val="FFFFFF"/>
                </a:highlight>
              </a:rPr>
              <a:t>Business density: 119.41</a:t>
            </a:r>
            <a:r>
              <a:rPr lang="en-US" sz="1100">
                <a:solidFill>
                  <a:schemeClr val="dk1"/>
                </a:solidFill>
                <a:highlight>
                  <a:srgbClr val="FFFFFF"/>
                </a:highlight>
              </a:rPr>
              <a:t> (slightly higher than Cluster 0).</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Mostly </a:t>
            </a:r>
            <a:r>
              <a:rPr b="1" lang="en-US" sz="1100">
                <a:solidFill>
                  <a:schemeClr val="dk1"/>
                </a:solidFill>
                <a:highlight>
                  <a:srgbClr val="FFFFFF"/>
                </a:highlight>
              </a:rPr>
              <a:t>professional, scientific, and technical services;</a:t>
            </a:r>
            <a:r>
              <a:rPr lang="en-US" sz="1100">
                <a:solidFill>
                  <a:schemeClr val="dk1"/>
                </a:solidFill>
                <a:highlight>
                  <a:srgbClr val="FFFFFF"/>
                </a:highlight>
              </a:rPr>
              <a:t> dominated by</a:t>
            </a:r>
            <a:r>
              <a:rPr b="1" lang="en-US" sz="1100">
                <a:solidFill>
                  <a:schemeClr val="dk1"/>
                </a:solidFill>
                <a:highlight>
                  <a:srgbClr val="FFFFFF"/>
                </a:highlight>
              </a:rPr>
              <a:t> sole proprietorships.</a:t>
            </a:r>
            <a:endParaRPr b="1" sz="1100">
              <a:solidFill>
                <a:schemeClr val="dk1"/>
              </a:solidFill>
              <a:highlight>
                <a:srgbClr val="FFFFFF"/>
              </a:highlight>
            </a:endParaRPr>
          </a:p>
          <a:p>
            <a:pPr indent="0" lvl="0" marL="0" rtl="0" algn="l">
              <a:lnSpc>
                <a:spcPct val="115000"/>
              </a:lnSpc>
              <a:spcBef>
                <a:spcPts val="1200"/>
              </a:spcBef>
              <a:spcAft>
                <a:spcPts val="0"/>
              </a:spcAft>
              <a:buNone/>
            </a:pPr>
            <a:r>
              <a:rPr b="1" lang="en-US" sz="1100">
                <a:solidFill>
                  <a:srgbClr val="D62728"/>
                </a:solidFill>
                <a:highlight>
                  <a:srgbClr val="FFFFFF"/>
                </a:highlight>
              </a:rPr>
              <a:t>2.        Cluster 2:</a:t>
            </a:r>
            <a:endParaRPr sz="1100">
              <a:solidFill>
                <a:srgbClr val="D62728"/>
              </a:solidFill>
              <a:highlight>
                <a:srgbClr val="FFFFFF"/>
              </a:highlight>
            </a:endParaRPr>
          </a:p>
          <a:p>
            <a:pPr indent="-298450" lvl="1" marL="914400" rtl="0" algn="l">
              <a:lnSpc>
                <a:spcPct val="115000"/>
              </a:lnSpc>
              <a:spcBef>
                <a:spcPts val="1200"/>
              </a:spcBef>
              <a:spcAft>
                <a:spcPts val="0"/>
              </a:spcAft>
              <a:buClr>
                <a:schemeClr val="dk1"/>
              </a:buClr>
              <a:buSzPts val="1100"/>
              <a:buChar char="○"/>
            </a:pPr>
            <a:r>
              <a:rPr lang="en-US" sz="1100">
                <a:solidFill>
                  <a:schemeClr val="dk1"/>
                </a:solidFill>
                <a:highlight>
                  <a:srgbClr val="FFFFFF"/>
                </a:highlight>
              </a:rPr>
              <a:t>Medium-sized cluster</a:t>
            </a:r>
            <a:r>
              <a:rPr b="1" lang="en-US" sz="1100">
                <a:solidFill>
                  <a:schemeClr val="dk1"/>
                </a:solidFill>
                <a:highlight>
                  <a:srgbClr val="FFFFFF"/>
                </a:highlight>
              </a:rPr>
              <a:t> (17,362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Located around </a:t>
            </a:r>
            <a:r>
              <a:rPr b="1" lang="en-US" sz="1100">
                <a:solidFill>
                  <a:schemeClr val="dk1"/>
                </a:solidFill>
                <a:highlight>
                  <a:srgbClr val="FFFFFF"/>
                </a:highlight>
              </a:rPr>
              <a:t>32.98° N, –117.10° W → </a:t>
            </a:r>
            <a:r>
              <a:rPr i="1" lang="en-US" sz="1100">
                <a:solidFill>
                  <a:schemeClr val="dk1"/>
                </a:solidFill>
                <a:highlight>
                  <a:srgbClr val="FFFFFF"/>
                </a:highlight>
              </a:rPr>
              <a:t>North-East</a:t>
            </a:r>
            <a:r>
              <a:rPr lang="en-US" sz="1100">
                <a:solidFill>
                  <a:schemeClr val="dk1"/>
                </a:solidFill>
                <a:highlight>
                  <a:srgbClr val="FFFFFF"/>
                </a:highlight>
              </a:rPr>
              <a:t>.</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business age:</a:t>
            </a:r>
            <a:r>
              <a:rPr b="1" lang="en-US" sz="1100">
                <a:solidFill>
                  <a:schemeClr val="dk1"/>
                </a:solidFill>
                <a:highlight>
                  <a:srgbClr val="FFFFFF"/>
                </a:highlight>
              </a:rPr>
              <a:t> ~9.3 years (older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population: </a:t>
            </a:r>
            <a:r>
              <a:rPr b="1" lang="en-US" sz="1100">
                <a:solidFill>
                  <a:schemeClr val="dk1"/>
                </a:solidFill>
                <a:highlight>
                  <a:srgbClr val="FFFFFF"/>
                </a:highlight>
              </a:rPr>
              <a:t>~53k.</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Business density:</a:t>
            </a:r>
            <a:r>
              <a:rPr b="1" lang="en-US" sz="1100">
                <a:solidFill>
                  <a:schemeClr val="dk1"/>
                </a:solidFill>
                <a:highlight>
                  <a:srgbClr val="FFFFFF"/>
                </a:highlight>
              </a:rPr>
              <a:t> 61.91 (moderate).</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Font typeface="Courier New"/>
              <a:buChar char="○"/>
            </a:pPr>
            <a:r>
              <a:rPr lang="en-US" sz="1100">
                <a:solidFill>
                  <a:schemeClr val="dk1"/>
                </a:solidFill>
                <a:highlight>
                  <a:srgbClr val="FFFFFF"/>
                </a:highlight>
              </a:rPr>
              <a:t>Primarily</a:t>
            </a:r>
            <a:r>
              <a:rPr b="1" lang="en-US" sz="1100">
                <a:solidFill>
                  <a:schemeClr val="dk1"/>
                </a:solidFill>
                <a:highlight>
                  <a:srgbClr val="FFFFFF"/>
                </a:highlight>
              </a:rPr>
              <a:t> professional, scientific, and technical services; </a:t>
            </a:r>
            <a:r>
              <a:rPr lang="en-US" sz="1100">
                <a:solidFill>
                  <a:schemeClr val="dk1"/>
                </a:solidFill>
                <a:highlight>
                  <a:srgbClr val="FFFFFF"/>
                </a:highlight>
              </a:rPr>
              <a:t>with many </a:t>
            </a:r>
            <a:r>
              <a:rPr b="1" lang="en-US" sz="1100">
                <a:solidFill>
                  <a:schemeClr val="dk1"/>
                </a:solidFill>
                <a:highlight>
                  <a:srgbClr val="FFFFFF"/>
                </a:highlight>
              </a:rPr>
              <a:t>sole proprietorships.</a:t>
            </a:r>
            <a:endParaRPr b="1" sz="1100">
              <a:solidFill>
                <a:schemeClr val="dk1"/>
              </a:solidFill>
              <a:highlight>
                <a:srgbClr val="FFFFFF"/>
              </a:highlight>
            </a:endParaRPr>
          </a:p>
        </p:txBody>
      </p:sp>
      <p:sp>
        <p:nvSpPr>
          <p:cNvPr id="290" name="Google Shape;290;g3b148cf25cd_0_129"/>
          <p:cNvSpPr txBox="1"/>
          <p:nvPr/>
        </p:nvSpPr>
        <p:spPr>
          <a:xfrm>
            <a:off x="6338968" y="27298"/>
            <a:ext cx="5972400" cy="688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100">
                <a:solidFill>
                  <a:srgbClr val="8C564B"/>
                </a:solidFill>
                <a:highlight>
                  <a:srgbClr val="FFFFFF"/>
                </a:highlight>
              </a:rPr>
              <a:t>3.        Cluster 3:</a:t>
            </a:r>
            <a:endParaRPr sz="1100">
              <a:solidFill>
                <a:srgbClr val="8C564B"/>
              </a:solidFill>
              <a:highlight>
                <a:srgbClr val="FFFFFF"/>
              </a:highlight>
            </a:endParaRPr>
          </a:p>
          <a:p>
            <a:pPr indent="-298450" lvl="1" marL="914400" rtl="0" algn="l">
              <a:lnSpc>
                <a:spcPct val="115000"/>
              </a:lnSpc>
              <a:spcBef>
                <a:spcPts val="1200"/>
              </a:spcBef>
              <a:spcAft>
                <a:spcPts val="0"/>
              </a:spcAft>
              <a:buClr>
                <a:schemeClr val="dk1"/>
              </a:buClr>
              <a:buSzPts val="1100"/>
              <a:buChar char="○"/>
            </a:pPr>
            <a:r>
              <a:rPr lang="en-US" sz="1100">
                <a:solidFill>
                  <a:schemeClr val="dk1"/>
                </a:solidFill>
                <a:highlight>
                  <a:srgbClr val="FFFFFF"/>
                </a:highlight>
              </a:rPr>
              <a:t>Smallest cluster</a:t>
            </a:r>
            <a:r>
              <a:rPr b="1" lang="en-US" sz="1100">
                <a:solidFill>
                  <a:schemeClr val="dk1"/>
                </a:solidFill>
                <a:highlight>
                  <a:srgbClr val="FFFFFF"/>
                </a:highlight>
              </a:rPr>
              <a:t> (2,454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Located around</a:t>
            </a:r>
            <a:r>
              <a:rPr b="1" lang="en-US" sz="1100">
                <a:solidFill>
                  <a:schemeClr val="dk1"/>
                </a:solidFill>
                <a:highlight>
                  <a:srgbClr val="FFFFFF"/>
                </a:highlight>
              </a:rPr>
              <a:t> 33.17° N, –117.27° W → </a:t>
            </a:r>
            <a:r>
              <a:rPr i="1" lang="en-US" sz="1100">
                <a:solidFill>
                  <a:schemeClr val="dk1"/>
                </a:solidFill>
                <a:highlight>
                  <a:srgbClr val="FFFFFF"/>
                </a:highlight>
              </a:rPr>
              <a:t>North-West</a:t>
            </a:r>
            <a:r>
              <a:rPr lang="en-US" sz="1100">
                <a:solidFill>
                  <a:schemeClr val="dk1"/>
                </a:solidFill>
                <a:highlight>
                  <a:srgbClr val="FFFFFF"/>
                </a:highlight>
              </a:rPr>
              <a:t>.</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business age:</a:t>
            </a:r>
            <a:r>
              <a:rPr b="1" lang="en-US" sz="1100">
                <a:solidFill>
                  <a:schemeClr val="dk1"/>
                </a:solidFill>
                <a:highlight>
                  <a:srgbClr val="FFFFFF"/>
                </a:highlight>
              </a:rPr>
              <a:t> ~8.4 years.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population:</a:t>
            </a:r>
            <a:r>
              <a:rPr b="1" lang="en-US" sz="1100">
                <a:solidFill>
                  <a:schemeClr val="dk1"/>
                </a:solidFill>
                <a:highlight>
                  <a:srgbClr val="FFFFFF"/>
                </a:highlight>
              </a:rPr>
              <a:t> ~41k.</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Business density: </a:t>
            </a:r>
            <a:r>
              <a:rPr b="1" lang="en-US" sz="1100">
                <a:solidFill>
                  <a:schemeClr val="dk1"/>
                </a:solidFill>
                <a:highlight>
                  <a:srgbClr val="FFFFFF"/>
                </a:highlight>
              </a:rPr>
              <a:t>5.36 </a:t>
            </a:r>
            <a:r>
              <a:rPr lang="en-US" sz="1100">
                <a:solidFill>
                  <a:schemeClr val="dk1"/>
                </a:solidFill>
                <a:highlight>
                  <a:srgbClr val="FFFFFF"/>
                </a:highlight>
              </a:rPr>
              <a:t>(very low; dispersed area).</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Primarily the </a:t>
            </a:r>
            <a:r>
              <a:rPr b="1" lang="en-US" sz="1100">
                <a:solidFill>
                  <a:schemeClr val="dk1"/>
                </a:solidFill>
                <a:highlight>
                  <a:srgbClr val="FFFFFF"/>
                </a:highlight>
              </a:rPr>
              <a:t>construction sector; </a:t>
            </a:r>
            <a:r>
              <a:rPr lang="en-US" sz="1100">
                <a:solidFill>
                  <a:schemeClr val="dk1"/>
                </a:solidFill>
                <a:highlight>
                  <a:srgbClr val="FFFFFF"/>
                </a:highlight>
              </a:rPr>
              <a:t>mostly </a:t>
            </a:r>
            <a:r>
              <a:rPr b="1" lang="en-US" sz="1100">
                <a:solidFill>
                  <a:schemeClr val="dk1"/>
                </a:solidFill>
                <a:highlight>
                  <a:srgbClr val="FFFFFF"/>
                </a:highlight>
              </a:rPr>
              <a:t>sole proprietorships.</a:t>
            </a:r>
            <a:endParaRPr b="1" sz="1100">
              <a:solidFill>
                <a:schemeClr val="dk1"/>
              </a:solidFill>
              <a:highlight>
                <a:srgbClr val="FFFFFF"/>
              </a:highlight>
            </a:endParaRPr>
          </a:p>
          <a:p>
            <a:pPr indent="0" lvl="0" marL="0" rtl="0" algn="l">
              <a:lnSpc>
                <a:spcPct val="115000"/>
              </a:lnSpc>
              <a:spcBef>
                <a:spcPts val="1200"/>
              </a:spcBef>
              <a:spcAft>
                <a:spcPts val="0"/>
              </a:spcAft>
              <a:buNone/>
            </a:pPr>
            <a:r>
              <a:rPr b="1" lang="en-US" sz="1100">
                <a:solidFill>
                  <a:srgbClr val="E377C2"/>
                </a:solidFill>
                <a:highlight>
                  <a:srgbClr val="FFFFFF"/>
                </a:highlight>
              </a:rPr>
              <a:t>4</a:t>
            </a:r>
            <a:r>
              <a:rPr b="1" lang="en-US" sz="1100">
                <a:solidFill>
                  <a:srgbClr val="E377C2"/>
                </a:solidFill>
                <a:highlight>
                  <a:srgbClr val="FFFFFF"/>
                </a:highlight>
              </a:rPr>
              <a:t>.        Cluster 4:</a:t>
            </a:r>
            <a:endParaRPr sz="1100">
              <a:solidFill>
                <a:srgbClr val="E377C2"/>
              </a:solidFill>
              <a:highlight>
                <a:srgbClr val="FFFFFF"/>
              </a:highlight>
            </a:endParaRPr>
          </a:p>
          <a:p>
            <a:pPr indent="-298450" lvl="1" marL="914400" rtl="0" algn="l">
              <a:lnSpc>
                <a:spcPct val="115000"/>
              </a:lnSpc>
              <a:spcBef>
                <a:spcPts val="1200"/>
              </a:spcBef>
              <a:spcAft>
                <a:spcPts val="0"/>
              </a:spcAft>
              <a:buClr>
                <a:schemeClr val="dk1"/>
              </a:buClr>
              <a:buSzPts val="1100"/>
              <a:buChar char="○"/>
            </a:pPr>
            <a:r>
              <a:rPr lang="en-US" sz="1100">
                <a:solidFill>
                  <a:schemeClr val="dk1"/>
                </a:solidFill>
                <a:highlight>
                  <a:srgbClr val="FFFFFF"/>
                </a:highlight>
              </a:rPr>
              <a:t>Medium-sized cluster</a:t>
            </a:r>
            <a:r>
              <a:rPr b="1" lang="en-US" sz="1100">
                <a:solidFill>
                  <a:schemeClr val="dk1"/>
                </a:solidFill>
                <a:highlight>
                  <a:srgbClr val="FFFFFF"/>
                </a:highlight>
              </a:rPr>
              <a:t> (15,850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Located around </a:t>
            </a:r>
            <a:r>
              <a:rPr b="1" lang="en-US" sz="1100">
                <a:solidFill>
                  <a:schemeClr val="dk1"/>
                </a:solidFill>
                <a:highlight>
                  <a:srgbClr val="FFFFFF"/>
                </a:highlight>
              </a:rPr>
              <a:t>32.63° N, –117.04° W → </a:t>
            </a:r>
            <a:r>
              <a:rPr i="1" lang="en-US" sz="1100">
                <a:solidFill>
                  <a:schemeClr val="dk1"/>
                </a:solidFill>
                <a:highlight>
                  <a:srgbClr val="FFFFFF"/>
                </a:highlight>
              </a:rPr>
              <a:t>South-East</a:t>
            </a:r>
            <a:r>
              <a:rPr lang="en-US" sz="1100">
                <a:solidFill>
                  <a:schemeClr val="dk1"/>
                </a:solidFill>
                <a:highlight>
                  <a:srgbClr val="FFFFFF"/>
                </a:highlight>
              </a:rPr>
              <a:t>.</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business age:</a:t>
            </a:r>
            <a:r>
              <a:rPr b="1" lang="en-US" sz="1100">
                <a:solidFill>
                  <a:schemeClr val="dk1"/>
                </a:solidFill>
                <a:highlight>
                  <a:srgbClr val="FFFFFF"/>
                </a:highlight>
              </a:rPr>
              <a:t> ~7.7 years</a:t>
            </a:r>
            <a:r>
              <a:rPr lang="en-US" sz="1100">
                <a:solidFill>
                  <a:schemeClr val="dk1"/>
                </a:solidFill>
                <a:highlight>
                  <a:srgbClr val="FFFFFF"/>
                </a:highlight>
              </a:rPr>
              <a:t> (younger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population:</a:t>
            </a:r>
            <a:r>
              <a:rPr b="1" lang="en-US" sz="1100">
                <a:solidFill>
                  <a:schemeClr val="dk1"/>
                </a:solidFill>
                <a:highlight>
                  <a:srgbClr val="FFFFFF"/>
                </a:highlight>
              </a:rPr>
              <a:t> ~70k </a:t>
            </a:r>
            <a:r>
              <a:rPr lang="en-US" sz="1100">
                <a:solidFill>
                  <a:schemeClr val="dk1"/>
                </a:solidFill>
                <a:highlight>
                  <a:srgbClr val="FFFFFF"/>
                </a:highlight>
              </a:rPr>
              <a:t>(highest population among clusters).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Business density: </a:t>
            </a:r>
            <a:r>
              <a:rPr b="1" lang="en-US" sz="1100">
                <a:solidFill>
                  <a:schemeClr val="dk1"/>
                </a:solidFill>
                <a:highlight>
                  <a:srgbClr val="FFFFFF"/>
                </a:highlight>
              </a:rPr>
              <a:t>52.18 </a:t>
            </a:r>
            <a:r>
              <a:rPr lang="en-US" sz="1100">
                <a:solidFill>
                  <a:schemeClr val="dk1"/>
                </a:solidFill>
                <a:highlight>
                  <a:srgbClr val="FFFFFF"/>
                </a:highlight>
              </a:rPr>
              <a:t>(moderate).</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Dominated by </a:t>
            </a:r>
            <a:r>
              <a:rPr b="1" lang="en-US" sz="1100">
                <a:solidFill>
                  <a:schemeClr val="dk1"/>
                </a:solidFill>
                <a:highlight>
                  <a:srgbClr val="FFFFFF"/>
                </a:highlight>
              </a:rPr>
              <a:t>retail trade, </a:t>
            </a:r>
            <a:r>
              <a:rPr lang="en-US" sz="1100">
                <a:solidFill>
                  <a:schemeClr val="dk1"/>
                </a:solidFill>
                <a:highlight>
                  <a:srgbClr val="FFFFFF"/>
                </a:highlight>
              </a:rPr>
              <a:t>mostly </a:t>
            </a:r>
            <a:r>
              <a:rPr b="1" lang="en-US" sz="1100">
                <a:solidFill>
                  <a:schemeClr val="dk1"/>
                </a:solidFill>
                <a:highlight>
                  <a:srgbClr val="FFFFFF"/>
                </a:highlight>
              </a:rPr>
              <a:t>sole proprietorships.</a:t>
            </a:r>
            <a:endParaRPr sz="1100">
              <a:solidFill>
                <a:schemeClr val="dk1"/>
              </a:solidFill>
              <a:highlight>
                <a:srgbClr val="FFFFFF"/>
              </a:highlight>
            </a:endParaRPr>
          </a:p>
          <a:p>
            <a:pPr indent="0" lvl="0" marL="0" rtl="0" algn="l">
              <a:lnSpc>
                <a:spcPct val="115000"/>
              </a:lnSpc>
              <a:spcBef>
                <a:spcPts val="1200"/>
              </a:spcBef>
              <a:spcAft>
                <a:spcPts val="0"/>
              </a:spcAft>
              <a:buNone/>
            </a:pPr>
            <a:r>
              <a:rPr b="1" lang="en-US" sz="1100">
                <a:solidFill>
                  <a:srgbClr val="A31515"/>
                </a:solidFill>
                <a:highlight>
                  <a:srgbClr val="FFFFFF"/>
                </a:highlight>
              </a:rPr>
              <a:t>5.</a:t>
            </a:r>
            <a:r>
              <a:rPr b="1" lang="en-US" sz="1100">
                <a:solidFill>
                  <a:srgbClr val="BCBD22"/>
                </a:solidFill>
                <a:highlight>
                  <a:srgbClr val="FFFFFF"/>
                </a:highlight>
              </a:rPr>
              <a:t>        Cluster 5:</a:t>
            </a:r>
            <a:endParaRPr sz="1100">
              <a:solidFill>
                <a:srgbClr val="BCBD22"/>
              </a:solidFill>
              <a:highlight>
                <a:srgbClr val="FFFFFF"/>
              </a:highlight>
            </a:endParaRPr>
          </a:p>
          <a:p>
            <a:pPr indent="-298450" lvl="1" marL="914400" rtl="0" algn="l">
              <a:lnSpc>
                <a:spcPct val="115000"/>
              </a:lnSpc>
              <a:spcBef>
                <a:spcPts val="1200"/>
              </a:spcBef>
              <a:spcAft>
                <a:spcPts val="0"/>
              </a:spcAft>
              <a:buClr>
                <a:schemeClr val="dk1"/>
              </a:buClr>
              <a:buSzPts val="1100"/>
              <a:buChar char="○"/>
            </a:pPr>
            <a:r>
              <a:rPr lang="en-US" sz="1100">
                <a:solidFill>
                  <a:schemeClr val="dk1"/>
                </a:solidFill>
                <a:highlight>
                  <a:srgbClr val="FFFFFF"/>
                </a:highlight>
              </a:rPr>
              <a:t>Medium-sized cluster</a:t>
            </a:r>
            <a:r>
              <a:rPr b="1" lang="en-US" sz="1100">
                <a:solidFill>
                  <a:schemeClr val="dk1"/>
                </a:solidFill>
                <a:highlight>
                  <a:srgbClr val="FFFFFF"/>
                </a:highlight>
              </a:rPr>
              <a:t> (17,391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Located around</a:t>
            </a:r>
            <a:r>
              <a:rPr b="1" lang="en-US" sz="1100">
                <a:solidFill>
                  <a:schemeClr val="dk1"/>
                </a:solidFill>
                <a:highlight>
                  <a:srgbClr val="FFFFFF"/>
                </a:highlight>
              </a:rPr>
              <a:t> 32.91° N, –117.20° W → </a:t>
            </a:r>
            <a:r>
              <a:rPr i="1" lang="en-US" sz="1100">
                <a:solidFill>
                  <a:schemeClr val="dk1"/>
                </a:solidFill>
                <a:highlight>
                  <a:srgbClr val="FFFFFF"/>
                </a:highlight>
              </a:rPr>
              <a:t>North-Central-West</a:t>
            </a:r>
            <a:r>
              <a:rPr lang="en-US" sz="1100">
                <a:solidFill>
                  <a:schemeClr val="dk1"/>
                </a:solidFill>
                <a:highlight>
                  <a:srgbClr val="FFFFFF"/>
                </a:highlight>
              </a:rPr>
              <a:t>.</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business age:</a:t>
            </a:r>
            <a:r>
              <a:rPr b="1" lang="en-US" sz="1100">
                <a:solidFill>
                  <a:schemeClr val="dk1"/>
                </a:solidFill>
                <a:highlight>
                  <a:srgbClr val="FFFFFF"/>
                </a:highlight>
              </a:rPr>
              <a:t> ~9.8 years</a:t>
            </a:r>
            <a:r>
              <a:rPr lang="en-US" sz="1100">
                <a:solidFill>
                  <a:schemeClr val="dk1"/>
                </a:solidFill>
                <a:highlight>
                  <a:srgbClr val="FFFFFF"/>
                </a:highlight>
              </a:rPr>
              <a:t> (oldest cluster overall).</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population: </a:t>
            </a:r>
            <a:r>
              <a:rPr b="1" lang="en-US" sz="1100">
                <a:solidFill>
                  <a:schemeClr val="dk1"/>
                </a:solidFill>
                <a:highlight>
                  <a:srgbClr val="FFFFFF"/>
                </a:highlight>
              </a:rPr>
              <a:t>~46k.</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Business density:</a:t>
            </a:r>
            <a:r>
              <a:rPr b="1" lang="en-US" sz="1100">
                <a:solidFill>
                  <a:schemeClr val="dk1"/>
                </a:solidFill>
                <a:highlight>
                  <a:srgbClr val="FFFFFF"/>
                </a:highlight>
              </a:rPr>
              <a:t> 227.83 </a:t>
            </a:r>
            <a:r>
              <a:rPr lang="en-US" sz="1100">
                <a:solidFill>
                  <a:schemeClr val="dk1"/>
                </a:solidFill>
                <a:highlight>
                  <a:srgbClr val="FFFFFF"/>
                </a:highlight>
              </a:rPr>
              <a:t>(highest density of all clusters).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Primarily </a:t>
            </a:r>
            <a:r>
              <a:rPr b="1" lang="en-US" sz="1100">
                <a:solidFill>
                  <a:schemeClr val="dk1"/>
                </a:solidFill>
                <a:highlight>
                  <a:srgbClr val="FFFFFF"/>
                </a:highlight>
              </a:rPr>
              <a:t>professional, scientific, and technical services; </a:t>
            </a:r>
            <a:r>
              <a:rPr lang="en-US" sz="1100">
                <a:solidFill>
                  <a:schemeClr val="dk1"/>
                </a:solidFill>
                <a:highlight>
                  <a:srgbClr val="FFFFFF"/>
                </a:highlight>
              </a:rPr>
              <a:t>mostly</a:t>
            </a:r>
            <a:r>
              <a:rPr b="1" lang="en-US" sz="1100">
                <a:solidFill>
                  <a:schemeClr val="dk1"/>
                </a:solidFill>
                <a:highlight>
                  <a:srgbClr val="FFFFFF"/>
                </a:highlight>
              </a:rPr>
              <a:t> sole proprietorships.</a:t>
            </a:r>
            <a:endParaRPr sz="1100">
              <a:solidFill>
                <a:schemeClr val="dk1"/>
              </a:solidFill>
              <a:highlight>
                <a:srgbClr val="FFFFFF"/>
              </a:highlight>
            </a:endParaRPr>
          </a:p>
          <a:p>
            <a:pPr indent="0" lvl="0" marL="0" rtl="0" algn="l">
              <a:lnSpc>
                <a:spcPct val="115000"/>
              </a:lnSpc>
              <a:spcBef>
                <a:spcPts val="1200"/>
              </a:spcBef>
              <a:spcAft>
                <a:spcPts val="0"/>
              </a:spcAft>
              <a:buNone/>
            </a:pPr>
            <a:r>
              <a:rPr b="1" lang="en-US" sz="1100">
                <a:solidFill>
                  <a:srgbClr val="17BECF"/>
                </a:solidFill>
                <a:highlight>
                  <a:srgbClr val="FFFFFF"/>
                </a:highlight>
              </a:rPr>
              <a:t>6.        Cluster 6:</a:t>
            </a:r>
            <a:endParaRPr sz="1100">
              <a:solidFill>
                <a:srgbClr val="17BECF"/>
              </a:solidFill>
              <a:highlight>
                <a:srgbClr val="FFFFFF"/>
              </a:highlight>
            </a:endParaRPr>
          </a:p>
          <a:p>
            <a:pPr indent="-298450" lvl="1" marL="914400" rtl="0" algn="l">
              <a:lnSpc>
                <a:spcPct val="115000"/>
              </a:lnSpc>
              <a:spcBef>
                <a:spcPts val="1200"/>
              </a:spcBef>
              <a:spcAft>
                <a:spcPts val="0"/>
              </a:spcAft>
              <a:buClr>
                <a:schemeClr val="dk1"/>
              </a:buClr>
              <a:buSzPts val="1100"/>
              <a:buChar char="○"/>
            </a:pPr>
            <a:r>
              <a:rPr lang="en-US" sz="1100">
                <a:solidFill>
                  <a:schemeClr val="dk1"/>
                </a:solidFill>
                <a:highlight>
                  <a:srgbClr val="FFFFFF"/>
                </a:highlight>
              </a:rPr>
              <a:t>Small-sized cluster</a:t>
            </a:r>
            <a:r>
              <a:rPr b="1" lang="en-US" sz="1100">
                <a:solidFill>
                  <a:schemeClr val="dk1"/>
                </a:solidFill>
                <a:highlight>
                  <a:srgbClr val="FFFFFF"/>
                </a:highlight>
              </a:rPr>
              <a:t> (5,084 businesses).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Located around </a:t>
            </a:r>
            <a:r>
              <a:rPr b="1" lang="en-US" sz="1100">
                <a:solidFill>
                  <a:schemeClr val="dk1"/>
                </a:solidFill>
                <a:highlight>
                  <a:srgbClr val="FFFFFF"/>
                </a:highlight>
              </a:rPr>
              <a:t>32.81° N, –116.94° W → </a:t>
            </a:r>
            <a:r>
              <a:rPr i="1" lang="en-US" sz="1100">
                <a:solidFill>
                  <a:schemeClr val="dk1"/>
                </a:solidFill>
                <a:highlight>
                  <a:srgbClr val="FFFFFF"/>
                </a:highlight>
              </a:rPr>
              <a:t>Central-East / East County edge</a:t>
            </a:r>
            <a:r>
              <a:rPr lang="en-US" sz="1100">
                <a:solidFill>
                  <a:schemeClr val="dk1"/>
                </a:solidFill>
                <a:highlight>
                  <a:srgbClr val="FFFFFF"/>
                </a:highlight>
              </a:rPr>
              <a:t>.</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business age: </a:t>
            </a:r>
            <a:r>
              <a:rPr b="1" lang="en-US" sz="1100">
                <a:solidFill>
                  <a:schemeClr val="dk1"/>
                </a:solidFill>
                <a:highlight>
                  <a:srgbClr val="FFFFFF"/>
                </a:highlight>
              </a:rPr>
              <a:t>~8.7 years.</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Average population:</a:t>
            </a:r>
            <a:r>
              <a:rPr b="1" lang="en-US" sz="1100">
                <a:solidFill>
                  <a:schemeClr val="dk1"/>
                </a:solidFill>
                <a:highlight>
                  <a:srgbClr val="FFFFFF"/>
                </a:highlight>
              </a:rPr>
              <a:t> ~46k.</a:t>
            </a:r>
            <a:endParaRPr b="1" sz="1100">
              <a:solidFill>
                <a:schemeClr val="dk1"/>
              </a:solidFill>
              <a:highlight>
                <a:srgbClr val="FFFFFF"/>
              </a:highlight>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highlight>
                  <a:srgbClr val="FFFFFF"/>
                </a:highlight>
              </a:rPr>
              <a:t>Business density: </a:t>
            </a:r>
            <a:r>
              <a:rPr b="1" lang="en-US" sz="1100">
                <a:solidFill>
                  <a:schemeClr val="dk1"/>
                </a:solidFill>
                <a:highlight>
                  <a:srgbClr val="FFFFFF"/>
                </a:highlight>
              </a:rPr>
              <a:t>22.60 </a:t>
            </a:r>
            <a:r>
              <a:rPr lang="en-US" sz="1100">
                <a:solidFill>
                  <a:schemeClr val="dk1"/>
                </a:solidFill>
                <a:highlight>
                  <a:srgbClr val="FFFFFF"/>
                </a:highlight>
              </a:rPr>
              <a:t>(low).</a:t>
            </a:r>
            <a:endParaRPr b="1" sz="1100">
              <a:solidFill>
                <a:schemeClr val="dk1"/>
              </a:solidFill>
              <a:highlight>
                <a:srgbClr val="FFFFFF"/>
              </a:highlight>
            </a:endParaRPr>
          </a:p>
          <a:p>
            <a:pPr indent="-298450" lvl="1" marL="914400" rtl="0" algn="l">
              <a:lnSpc>
                <a:spcPct val="115000"/>
              </a:lnSpc>
              <a:spcBef>
                <a:spcPts val="0"/>
              </a:spcBef>
              <a:spcAft>
                <a:spcPts val="1200"/>
              </a:spcAft>
              <a:buClr>
                <a:schemeClr val="dk1"/>
              </a:buClr>
              <a:buSzPts val="1100"/>
              <a:buChar char="○"/>
            </a:pPr>
            <a:r>
              <a:rPr lang="en-US" sz="1100">
                <a:solidFill>
                  <a:schemeClr val="dk1"/>
                </a:solidFill>
                <a:highlight>
                  <a:srgbClr val="FFFFFF"/>
                </a:highlight>
              </a:rPr>
              <a:t>Mainly</a:t>
            </a:r>
            <a:r>
              <a:rPr b="1" lang="en-US" sz="1100">
                <a:solidFill>
                  <a:schemeClr val="dk1"/>
                </a:solidFill>
                <a:highlight>
                  <a:srgbClr val="FFFFFF"/>
                </a:highlight>
              </a:rPr>
              <a:t> the construction sector, </a:t>
            </a:r>
            <a:r>
              <a:rPr lang="en-US" sz="1100">
                <a:solidFill>
                  <a:schemeClr val="dk1"/>
                </a:solidFill>
                <a:highlight>
                  <a:srgbClr val="FFFFFF"/>
                </a:highlight>
              </a:rPr>
              <a:t>dominated by </a:t>
            </a:r>
            <a:r>
              <a:rPr b="1" lang="en-US" sz="1100">
                <a:solidFill>
                  <a:schemeClr val="dk1"/>
                </a:solidFill>
                <a:highlight>
                  <a:srgbClr val="FFFFFF"/>
                </a:highlight>
              </a:rPr>
              <a:t>sole proprietorships.</a:t>
            </a:r>
            <a:endParaRPr b="1" sz="1100">
              <a:solidFill>
                <a:schemeClr val="dk1"/>
              </a:solidFill>
              <a:highlight>
                <a:srgbClr val="FFFFFF"/>
              </a:highlight>
            </a:endParaRPr>
          </a:p>
        </p:txBody>
      </p:sp>
      <p:sp>
        <p:nvSpPr>
          <p:cNvPr id="291" name="Google Shape;291;g3b148cf25cd_0_129"/>
          <p:cNvSpPr txBox="1"/>
          <p:nvPr/>
        </p:nvSpPr>
        <p:spPr>
          <a:xfrm>
            <a:off x="132500" y="752950"/>
            <a:ext cx="23982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US" u="sng">
                <a:solidFill>
                  <a:srgbClr val="0000FF"/>
                </a:solidFill>
                <a:highlight>
                  <a:srgbClr val="FFFFFF"/>
                </a:highlight>
              </a:rPr>
              <a:t>Interpretation of clusters</a:t>
            </a:r>
            <a:endParaRPr u="sng">
              <a:solidFill>
                <a:srgbClr val="0000FF"/>
              </a:solidFill>
            </a:endParaRPr>
          </a:p>
        </p:txBody>
      </p:sp>
      <p:pic>
        <p:nvPicPr>
          <p:cNvPr id="292" name="Google Shape;292;g3b148cf25cd_0_129"/>
          <p:cNvPicPr preferRelativeResize="0"/>
          <p:nvPr/>
        </p:nvPicPr>
        <p:blipFill>
          <a:blip r:embed="rId3">
            <a:alphaModFix/>
          </a:blip>
          <a:stretch>
            <a:fillRect/>
          </a:stretch>
        </p:blipFill>
        <p:spPr>
          <a:xfrm>
            <a:off x="3681700" y="38125"/>
            <a:ext cx="2360850" cy="1614525"/>
          </a:xfrm>
          <a:prstGeom prst="rect">
            <a:avLst/>
          </a:prstGeom>
          <a:noFill/>
          <a:ln cap="flat" cmpd="sng" w="9525">
            <a:solidFill>
              <a:srgbClr val="9900FF"/>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cxnSp>
        <p:nvCxnSpPr>
          <p:cNvPr id="297" name="Google Shape;297;g3b148cf25cd_0_73"/>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298" name="Google Shape;298;g3b148cf25cd_0_73"/>
          <p:cNvSpPr/>
          <p:nvPr/>
        </p:nvSpPr>
        <p:spPr>
          <a:xfrm>
            <a:off x="13150" y="0"/>
            <a:ext cx="51732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299" name="Google Shape;299;g3b148cf25cd_0_73"/>
          <p:cNvSpPr txBox="1"/>
          <p:nvPr/>
        </p:nvSpPr>
        <p:spPr>
          <a:xfrm>
            <a:off x="13153" y="17600"/>
            <a:ext cx="3312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Modeling &amp; Deployment</a:t>
            </a:r>
            <a:endParaRPr sz="1600" u="sng">
              <a:solidFill>
                <a:srgbClr val="E69138"/>
              </a:solidFill>
            </a:endParaRPr>
          </a:p>
        </p:txBody>
      </p:sp>
      <p:sp>
        <p:nvSpPr>
          <p:cNvPr id="300" name="Google Shape;300;g3b148cf25cd_0_73"/>
          <p:cNvSpPr txBox="1"/>
          <p:nvPr/>
        </p:nvSpPr>
        <p:spPr>
          <a:xfrm>
            <a:off x="4596000" y="430550"/>
            <a:ext cx="3000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US" sz="1600" u="sng">
                <a:solidFill>
                  <a:schemeClr val="dk1"/>
                </a:solidFill>
                <a:highlight>
                  <a:srgbClr val="FFFFFF"/>
                </a:highlight>
              </a:rPr>
              <a:t>Models’ Confusion Matrices: </a:t>
            </a:r>
            <a:endParaRPr b="1" sz="1600" u="sng">
              <a:solidFill>
                <a:schemeClr val="dk1"/>
              </a:solidFill>
              <a:highlight>
                <a:srgbClr val="FFFFFF"/>
              </a:highlight>
            </a:endParaRPr>
          </a:p>
        </p:txBody>
      </p:sp>
      <p:pic>
        <p:nvPicPr>
          <p:cNvPr id="301" name="Google Shape;301;g3b148cf25cd_0_73"/>
          <p:cNvPicPr preferRelativeResize="0"/>
          <p:nvPr/>
        </p:nvPicPr>
        <p:blipFill>
          <a:blip r:embed="rId3">
            <a:alphaModFix/>
          </a:blip>
          <a:stretch>
            <a:fillRect/>
          </a:stretch>
        </p:blipFill>
        <p:spPr>
          <a:xfrm>
            <a:off x="868624" y="960875"/>
            <a:ext cx="2857500" cy="2257425"/>
          </a:xfrm>
          <a:prstGeom prst="rect">
            <a:avLst/>
          </a:prstGeom>
          <a:noFill/>
          <a:ln>
            <a:noFill/>
          </a:ln>
        </p:spPr>
      </p:pic>
      <p:pic>
        <p:nvPicPr>
          <p:cNvPr id="302" name="Google Shape;302;g3b148cf25cd_0_73"/>
          <p:cNvPicPr preferRelativeResize="0"/>
          <p:nvPr/>
        </p:nvPicPr>
        <p:blipFill>
          <a:blip r:embed="rId4">
            <a:alphaModFix/>
          </a:blip>
          <a:stretch>
            <a:fillRect/>
          </a:stretch>
        </p:blipFill>
        <p:spPr>
          <a:xfrm>
            <a:off x="4578149" y="960875"/>
            <a:ext cx="2743200" cy="2200275"/>
          </a:xfrm>
          <a:prstGeom prst="rect">
            <a:avLst/>
          </a:prstGeom>
          <a:noFill/>
          <a:ln>
            <a:noFill/>
          </a:ln>
        </p:spPr>
      </p:pic>
      <p:pic>
        <p:nvPicPr>
          <p:cNvPr id="303" name="Google Shape;303;g3b148cf25cd_0_73"/>
          <p:cNvPicPr preferRelativeResize="0"/>
          <p:nvPr/>
        </p:nvPicPr>
        <p:blipFill>
          <a:blip r:embed="rId5">
            <a:alphaModFix/>
          </a:blip>
          <a:stretch>
            <a:fillRect/>
          </a:stretch>
        </p:blipFill>
        <p:spPr>
          <a:xfrm>
            <a:off x="8173374" y="756500"/>
            <a:ext cx="2981325" cy="2343150"/>
          </a:xfrm>
          <a:prstGeom prst="rect">
            <a:avLst/>
          </a:prstGeom>
          <a:noFill/>
          <a:ln>
            <a:noFill/>
          </a:ln>
        </p:spPr>
      </p:pic>
      <p:pic>
        <p:nvPicPr>
          <p:cNvPr id="304" name="Google Shape;304;g3b148cf25cd_0_73"/>
          <p:cNvPicPr preferRelativeResize="0"/>
          <p:nvPr/>
        </p:nvPicPr>
        <p:blipFill>
          <a:blip r:embed="rId6">
            <a:alphaModFix/>
          </a:blip>
          <a:stretch>
            <a:fillRect/>
          </a:stretch>
        </p:blipFill>
        <p:spPr>
          <a:xfrm>
            <a:off x="3048025" y="3825236"/>
            <a:ext cx="2981325" cy="2409564"/>
          </a:xfrm>
          <a:prstGeom prst="rect">
            <a:avLst/>
          </a:prstGeom>
          <a:noFill/>
          <a:ln>
            <a:noFill/>
          </a:ln>
        </p:spPr>
      </p:pic>
      <p:pic>
        <p:nvPicPr>
          <p:cNvPr id="305" name="Google Shape;305;g3b148cf25cd_0_73"/>
          <p:cNvPicPr preferRelativeResize="0"/>
          <p:nvPr/>
        </p:nvPicPr>
        <p:blipFill>
          <a:blip r:embed="rId7">
            <a:alphaModFix/>
          </a:blip>
          <a:stretch>
            <a:fillRect/>
          </a:stretch>
        </p:blipFill>
        <p:spPr>
          <a:xfrm>
            <a:off x="6839550" y="3815563"/>
            <a:ext cx="3028950" cy="2428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cxnSp>
        <p:nvCxnSpPr>
          <p:cNvPr id="310" name="Google Shape;310;g3b12fe420c2_0_125"/>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311" name="Google Shape;311;g3b12fe420c2_0_125"/>
          <p:cNvSpPr/>
          <p:nvPr/>
        </p:nvSpPr>
        <p:spPr>
          <a:xfrm>
            <a:off x="13150" y="0"/>
            <a:ext cx="51732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12" name="Google Shape;312;g3b12fe420c2_0_125"/>
          <p:cNvSpPr txBox="1"/>
          <p:nvPr/>
        </p:nvSpPr>
        <p:spPr>
          <a:xfrm>
            <a:off x="13153" y="17600"/>
            <a:ext cx="3312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Modeling &amp; Deployment</a:t>
            </a:r>
            <a:endParaRPr b="1" sz="1600" u="sng">
              <a:solidFill>
                <a:srgbClr val="E69138"/>
              </a:solidFill>
            </a:endParaRPr>
          </a:p>
        </p:txBody>
      </p:sp>
      <p:sp>
        <p:nvSpPr>
          <p:cNvPr id="313" name="Google Shape;313;g3b12fe420c2_0_125"/>
          <p:cNvSpPr txBox="1"/>
          <p:nvPr/>
        </p:nvSpPr>
        <p:spPr>
          <a:xfrm>
            <a:off x="4180500" y="143525"/>
            <a:ext cx="39834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US" sz="1600" u="sng">
                <a:solidFill>
                  <a:srgbClr val="0000FF"/>
                </a:solidFill>
                <a:highlight>
                  <a:srgbClr val="FFFFFF"/>
                </a:highlight>
              </a:rPr>
              <a:t>Models’ Metrics Comparison: </a:t>
            </a:r>
            <a:endParaRPr b="1" sz="1600" u="sng">
              <a:solidFill>
                <a:srgbClr val="0000FF"/>
              </a:solidFill>
              <a:highlight>
                <a:srgbClr val="FFFFFF"/>
              </a:highlight>
            </a:endParaRPr>
          </a:p>
        </p:txBody>
      </p:sp>
      <p:pic>
        <p:nvPicPr>
          <p:cNvPr id="314" name="Google Shape;314;g3b12fe420c2_0_125"/>
          <p:cNvPicPr preferRelativeResize="0"/>
          <p:nvPr/>
        </p:nvPicPr>
        <p:blipFill>
          <a:blip r:embed="rId3">
            <a:alphaModFix/>
          </a:blip>
          <a:stretch>
            <a:fillRect/>
          </a:stretch>
        </p:blipFill>
        <p:spPr>
          <a:xfrm>
            <a:off x="131875" y="574625"/>
            <a:ext cx="3517726" cy="2924401"/>
          </a:xfrm>
          <a:prstGeom prst="rect">
            <a:avLst/>
          </a:prstGeom>
          <a:noFill/>
          <a:ln cap="flat" cmpd="sng" w="9525">
            <a:solidFill>
              <a:srgbClr val="9900FF"/>
            </a:solidFill>
            <a:prstDash val="solid"/>
            <a:round/>
            <a:headEnd len="sm" w="sm" type="none"/>
            <a:tailEnd len="sm" w="sm" type="none"/>
          </a:ln>
        </p:spPr>
      </p:pic>
      <p:sp>
        <p:nvSpPr>
          <p:cNvPr id="315" name="Google Shape;315;g3b12fe420c2_0_125"/>
          <p:cNvSpPr txBox="1"/>
          <p:nvPr/>
        </p:nvSpPr>
        <p:spPr>
          <a:xfrm>
            <a:off x="90893" y="3674271"/>
            <a:ext cx="12039600" cy="3158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2400"/>
              </a:spcBef>
              <a:spcAft>
                <a:spcPts val="0"/>
              </a:spcAft>
              <a:buNone/>
            </a:pPr>
            <a:r>
              <a:rPr b="1" lang="en-US" sz="1600" u="sng">
                <a:solidFill>
                  <a:srgbClr val="0000FF"/>
                </a:solidFill>
              </a:rPr>
              <a:t>Model Comparison Summary </a:t>
            </a:r>
            <a:endParaRPr b="1" sz="1600" u="sng">
              <a:solidFill>
                <a:srgbClr val="0000FF"/>
              </a:solidFill>
            </a:endParaRPr>
          </a:p>
          <a:p>
            <a:pPr indent="0" lvl="0" marL="0" rtl="0" algn="l">
              <a:lnSpc>
                <a:spcPct val="115000"/>
              </a:lnSpc>
              <a:spcBef>
                <a:spcPts val="1200"/>
              </a:spcBef>
              <a:spcAft>
                <a:spcPts val="0"/>
              </a:spcAft>
              <a:buNone/>
            </a:pPr>
            <a:r>
              <a:rPr lang="en-US" sz="1600">
                <a:solidFill>
                  <a:schemeClr val="dk1"/>
                </a:solidFill>
              </a:rPr>
              <a:t>The comparison shows that </a:t>
            </a:r>
            <a:r>
              <a:rPr b="1" lang="en-US" sz="1600">
                <a:solidFill>
                  <a:schemeClr val="dk1"/>
                </a:solidFill>
              </a:rPr>
              <a:t>LightGBM and XGBoost outperform all other models</a:t>
            </a:r>
            <a:r>
              <a:rPr lang="en-US" sz="1600">
                <a:solidFill>
                  <a:schemeClr val="dk1"/>
                </a:solidFill>
              </a:rPr>
              <a:t> across every major metric. LightGBM slightly outperforms the others, achieving the highest accuracy (0.836) and ROC-AUC (0.911), which indicates that it distinguishes well between active and closed businesses while maintaining a strong overall performance. </a:t>
            </a:r>
            <a:endParaRPr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Logistic Regression</a:t>
            </a:r>
            <a:r>
              <a:rPr lang="en-US" sz="1600">
                <a:solidFill>
                  <a:schemeClr val="dk1"/>
                </a:solidFill>
              </a:rPr>
              <a:t> performs the worst across all metrics, suggesting that the relationships in the dataset are nonlinear and better captured by tree-based and boosting algorithms.</a:t>
            </a:r>
            <a:endParaRPr sz="1600">
              <a:solidFill>
                <a:schemeClr val="dk1"/>
              </a:solidFill>
            </a:endParaRPr>
          </a:p>
          <a:p>
            <a:pPr indent="0" lvl="0" marL="0" rtl="0" algn="l">
              <a:lnSpc>
                <a:spcPct val="115000"/>
              </a:lnSpc>
              <a:spcBef>
                <a:spcPts val="1200"/>
              </a:spcBef>
              <a:spcAft>
                <a:spcPts val="1200"/>
              </a:spcAft>
              <a:buNone/>
            </a:pPr>
            <a:r>
              <a:rPr lang="en-US" sz="1600">
                <a:solidFill>
                  <a:schemeClr val="dk1"/>
                </a:solidFill>
              </a:rPr>
              <a:t>Overall, </a:t>
            </a:r>
            <a:r>
              <a:rPr b="1" lang="en-US" sz="1600">
                <a:solidFill>
                  <a:schemeClr val="dk1"/>
                </a:solidFill>
              </a:rPr>
              <a:t>LightGBM is the best-performing model</a:t>
            </a:r>
            <a:r>
              <a:rPr lang="en-US" sz="1600">
                <a:solidFill>
                  <a:schemeClr val="dk1"/>
                </a:solidFill>
              </a:rPr>
              <a:t>,</a:t>
            </a:r>
            <a:r>
              <a:rPr lang="en-US" sz="1600">
                <a:solidFill>
                  <a:schemeClr val="dk1"/>
                </a:solidFill>
              </a:rPr>
              <a:t>achieving an accuracy of 83.6%, an F1 score of 0.793, and an ROC-AUC of 0.911, indicating strong predictive power for business survival. While precision (82.8%) is slightly higher than recall (76.0%), the model effectively balances false positives and false negatives, making it suitable for practical decision-making</a:t>
            </a:r>
            <a:endParaRPr sz="1600"/>
          </a:p>
        </p:txBody>
      </p:sp>
      <p:pic>
        <p:nvPicPr>
          <p:cNvPr id="316" name="Google Shape;316;g3b12fe420c2_0_125"/>
          <p:cNvPicPr preferRelativeResize="0"/>
          <p:nvPr/>
        </p:nvPicPr>
        <p:blipFill>
          <a:blip r:embed="rId4">
            <a:alphaModFix/>
          </a:blip>
          <a:stretch>
            <a:fillRect/>
          </a:stretch>
        </p:blipFill>
        <p:spPr>
          <a:xfrm>
            <a:off x="3833233" y="602098"/>
            <a:ext cx="4079950" cy="2911325"/>
          </a:xfrm>
          <a:prstGeom prst="rect">
            <a:avLst/>
          </a:prstGeom>
          <a:noFill/>
          <a:ln cap="flat" cmpd="sng" w="9525">
            <a:solidFill>
              <a:srgbClr val="9900FF"/>
            </a:solidFill>
            <a:prstDash val="solid"/>
            <a:round/>
            <a:headEnd len="sm" w="sm" type="none"/>
            <a:tailEnd len="sm" w="sm" type="none"/>
          </a:ln>
        </p:spPr>
      </p:pic>
      <p:sp>
        <p:nvSpPr>
          <p:cNvPr id="317" name="Google Shape;317;g3b12fe420c2_0_125"/>
          <p:cNvSpPr txBox="1"/>
          <p:nvPr/>
        </p:nvSpPr>
        <p:spPr>
          <a:xfrm>
            <a:off x="8107060" y="595127"/>
            <a:ext cx="3983400" cy="29244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US">
                <a:solidFill>
                  <a:schemeClr val="dk1"/>
                </a:solidFill>
              </a:rPr>
              <a:t>Summary for LightGBM</a:t>
            </a:r>
            <a:endParaRPr b="1">
              <a:solidFill>
                <a:schemeClr val="dk1"/>
              </a:solidFill>
            </a:endParaRPr>
          </a:p>
          <a:p>
            <a:pPr indent="-298450" lvl="0" marL="457200" rtl="0" algn="l">
              <a:lnSpc>
                <a:spcPct val="100000"/>
              </a:lnSpc>
              <a:spcBef>
                <a:spcPts val="1200"/>
              </a:spcBef>
              <a:spcAft>
                <a:spcPts val="0"/>
              </a:spcAft>
              <a:buClr>
                <a:schemeClr val="dk1"/>
              </a:buClr>
              <a:buSzPts val="1100"/>
              <a:buChar char="●"/>
            </a:pPr>
            <a:r>
              <a:rPr b="1" lang="en-US" sz="1100">
                <a:solidFill>
                  <a:schemeClr val="dk1"/>
                </a:solidFill>
              </a:rPr>
              <a:t>Best model</a:t>
            </a:r>
            <a:r>
              <a:rPr lang="en-US" sz="1100">
                <a:solidFill>
                  <a:schemeClr val="dk1"/>
                </a:solidFill>
              </a:rPr>
              <a:t> in your comparison based on </a:t>
            </a:r>
            <a:r>
              <a:rPr b="1" lang="en-US" sz="1100">
                <a:solidFill>
                  <a:schemeClr val="dk1"/>
                </a:solidFill>
              </a:rPr>
              <a:t>both Accuracy (0.836) and ROC-AUC (0.911)</a:t>
            </a:r>
            <a:r>
              <a:rPr lang="en-US" sz="1100">
                <a:solidFill>
                  <a:schemeClr val="dk1"/>
                </a:solidFill>
              </a:rPr>
              <a:t>.</a:t>
            </a:r>
            <a:br>
              <a:rPr lang="en-US"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US" sz="1100">
                <a:solidFill>
                  <a:schemeClr val="dk1"/>
                </a:solidFill>
              </a:rPr>
              <a:t>Strengths:</a:t>
            </a: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High overall accuracy</a:t>
            </a: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Strong balance between precision and recall (F1 = 0.793)</a:t>
            </a: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Excellent ability to distinguish surviving vs. closed businesses (ROC-AUC = 0.911)</a:t>
            </a:r>
            <a:br>
              <a:rPr lang="en-US"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US" sz="1100">
                <a:solidFill>
                  <a:schemeClr val="dk1"/>
                </a:solidFill>
              </a:rPr>
              <a:t>Weakness / caution:</a:t>
            </a: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Recall is slightly lower than precision → the model </a:t>
            </a:r>
            <a:r>
              <a:rPr b="1" lang="en-US" sz="1100">
                <a:solidFill>
                  <a:schemeClr val="dk1"/>
                </a:solidFill>
              </a:rPr>
              <a:t>misses ~24% of surviving businesses</a:t>
            </a:r>
            <a:r>
              <a:rPr lang="en-US" sz="1100">
                <a:solidFill>
                  <a:schemeClr val="dk1"/>
                </a:solidFill>
              </a:rPr>
              <a:t>.</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cxnSp>
        <p:nvCxnSpPr>
          <p:cNvPr id="322" name="Google Shape;322;g3b148cf25cd_0_82"/>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323" name="Google Shape;323;g3b148cf25cd_0_82"/>
          <p:cNvSpPr/>
          <p:nvPr/>
        </p:nvSpPr>
        <p:spPr>
          <a:xfrm>
            <a:off x="-17600" y="0"/>
            <a:ext cx="51015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24" name="Google Shape;324;g3b148cf25cd_0_82"/>
          <p:cNvSpPr txBox="1"/>
          <p:nvPr/>
        </p:nvSpPr>
        <p:spPr>
          <a:xfrm>
            <a:off x="-17600" y="17600"/>
            <a:ext cx="3312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Modeling &amp; Deployment</a:t>
            </a:r>
            <a:endParaRPr sz="1600" u="sng">
              <a:solidFill>
                <a:srgbClr val="E69138"/>
              </a:solidFill>
            </a:endParaRPr>
          </a:p>
        </p:txBody>
      </p:sp>
      <p:sp>
        <p:nvSpPr>
          <p:cNvPr id="325" name="Google Shape;325;g3b148cf25cd_0_82"/>
          <p:cNvSpPr txBox="1"/>
          <p:nvPr/>
        </p:nvSpPr>
        <p:spPr>
          <a:xfrm>
            <a:off x="4533025" y="656600"/>
            <a:ext cx="380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u="sng"/>
              <a:t>SHAP Analysis for Model Interpretability</a:t>
            </a:r>
            <a:endParaRPr sz="1600" u="sng"/>
          </a:p>
        </p:txBody>
      </p:sp>
      <p:pic>
        <p:nvPicPr>
          <p:cNvPr id="326" name="Google Shape;326;g3b148cf25cd_0_82"/>
          <p:cNvPicPr preferRelativeResize="0"/>
          <p:nvPr/>
        </p:nvPicPr>
        <p:blipFill>
          <a:blip r:embed="rId3">
            <a:alphaModFix/>
          </a:blip>
          <a:stretch>
            <a:fillRect/>
          </a:stretch>
        </p:blipFill>
        <p:spPr>
          <a:xfrm>
            <a:off x="9431393" y="1991784"/>
            <a:ext cx="2626800" cy="2128925"/>
          </a:xfrm>
          <a:prstGeom prst="rect">
            <a:avLst/>
          </a:prstGeom>
          <a:noFill/>
          <a:ln cap="flat" cmpd="sng" w="9525">
            <a:solidFill>
              <a:srgbClr val="9900FF"/>
            </a:solidFill>
            <a:prstDash val="solid"/>
            <a:round/>
            <a:headEnd len="sm" w="sm" type="none"/>
            <a:tailEnd len="sm" w="sm" type="none"/>
          </a:ln>
        </p:spPr>
      </p:pic>
      <p:sp>
        <p:nvSpPr>
          <p:cNvPr id="327" name="Google Shape;327;g3b148cf25cd_0_82"/>
          <p:cNvSpPr txBox="1"/>
          <p:nvPr/>
        </p:nvSpPr>
        <p:spPr>
          <a:xfrm>
            <a:off x="9431393" y="1035359"/>
            <a:ext cx="2274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u="sng">
                <a:solidFill>
                  <a:srgbClr val="9900FF"/>
                </a:solidFill>
                <a:highlight>
                  <a:srgbClr val="FFFFFF"/>
                </a:highlight>
              </a:rPr>
              <a:t>Relevant for Logistic Regression: </a:t>
            </a:r>
            <a:endParaRPr b="1" sz="1600"/>
          </a:p>
        </p:txBody>
      </p:sp>
      <p:pic>
        <p:nvPicPr>
          <p:cNvPr id="328" name="Google Shape;328;g3b148cf25cd_0_82"/>
          <p:cNvPicPr preferRelativeResize="0"/>
          <p:nvPr/>
        </p:nvPicPr>
        <p:blipFill>
          <a:blip r:embed="rId4">
            <a:alphaModFix/>
          </a:blip>
          <a:stretch>
            <a:fillRect/>
          </a:stretch>
        </p:blipFill>
        <p:spPr>
          <a:xfrm>
            <a:off x="-17600" y="1222950"/>
            <a:ext cx="8740627" cy="4704851"/>
          </a:xfrm>
          <a:prstGeom prst="rect">
            <a:avLst/>
          </a:prstGeom>
          <a:noFill/>
          <a:ln>
            <a:noFill/>
          </a:ln>
        </p:spPr>
      </p:pic>
      <p:sp>
        <p:nvSpPr>
          <p:cNvPr id="329" name="Google Shape;329;g3b148cf25cd_0_82"/>
          <p:cNvSpPr txBox="1"/>
          <p:nvPr/>
        </p:nvSpPr>
        <p:spPr>
          <a:xfrm>
            <a:off x="9607493" y="4400034"/>
            <a:ext cx="2274600" cy="14160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rgbClr val="9900FF"/>
                </a:solidFill>
                <a:highlight>
                  <a:srgbClr val="FFFFFF"/>
                </a:highlight>
              </a:rPr>
              <a:t>NOTE: </a:t>
            </a:r>
            <a:endParaRPr b="1" sz="1600">
              <a:solidFill>
                <a:srgbClr val="9900FF"/>
              </a:solidFill>
              <a:highlight>
                <a:srgbClr val="FFFFFF"/>
              </a:highlight>
            </a:endParaRPr>
          </a:p>
          <a:p>
            <a:pPr indent="0" lvl="0" marL="0" rtl="0" algn="ctr">
              <a:spcBef>
                <a:spcPts val="0"/>
              </a:spcBef>
              <a:spcAft>
                <a:spcPts val="0"/>
              </a:spcAft>
              <a:buNone/>
            </a:pPr>
            <a:r>
              <a:rPr b="1" lang="en-US" sz="1600">
                <a:solidFill>
                  <a:srgbClr val="1F1F1F"/>
                </a:solidFill>
                <a:highlight>
                  <a:srgbClr val="FFFFFF"/>
                </a:highlight>
              </a:rPr>
              <a:t>No Problematic </a:t>
            </a:r>
            <a:r>
              <a:rPr lang="en-US" sz="1600">
                <a:solidFill>
                  <a:srgbClr val="1F1F1F"/>
                </a:solidFill>
                <a:highlight>
                  <a:srgbClr val="FFFFFF"/>
                </a:highlight>
              </a:rPr>
              <a:t>Multicollinearity</a:t>
            </a:r>
            <a:endParaRPr sz="1600">
              <a:solidFill>
                <a:srgbClr val="1F1F1F"/>
              </a:solidFill>
              <a:highlight>
                <a:srgbClr val="FFFFFF"/>
              </a:highlight>
            </a:endParaRPr>
          </a:p>
          <a:p>
            <a:pPr indent="0" lvl="0" marL="0" rtl="0" algn="ctr">
              <a:spcBef>
                <a:spcPts val="0"/>
              </a:spcBef>
              <a:spcAft>
                <a:spcPts val="0"/>
              </a:spcAft>
              <a:buNone/>
            </a:pPr>
            <a:r>
              <a:rPr lang="en-US" sz="1600">
                <a:solidFill>
                  <a:srgbClr val="1F1F1F"/>
                </a:solidFill>
                <a:highlight>
                  <a:srgbClr val="FFFFFF"/>
                </a:highlight>
              </a:rPr>
              <a:t> </a:t>
            </a:r>
            <a:r>
              <a:rPr b="1" lang="en-US" sz="1600">
                <a:solidFill>
                  <a:srgbClr val="1F1F1F"/>
                </a:solidFill>
                <a:highlight>
                  <a:srgbClr val="FFFFFF"/>
                </a:highlight>
              </a:rPr>
              <a:t>(VIFs &lt; 5)</a:t>
            </a:r>
            <a:r>
              <a:rPr lang="en-US" sz="1600">
                <a:solidFill>
                  <a:srgbClr val="1F1F1F"/>
                </a:solidFill>
                <a:highlight>
                  <a:srgbClr val="FFFFFF"/>
                </a:highlight>
              </a:rPr>
              <a:t> in </a:t>
            </a:r>
            <a:endParaRPr sz="1600">
              <a:solidFill>
                <a:srgbClr val="1F1F1F"/>
              </a:solidFill>
              <a:highlight>
                <a:srgbClr val="FFFFFF"/>
              </a:highlight>
            </a:endParaRPr>
          </a:p>
          <a:p>
            <a:pPr indent="0" lvl="0" marL="0" rtl="0" algn="ctr">
              <a:spcBef>
                <a:spcPts val="0"/>
              </a:spcBef>
              <a:spcAft>
                <a:spcPts val="0"/>
              </a:spcAft>
              <a:buNone/>
            </a:pPr>
            <a:r>
              <a:rPr lang="en-US" sz="1600">
                <a:solidFill>
                  <a:srgbClr val="1F1F1F"/>
                </a:solidFill>
                <a:highlight>
                  <a:srgbClr val="FFFFFF"/>
                </a:highlight>
              </a:rPr>
              <a:t>numerical variables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 name="Shape 333"/>
        <p:cNvGrpSpPr/>
        <p:nvPr/>
      </p:nvGrpSpPr>
      <p:grpSpPr>
        <a:xfrm>
          <a:off x="0" y="0"/>
          <a:ext cx="0" cy="0"/>
          <a:chOff x="0" y="0"/>
          <a:chExt cx="0" cy="0"/>
        </a:xfrm>
      </p:grpSpPr>
      <p:cxnSp>
        <p:nvCxnSpPr>
          <p:cNvPr id="334" name="Google Shape;334;g3b12fe420c2_0_150"/>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335" name="Google Shape;335;g3b12fe420c2_0_150"/>
          <p:cNvSpPr/>
          <p:nvPr/>
        </p:nvSpPr>
        <p:spPr>
          <a:xfrm>
            <a:off x="-17600" y="0"/>
            <a:ext cx="51015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36" name="Google Shape;336;g3b12fe420c2_0_150"/>
          <p:cNvSpPr txBox="1"/>
          <p:nvPr/>
        </p:nvSpPr>
        <p:spPr>
          <a:xfrm>
            <a:off x="-17600" y="17600"/>
            <a:ext cx="3312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Modeling &amp; Deployment</a:t>
            </a:r>
            <a:endParaRPr sz="1600" u="sng">
              <a:solidFill>
                <a:srgbClr val="E69138"/>
              </a:solidFill>
            </a:endParaRPr>
          </a:p>
        </p:txBody>
      </p:sp>
      <p:sp>
        <p:nvSpPr>
          <p:cNvPr id="337" name="Google Shape;337;g3b12fe420c2_0_150"/>
          <p:cNvSpPr txBox="1"/>
          <p:nvPr/>
        </p:nvSpPr>
        <p:spPr>
          <a:xfrm>
            <a:off x="101840" y="745600"/>
            <a:ext cx="5894400" cy="5772000"/>
          </a:xfrm>
          <a:prstGeom prst="rect">
            <a:avLst/>
          </a:prstGeom>
          <a:noFill/>
          <a:ln>
            <a:noFill/>
          </a:ln>
        </p:spPr>
        <p:txBody>
          <a:bodyPr anchorCtr="0" anchor="t" bIns="91425" lIns="91425" spcFirstLastPara="1" rIns="91425" wrap="square" tIns="91425">
            <a:spAutoFit/>
          </a:bodyPr>
          <a:lstStyle/>
          <a:p>
            <a:pPr indent="-298450" lvl="0" marL="457200" rtl="0" algn="l">
              <a:lnSpc>
                <a:spcPct val="100000"/>
              </a:lnSpc>
              <a:spcBef>
                <a:spcPts val="1200"/>
              </a:spcBef>
              <a:spcAft>
                <a:spcPts val="0"/>
              </a:spcAft>
              <a:buClr>
                <a:schemeClr val="dk1"/>
              </a:buClr>
              <a:buSzPts val="1100"/>
              <a:buAutoNum type="arabicPeriod"/>
            </a:pPr>
            <a:r>
              <a:rPr b="1" lang="en-US" sz="1100">
                <a:solidFill>
                  <a:schemeClr val="dk1"/>
                </a:solidFill>
              </a:rPr>
              <a:t>Business age is the dominant predictor</a:t>
            </a:r>
            <a:br>
              <a:rPr b="1" lang="en-US" sz="1100">
                <a:solidFill>
                  <a:schemeClr val="dk1"/>
                </a:solidFill>
              </a:rPr>
            </a:b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i="1" lang="en-US" sz="1100">
                <a:solidFill>
                  <a:schemeClr val="dk1"/>
                </a:solidFill>
              </a:rPr>
              <a:t>num__business_age</a:t>
            </a:r>
            <a:r>
              <a:rPr lang="en-US" sz="1100">
                <a:solidFill>
                  <a:schemeClr val="dk1"/>
                </a:solidFill>
              </a:rPr>
              <a:t> is by far the most influential variable.</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Higher values (older businesses, shown in red) strongly push predictions toward </a:t>
            </a:r>
            <a:r>
              <a:rPr b="1" lang="en-US" sz="1100">
                <a:solidFill>
                  <a:schemeClr val="dk1"/>
                </a:solidFill>
              </a:rPr>
              <a:t>survival</a:t>
            </a:r>
            <a:r>
              <a:rPr lang="en-US" sz="1100">
                <a:solidFill>
                  <a:schemeClr val="dk1"/>
                </a:solidFill>
              </a:rPr>
              <a:t>.</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Younger businesses (blue) consistently push predictions toward </a:t>
            </a:r>
            <a:r>
              <a:rPr b="1" lang="en-US" sz="1100">
                <a:solidFill>
                  <a:schemeClr val="dk1"/>
                </a:solidFill>
              </a:rPr>
              <a:t>non-survival</a:t>
            </a:r>
            <a:r>
              <a:rPr lang="en-US" sz="1100">
                <a:solidFill>
                  <a:schemeClr val="dk1"/>
                </a:solidFill>
              </a:rPr>
              <a:t>.</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This indicates strong path dependence: longevity itself is a major signal of future survival.</a:t>
            </a:r>
            <a:br>
              <a:rPr lang="en-US"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b="1" lang="en-US" sz="1100">
                <a:solidFill>
                  <a:schemeClr val="dk1"/>
                </a:solidFill>
              </a:rPr>
              <a:t>Ownership structure meaningfully affects survival</a:t>
            </a:r>
            <a:br>
              <a:rPr b="1" lang="en-US" sz="1100">
                <a:solidFill>
                  <a:schemeClr val="dk1"/>
                </a:solidFill>
              </a:rPr>
            </a:b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rPr>
              <a:t>Sole proprietorships (SOLE)</a:t>
            </a:r>
            <a:r>
              <a:rPr lang="en-US" sz="1100">
                <a:solidFill>
                  <a:schemeClr val="dk1"/>
                </a:solidFill>
              </a:rPr>
              <a:t> tend to push predictions toward </a:t>
            </a:r>
            <a:r>
              <a:rPr b="1" lang="en-US" sz="1100">
                <a:solidFill>
                  <a:schemeClr val="dk1"/>
                </a:solidFill>
              </a:rPr>
              <a:t>non-survival</a:t>
            </a:r>
            <a:r>
              <a:rPr lang="en-US" sz="1100">
                <a:solidFill>
                  <a:schemeClr val="dk1"/>
                </a:solidFill>
              </a:rPr>
              <a:t>, especially at high values.</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rPr>
              <a:t>Corporations (CORP)</a:t>
            </a:r>
            <a:r>
              <a:rPr lang="en-US" sz="1100">
                <a:solidFill>
                  <a:schemeClr val="dk1"/>
                </a:solidFill>
              </a:rPr>
              <a:t> and </a:t>
            </a:r>
            <a:r>
              <a:rPr b="1" lang="en-US" sz="1100">
                <a:solidFill>
                  <a:schemeClr val="dk1"/>
                </a:solidFill>
              </a:rPr>
              <a:t>S-Corporations (SCORP)</a:t>
            </a:r>
            <a:r>
              <a:rPr lang="en-US" sz="1100">
                <a:solidFill>
                  <a:schemeClr val="dk1"/>
                </a:solidFill>
              </a:rPr>
              <a:t> generally push predictions toward </a:t>
            </a:r>
            <a:r>
              <a:rPr b="1" lang="en-US" sz="1100">
                <a:solidFill>
                  <a:schemeClr val="dk1"/>
                </a:solidFill>
              </a:rPr>
              <a:t>survival</a:t>
            </a:r>
            <a:r>
              <a:rPr lang="en-US" sz="1100">
                <a:solidFill>
                  <a:schemeClr val="dk1"/>
                </a:solidFill>
              </a:rPr>
              <a:t>.</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rPr>
              <a:t>LLCs</a:t>
            </a:r>
            <a:r>
              <a:rPr lang="en-US" sz="1100">
                <a:solidFill>
                  <a:schemeClr val="dk1"/>
                </a:solidFill>
              </a:rPr>
              <a:t> show a mild positive effect but are less influential than corporate structures.</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rPr>
              <a:t>Non-profit / other ownership (NO/PRF)</a:t>
            </a:r>
            <a:r>
              <a:rPr lang="en-US" sz="1100">
                <a:solidFill>
                  <a:schemeClr val="dk1"/>
                </a:solidFill>
              </a:rPr>
              <a:t> exhibits a strong positive SHAP impact, suggesting higher survival likelihood relative to the baseline.</a:t>
            </a:r>
            <a:br>
              <a:rPr lang="en-US"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b="1" lang="en-US" sz="1100">
                <a:solidFill>
                  <a:schemeClr val="dk1"/>
                </a:solidFill>
              </a:rPr>
              <a:t>Business density has a mixed but informative effect</a:t>
            </a:r>
            <a:br>
              <a:rPr b="1" lang="en-US" sz="1100">
                <a:solidFill>
                  <a:schemeClr val="dk1"/>
                </a:solidFill>
              </a:rPr>
            </a:br>
            <a:endParaRPr b="1" sz="1100">
              <a:solidFill>
                <a:schemeClr val="dk1"/>
              </a:solidFill>
            </a:endParaRPr>
          </a:p>
          <a:p>
            <a:pPr indent="-298450" lvl="1" marL="914400" rtl="0" algn="l">
              <a:lnSpc>
                <a:spcPct val="100000"/>
              </a:lnSpc>
              <a:spcBef>
                <a:spcPts val="0"/>
              </a:spcBef>
              <a:spcAft>
                <a:spcPts val="0"/>
              </a:spcAft>
              <a:buClr>
                <a:schemeClr val="dk1"/>
              </a:buClr>
              <a:buSzPts val="1100"/>
              <a:buChar char="○"/>
            </a:pPr>
            <a:r>
              <a:rPr i="1" lang="en-US" sz="1100">
                <a:solidFill>
                  <a:schemeClr val="dk1"/>
                </a:solidFill>
              </a:rPr>
              <a:t>num__business_density</a:t>
            </a:r>
            <a:r>
              <a:rPr lang="en-US" sz="1100">
                <a:solidFill>
                  <a:schemeClr val="dk1"/>
                </a:solidFill>
              </a:rPr>
              <a:t> shows both positive and negative SHAP values.</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Higher density can slightly improve survival (agglomeration effects), but the spread suggests competition effects may offset benefits in some areas.</a:t>
            </a:r>
            <a:endParaRPr sz="1100">
              <a:solidFill>
                <a:schemeClr val="dk1"/>
              </a:solidFill>
            </a:endParaRPr>
          </a:p>
        </p:txBody>
      </p:sp>
      <p:sp>
        <p:nvSpPr>
          <p:cNvPr id="338" name="Google Shape;338;g3b12fe420c2_0_150"/>
          <p:cNvSpPr txBox="1"/>
          <p:nvPr/>
        </p:nvSpPr>
        <p:spPr>
          <a:xfrm>
            <a:off x="6283271" y="745600"/>
            <a:ext cx="5802000" cy="5864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n-US" sz="1100">
                <a:solidFill>
                  <a:schemeClr val="dk1"/>
                </a:solidFill>
              </a:rPr>
              <a:t>4. </a:t>
            </a:r>
            <a:r>
              <a:rPr b="1" lang="en-US" sz="1100">
                <a:solidFill>
                  <a:schemeClr val="dk1"/>
                </a:solidFill>
              </a:rPr>
              <a:t>     </a:t>
            </a:r>
            <a:r>
              <a:rPr b="1" lang="en-US" sz="1100">
                <a:solidFill>
                  <a:schemeClr val="dk1"/>
                </a:solidFill>
              </a:rPr>
              <a:t>Industry (NAICS sector) matters, but less than age and ownership</a:t>
            </a:r>
            <a:endParaRPr b="1" sz="1100">
              <a:solidFill>
                <a:schemeClr val="dk1"/>
              </a:solidFill>
            </a:endParaRPr>
          </a:p>
          <a:p>
            <a:pPr indent="-298450" lvl="1" marL="914400" rtl="0" algn="l">
              <a:lnSpc>
                <a:spcPct val="100000"/>
              </a:lnSpc>
              <a:spcBef>
                <a:spcPts val="1200"/>
              </a:spcBef>
              <a:spcAft>
                <a:spcPts val="0"/>
              </a:spcAft>
              <a:buClr>
                <a:schemeClr val="dk1"/>
              </a:buClr>
              <a:buSzPts val="1100"/>
              <a:buChar char="○"/>
            </a:pPr>
            <a:r>
              <a:rPr b="1" lang="en-US" sz="1100">
                <a:solidFill>
                  <a:schemeClr val="dk1"/>
                </a:solidFill>
              </a:rPr>
              <a:t>Transportation &amp; Warehousing, </a:t>
            </a:r>
            <a:r>
              <a:rPr b="1" lang="en-US" sz="1100">
                <a:solidFill>
                  <a:schemeClr val="dk1"/>
                </a:solidFill>
              </a:rPr>
              <a:t>Professional, Scientific, and Technical Services</a:t>
            </a:r>
            <a:r>
              <a:rPr lang="en-US" sz="1100">
                <a:solidFill>
                  <a:schemeClr val="dk1"/>
                </a:solidFill>
              </a:rPr>
              <a:t> </a:t>
            </a:r>
            <a:r>
              <a:rPr lang="en-US" sz="1100">
                <a:solidFill>
                  <a:schemeClr val="dk1"/>
                </a:solidFill>
              </a:rPr>
              <a:t>and </a:t>
            </a:r>
            <a:r>
              <a:rPr b="1" lang="en-US" sz="1100">
                <a:solidFill>
                  <a:schemeClr val="dk1"/>
                </a:solidFill>
              </a:rPr>
              <a:t>Construction</a:t>
            </a:r>
            <a:r>
              <a:rPr lang="en-US" sz="1100">
                <a:solidFill>
                  <a:schemeClr val="dk1"/>
                </a:solidFill>
              </a:rPr>
              <a:t> tend to push predictions toward </a:t>
            </a:r>
            <a:r>
              <a:rPr b="1" lang="en-US" sz="1100">
                <a:solidFill>
                  <a:schemeClr val="dk1"/>
                </a:solidFill>
              </a:rPr>
              <a:t>non-survival</a:t>
            </a:r>
            <a:r>
              <a:rPr lang="en-US" sz="1100">
                <a:solidFill>
                  <a:schemeClr val="dk1"/>
                </a:solidFill>
              </a:rPr>
              <a:t>.</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rPr>
              <a:t>Health Care, Other Services &amp; Social Assistance</a:t>
            </a:r>
            <a:r>
              <a:rPr lang="en-US" sz="1100">
                <a:solidFill>
                  <a:schemeClr val="dk1"/>
                </a:solidFill>
              </a:rPr>
              <a:t> lean modestly toward </a:t>
            </a:r>
            <a:r>
              <a:rPr b="1" lang="en-US" sz="1100">
                <a:solidFill>
                  <a:schemeClr val="dk1"/>
                </a:solidFill>
              </a:rPr>
              <a:t>non-</a:t>
            </a:r>
            <a:r>
              <a:rPr b="1" lang="en-US" sz="1100">
                <a:solidFill>
                  <a:schemeClr val="dk1"/>
                </a:solidFill>
              </a:rPr>
              <a:t>survival</a:t>
            </a:r>
            <a:r>
              <a:rPr lang="en-US" sz="1100">
                <a:solidFill>
                  <a:schemeClr val="dk1"/>
                </a:solidFill>
              </a:rPr>
              <a:t>.</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b="1" lang="en-US" sz="1100">
                <a:solidFill>
                  <a:schemeClr val="dk1"/>
                </a:solidFill>
              </a:rPr>
              <a:t>Retail Trade</a:t>
            </a:r>
            <a:r>
              <a:rPr lang="en-US" sz="1100">
                <a:solidFill>
                  <a:schemeClr val="dk1"/>
                </a:solidFill>
              </a:rPr>
              <a:t> and </a:t>
            </a:r>
            <a:r>
              <a:rPr b="1" lang="en-US" sz="1100">
                <a:solidFill>
                  <a:schemeClr val="dk1"/>
                </a:solidFill>
              </a:rPr>
              <a:t>Administrative / Support Services</a:t>
            </a:r>
            <a:r>
              <a:rPr lang="en-US" sz="1100">
                <a:solidFill>
                  <a:schemeClr val="dk1"/>
                </a:solidFill>
              </a:rPr>
              <a:t> have relatively small but mostly negative impacts.</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Overall, sector effects are secondary compared to structural and temporal factors.</a:t>
            </a:r>
            <a:br>
              <a:rPr lang="en-US" sz="1100">
                <a:solidFill>
                  <a:schemeClr val="dk1"/>
                </a:solidFill>
              </a:rPr>
            </a:br>
            <a:endParaRPr sz="1100">
              <a:solidFill>
                <a:schemeClr val="dk1"/>
              </a:solidFill>
            </a:endParaRPr>
          </a:p>
          <a:p>
            <a:pPr indent="0" lvl="0" marL="0" rtl="0" algn="l">
              <a:lnSpc>
                <a:spcPct val="100000"/>
              </a:lnSpc>
              <a:spcBef>
                <a:spcPts val="1200"/>
              </a:spcBef>
              <a:spcAft>
                <a:spcPts val="0"/>
              </a:spcAft>
              <a:buNone/>
            </a:pPr>
            <a:r>
              <a:rPr lang="en-US" sz="1100">
                <a:solidFill>
                  <a:schemeClr val="dk1"/>
                </a:solidFill>
              </a:rPr>
              <a:t>5.</a:t>
            </a:r>
            <a:r>
              <a:rPr b="1" lang="en-US" sz="1100">
                <a:solidFill>
                  <a:schemeClr val="dk1"/>
                </a:solidFill>
              </a:rPr>
              <a:t>        </a:t>
            </a:r>
            <a:r>
              <a:rPr b="1" lang="en-US" sz="1100">
                <a:solidFill>
                  <a:schemeClr val="dk1"/>
                </a:solidFill>
              </a:rPr>
              <a:t>Geographic and demographic variables have limited influence</a:t>
            </a:r>
            <a:endParaRPr b="1" sz="1100">
              <a:solidFill>
                <a:schemeClr val="dk1"/>
              </a:solidFill>
            </a:endParaRPr>
          </a:p>
          <a:p>
            <a:pPr indent="-298450" lvl="1" marL="914400" rtl="0" algn="l">
              <a:lnSpc>
                <a:spcPct val="100000"/>
              </a:lnSpc>
              <a:spcBef>
                <a:spcPts val="1200"/>
              </a:spcBef>
              <a:spcAft>
                <a:spcPts val="0"/>
              </a:spcAft>
              <a:buClr>
                <a:schemeClr val="dk1"/>
              </a:buClr>
              <a:buSzPts val="1100"/>
              <a:buChar char="○"/>
            </a:pPr>
            <a:r>
              <a:rPr i="1" lang="en-US" sz="1100">
                <a:solidFill>
                  <a:schemeClr val="dk1"/>
                </a:solidFill>
              </a:rPr>
              <a:t>num__population</a:t>
            </a:r>
            <a:r>
              <a:rPr lang="en-US" sz="1100">
                <a:solidFill>
                  <a:schemeClr val="dk1"/>
                </a:solidFill>
              </a:rPr>
              <a:t>, </a:t>
            </a:r>
            <a:r>
              <a:rPr i="1" lang="en-US" sz="1100">
                <a:solidFill>
                  <a:schemeClr val="dk1"/>
                </a:solidFill>
              </a:rPr>
              <a:t>num__lat</a:t>
            </a:r>
            <a:r>
              <a:rPr lang="en-US" sz="1100">
                <a:solidFill>
                  <a:schemeClr val="dk1"/>
                </a:solidFill>
              </a:rPr>
              <a:t>, and </a:t>
            </a:r>
            <a:r>
              <a:rPr i="1" lang="en-US" sz="1100">
                <a:solidFill>
                  <a:schemeClr val="dk1"/>
                </a:solidFill>
              </a:rPr>
              <a:t>num__lng</a:t>
            </a:r>
            <a:r>
              <a:rPr lang="en-US" sz="1100">
                <a:solidFill>
                  <a:schemeClr val="dk1"/>
                </a:solidFill>
              </a:rPr>
              <a:t> show tight clustering around zero.</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This suggests location and population size contribute marginally once business characteristics are accounted for.</a:t>
            </a:r>
            <a:br>
              <a:rPr lang="en-US" sz="1100">
                <a:solidFill>
                  <a:schemeClr val="dk1"/>
                </a:solidFill>
              </a:rPr>
            </a:b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US" sz="1100">
                <a:solidFill>
                  <a:schemeClr val="dk1"/>
                </a:solidFill>
              </a:rPr>
              <a:t>Being located specifically in </a:t>
            </a:r>
            <a:r>
              <a:rPr b="1" lang="en-US" sz="1100">
                <a:solidFill>
                  <a:schemeClr val="dk1"/>
                </a:solidFill>
              </a:rPr>
              <a:t>San Diego</a:t>
            </a:r>
            <a:r>
              <a:rPr lang="en-US" sz="1100">
                <a:solidFill>
                  <a:schemeClr val="dk1"/>
                </a:solidFill>
              </a:rPr>
              <a:t> has only a minor directional effect.</a:t>
            </a:r>
            <a:br>
              <a:rPr lang="en-US" sz="1100">
                <a:solidFill>
                  <a:schemeClr val="dk1"/>
                </a:solidFill>
              </a:rPr>
            </a:br>
            <a:endParaRPr sz="1100">
              <a:solidFill>
                <a:schemeClr val="dk1"/>
              </a:solidFill>
            </a:endParaRPr>
          </a:p>
          <a:p>
            <a:pPr indent="0" lvl="0" marL="0" rtl="0" algn="l">
              <a:lnSpc>
                <a:spcPct val="100000"/>
              </a:lnSpc>
              <a:spcBef>
                <a:spcPts val="1200"/>
              </a:spcBef>
              <a:spcAft>
                <a:spcPts val="0"/>
              </a:spcAft>
              <a:buNone/>
            </a:pPr>
            <a:r>
              <a:rPr lang="en-US" sz="1100">
                <a:solidFill>
                  <a:schemeClr val="dk1"/>
                </a:solidFill>
              </a:rPr>
              <a:t>6.</a:t>
            </a:r>
            <a:r>
              <a:rPr b="1" lang="en-US" sz="1100">
                <a:solidFill>
                  <a:schemeClr val="dk1"/>
                </a:solidFill>
              </a:rPr>
              <a:t>        </a:t>
            </a:r>
            <a:r>
              <a:rPr b="1" lang="en-US" sz="1100">
                <a:solidFill>
                  <a:schemeClr val="dk1"/>
                </a:solidFill>
              </a:rPr>
              <a:t>Clear separation between high-impact and low-impact features</a:t>
            </a:r>
            <a:endParaRPr b="1" sz="1100">
              <a:solidFill>
                <a:schemeClr val="dk1"/>
              </a:solidFill>
            </a:endParaRPr>
          </a:p>
          <a:p>
            <a:pPr indent="-298450" lvl="1" marL="914400" rtl="0" algn="l">
              <a:lnSpc>
                <a:spcPct val="100000"/>
              </a:lnSpc>
              <a:spcBef>
                <a:spcPts val="1200"/>
              </a:spcBef>
              <a:spcAft>
                <a:spcPts val="0"/>
              </a:spcAft>
              <a:buClr>
                <a:schemeClr val="dk1"/>
              </a:buClr>
              <a:buSzPts val="1100"/>
              <a:buChar char="○"/>
            </a:pPr>
            <a:r>
              <a:rPr lang="en-US" sz="1100">
                <a:solidFill>
                  <a:schemeClr val="dk1"/>
                </a:solidFill>
              </a:rPr>
              <a:t>The steep drop-off after the top few variables indicates that:</a:t>
            </a:r>
            <a:br>
              <a:rPr lang="en-US" sz="1100">
                <a:solidFill>
                  <a:schemeClr val="dk1"/>
                </a:solidFill>
              </a:rPr>
            </a:br>
            <a:endParaRPr sz="1100">
              <a:solidFill>
                <a:schemeClr val="dk1"/>
              </a:solidFill>
            </a:endParaRPr>
          </a:p>
          <a:p>
            <a:pPr indent="-298450" lvl="2" marL="1371600" rtl="0" algn="l">
              <a:lnSpc>
                <a:spcPct val="100000"/>
              </a:lnSpc>
              <a:spcBef>
                <a:spcPts val="0"/>
              </a:spcBef>
              <a:spcAft>
                <a:spcPts val="0"/>
              </a:spcAft>
              <a:buClr>
                <a:schemeClr val="dk1"/>
              </a:buClr>
              <a:buSzPts val="1100"/>
              <a:buChar char="■"/>
            </a:pPr>
            <a:r>
              <a:rPr b="1" lang="en-US" sz="1100">
                <a:solidFill>
                  <a:schemeClr val="dk1"/>
                </a:solidFill>
              </a:rPr>
              <a:t>Business age and ownership type drive most predictive power</a:t>
            </a:r>
            <a:br>
              <a:rPr b="1" lang="en-US" sz="1100">
                <a:solidFill>
                  <a:schemeClr val="dk1"/>
                </a:solidFill>
              </a:rPr>
            </a:br>
            <a:endParaRPr b="1" sz="1100">
              <a:solidFill>
                <a:schemeClr val="dk1"/>
              </a:solidFill>
            </a:endParaRPr>
          </a:p>
          <a:p>
            <a:pPr indent="-298450" lvl="2" marL="1371600" rtl="0" algn="l">
              <a:lnSpc>
                <a:spcPct val="100000"/>
              </a:lnSpc>
              <a:spcBef>
                <a:spcPts val="0"/>
              </a:spcBef>
              <a:spcAft>
                <a:spcPts val="0"/>
              </a:spcAft>
              <a:buClr>
                <a:schemeClr val="dk1"/>
              </a:buClr>
              <a:buSzPts val="1100"/>
              <a:buChar char="■"/>
            </a:pPr>
            <a:r>
              <a:rPr lang="en-US" sz="1100">
                <a:solidFill>
                  <a:schemeClr val="dk1"/>
                </a:solidFill>
              </a:rPr>
              <a:t>Many other variables contribute only incremental refinements to the model</a:t>
            </a:r>
            <a:endParaRPr sz="1100">
              <a:solidFill>
                <a:schemeClr val="dk1"/>
              </a:solidFill>
            </a:endParaRPr>
          </a:p>
        </p:txBody>
      </p:sp>
      <p:sp>
        <p:nvSpPr>
          <p:cNvPr id="339" name="Google Shape;339;g3b12fe420c2_0_150"/>
          <p:cNvSpPr txBox="1"/>
          <p:nvPr/>
        </p:nvSpPr>
        <p:spPr>
          <a:xfrm>
            <a:off x="4438050" y="32900"/>
            <a:ext cx="4859100" cy="4311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1200"/>
              </a:spcAft>
              <a:buNone/>
            </a:pPr>
            <a:r>
              <a:rPr b="1" lang="en-US" sz="1600" u="sng">
                <a:solidFill>
                  <a:srgbClr val="0000FF"/>
                </a:solidFill>
              </a:rPr>
              <a:t>Key Findings from the SHAP Summary Plot</a:t>
            </a:r>
            <a:endParaRPr sz="1600" u="sng">
              <a:solidFill>
                <a:srgbClr val="0000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cxnSp>
        <p:nvCxnSpPr>
          <p:cNvPr id="344" name="Google Shape;344;g3b12fe420c2_0_167"/>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345" name="Google Shape;345;g3b12fe420c2_0_167"/>
          <p:cNvSpPr/>
          <p:nvPr/>
        </p:nvSpPr>
        <p:spPr>
          <a:xfrm>
            <a:off x="-17600" y="0"/>
            <a:ext cx="51015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46" name="Google Shape;346;g3b12fe420c2_0_167"/>
          <p:cNvSpPr txBox="1"/>
          <p:nvPr/>
        </p:nvSpPr>
        <p:spPr>
          <a:xfrm>
            <a:off x="-17600" y="17600"/>
            <a:ext cx="3312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Modeling &amp; Deployment</a:t>
            </a:r>
            <a:endParaRPr sz="1600" u="sng">
              <a:solidFill>
                <a:srgbClr val="E69138"/>
              </a:solidFill>
            </a:endParaRPr>
          </a:p>
        </p:txBody>
      </p:sp>
      <p:sp>
        <p:nvSpPr>
          <p:cNvPr id="347" name="Google Shape;347;g3b12fe420c2_0_167"/>
          <p:cNvSpPr txBox="1"/>
          <p:nvPr/>
        </p:nvSpPr>
        <p:spPr>
          <a:xfrm>
            <a:off x="296575" y="660875"/>
            <a:ext cx="2849700" cy="4311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1200"/>
              </a:spcAft>
              <a:buNone/>
            </a:pPr>
            <a:r>
              <a:rPr b="1" lang="en-US" sz="1600" u="sng">
                <a:solidFill>
                  <a:srgbClr val="0000FF"/>
                </a:solidFill>
              </a:rPr>
              <a:t>SHAP Variables Importance </a:t>
            </a:r>
            <a:endParaRPr sz="1600" u="sng">
              <a:solidFill>
                <a:srgbClr val="0000FF"/>
              </a:solidFill>
            </a:endParaRPr>
          </a:p>
        </p:txBody>
      </p:sp>
      <p:sp>
        <p:nvSpPr>
          <p:cNvPr id="348" name="Google Shape;348;g3b12fe420c2_0_167"/>
          <p:cNvSpPr txBox="1"/>
          <p:nvPr/>
        </p:nvSpPr>
        <p:spPr>
          <a:xfrm>
            <a:off x="8567700" y="1275150"/>
            <a:ext cx="3312600" cy="52335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US" sz="1600">
                <a:solidFill>
                  <a:schemeClr val="dk1"/>
                </a:solidFill>
              </a:rPr>
              <a:t>The model’s survival predictions are driven primarily by </a:t>
            </a:r>
            <a:r>
              <a:rPr b="1" lang="en-US" sz="1600">
                <a:solidFill>
                  <a:schemeClr val="dk1"/>
                </a:solidFill>
              </a:rPr>
              <a:t>structural stability (business age)</a:t>
            </a:r>
            <a:r>
              <a:rPr lang="en-US" sz="1600">
                <a:solidFill>
                  <a:schemeClr val="dk1"/>
                </a:solidFill>
              </a:rPr>
              <a:t> and </a:t>
            </a:r>
            <a:r>
              <a:rPr b="1" lang="en-US" sz="1600">
                <a:solidFill>
                  <a:schemeClr val="dk1"/>
                </a:solidFill>
              </a:rPr>
              <a:t>legal/organizational form</a:t>
            </a:r>
            <a:r>
              <a:rPr lang="en-US" sz="1600">
                <a:solidFill>
                  <a:schemeClr val="dk1"/>
                </a:solidFill>
              </a:rPr>
              <a:t>, while </a:t>
            </a:r>
            <a:r>
              <a:rPr b="1" lang="en-US" sz="1600">
                <a:solidFill>
                  <a:schemeClr val="dk1"/>
                </a:solidFill>
              </a:rPr>
              <a:t>industry context</a:t>
            </a:r>
            <a:r>
              <a:rPr lang="en-US" sz="1600">
                <a:solidFill>
                  <a:schemeClr val="dk1"/>
                </a:solidFill>
              </a:rPr>
              <a:t> plays a secondary role and </a:t>
            </a:r>
            <a:r>
              <a:rPr b="1" lang="en-US" sz="1600">
                <a:solidFill>
                  <a:schemeClr val="dk1"/>
                </a:solidFill>
              </a:rPr>
              <a:t>geography/demographics</a:t>
            </a:r>
            <a:r>
              <a:rPr lang="en-US" sz="1600">
                <a:solidFill>
                  <a:schemeClr val="dk1"/>
                </a:solidFill>
              </a:rPr>
              <a:t> add limited explanatory value. This suggests that </a:t>
            </a:r>
            <a:r>
              <a:rPr i="1" lang="en-US" sz="1600">
                <a:solidFill>
                  <a:schemeClr val="dk1"/>
                </a:solidFill>
              </a:rPr>
              <a:t>how long a business has existed and how it is organized matters more than where it is located or the local population context</a:t>
            </a:r>
            <a:r>
              <a:rPr lang="en-US" sz="1600">
                <a:solidFill>
                  <a:schemeClr val="dk1"/>
                </a:solidFill>
              </a:rPr>
              <a:t> when predicting survival.</a:t>
            </a:r>
            <a:endParaRPr sz="1600">
              <a:solidFill>
                <a:schemeClr val="dk1"/>
              </a:solidFill>
            </a:endParaRPr>
          </a:p>
        </p:txBody>
      </p:sp>
      <p:sp>
        <p:nvSpPr>
          <p:cNvPr id="349" name="Google Shape;349;g3b12fe420c2_0_167"/>
          <p:cNvSpPr txBox="1"/>
          <p:nvPr/>
        </p:nvSpPr>
        <p:spPr>
          <a:xfrm>
            <a:off x="9093000" y="660875"/>
            <a:ext cx="2262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US" sz="1600" u="sng">
                <a:solidFill>
                  <a:srgbClr val="9900FF"/>
                </a:solidFill>
              </a:rPr>
              <a:t>Overall Interpretation</a:t>
            </a:r>
            <a:endParaRPr u="sng">
              <a:solidFill>
                <a:srgbClr val="9900FF"/>
              </a:solidFill>
            </a:endParaRPr>
          </a:p>
        </p:txBody>
      </p:sp>
      <p:sp>
        <p:nvSpPr>
          <p:cNvPr id="350" name="Google Shape;350;g3b12fe420c2_0_167"/>
          <p:cNvSpPr txBox="1"/>
          <p:nvPr/>
        </p:nvSpPr>
        <p:spPr>
          <a:xfrm>
            <a:off x="221500" y="5351115"/>
            <a:ext cx="7732800" cy="143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u="sng">
                <a:solidFill>
                  <a:srgbClr val="0000FF"/>
                </a:solidFill>
              </a:rPr>
              <a:t>Key Takeaway</a:t>
            </a:r>
            <a:endParaRPr b="1" sz="1600" u="sng">
              <a:solidFill>
                <a:srgbClr val="0000FF"/>
              </a:solidFill>
            </a:endParaRPr>
          </a:p>
          <a:p>
            <a:pPr indent="0" lvl="0" marL="381000" marR="381000" rtl="0" algn="l">
              <a:lnSpc>
                <a:spcPct val="115000"/>
              </a:lnSpc>
              <a:spcBef>
                <a:spcPts val="1200"/>
              </a:spcBef>
              <a:spcAft>
                <a:spcPts val="1200"/>
              </a:spcAft>
              <a:buNone/>
            </a:pPr>
            <a:r>
              <a:rPr i="1" lang="en-US" sz="1600">
                <a:solidFill>
                  <a:schemeClr val="dk1"/>
                </a:solidFill>
              </a:rPr>
              <a:t>Business age overwhelmingly dominates model importance, followed by ownership structure. Industry classification and geographic variables contribute comparatively minor explanatory power.</a:t>
            </a:r>
            <a:endParaRPr i="1" sz="1600">
              <a:solidFill>
                <a:schemeClr val="dk1"/>
              </a:solidFill>
            </a:endParaRPr>
          </a:p>
        </p:txBody>
      </p:sp>
      <p:pic>
        <p:nvPicPr>
          <p:cNvPr id="351" name="Google Shape;351;g3b12fe420c2_0_167"/>
          <p:cNvPicPr preferRelativeResize="0"/>
          <p:nvPr/>
        </p:nvPicPr>
        <p:blipFill>
          <a:blip r:embed="rId3">
            <a:alphaModFix/>
          </a:blip>
          <a:stretch>
            <a:fillRect/>
          </a:stretch>
        </p:blipFill>
        <p:spPr>
          <a:xfrm>
            <a:off x="122325" y="1155650"/>
            <a:ext cx="7674401" cy="4274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5" name="Shape 355"/>
        <p:cNvGrpSpPr/>
        <p:nvPr/>
      </p:nvGrpSpPr>
      <p:grpSpPr>
        <a:xfrm>
          <a:off x="0" y="0"/>
          <a:ext cx="0" cy="0"/>
          <a:chOff x="0" y="0"/>
          <a:chExt cx="0" cy="0"/>
        </a:xfrm>
      </p:grpSpPr>
      <p:cxnSp>
        <p:nvCxnSpPr>
          <p:cNvPr id="356" name="Google Shape;356;g3b12fe420c2_0_186"/>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357" name="Google Shape;357;g3b12fe420c2_0_186"/>
          <p:cNvSpPr/>
          <p:nvPr/>
        </p:nvSpPr>
        <p:spPr>
          <a:xfrm>
            <a:off x="-17600" y="0"/>
            <a:ext cx="51015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58" name="Google Shape;358;g3b12fe420c2_0_186"/>
          <p:cNvSpPr txBox="1"/>
          <p:nvPr/>
        </p:nvSpPr>
        <p:spPr>
          <a:xfrm>
            <a:off x="-17600" y="17600"/>
            <a:ext cx="3312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Modeling &amp; Deployment</a:t>
            </a:r>
            <a:endParaRPr sz="1600" u="sng">
              <a:solidFill>
                <a:srgbClr val="E69138"/>
              </a:solidFill>
            </a:endParaRPr>
          </a:p>
        </p:txBody>
      </p:sp>
      <p:sp>
        <p:nvSpPr>
          <p:cNvPr id="359" name="Google Shape;359;g3b12fe420c2_0_186"/>
          <p:cNvSpPr txBox="1"/>
          <p:nvPr/>
        </p:nvSpPr>
        <p:spPr>
          <a:xfrm>
            <a:off x="245325" y="539600"/>
            <a:ext cx="3351300" cy="4311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1200"/>
              </a:spcAft>
              <a:buNone/>
            </a:pPr>
            <a:r>
              <a:rPr b="1" lang="en-US" sz="1600" u="sng">
                <a:solidFill>
                  <a:schemeClr val="hlink"/>
                </a:solidFill>
                <a:hlinkClick r:id="rId3"/>
              </a:rPr>
              <a:t>Predictive Model </a:t>
            </a:r>
            <a:r>
              <a:rPr b="1" lang="en-US" sz="1600" u="sng">
                <a:solidFill>
                  <a:schemeClr val="hlink"/>
                </a:solidFill>
                <a:hlinkClick r:id="rId4"/>
              </a:rPr>
              <a:t>Functionality</a:t>
            </a:r>
            <a:r>
              <a:rPr b="1" lang="en-US" sz="1600" u="sng">
                <a:solidFill>
                  <a:srgbClr val="0000FF"/>
                </a:solidFill>
              </a:rPr>
              <a:t> </a:t>
            </a:r>
            <a:r>
              <a:rPr b="1" lang="en-US" sz="1600" u="sng">
                <a:solidFill>
                  <a:srgbClr val="0000FF"/>
                </a:solidFill>
              </a:rPr>
              <a:t> </a:t>
            </a:r>
            <a:endParaRPr sz="1600" u="sng">
              <a:solidFill>
                <a:srgbClr val="0000FF"/>
              </a:solidFill>
            </a:endParaRPr>
          </a:p>
        </p:txBody>
      </p:sp>
      <p:pic>
        <p:nvPicPr>
          <p:cNvPr id="360" name="Google Shape;360;g3b12fe420c2_0_186"/>
          <p:cNvPicPr preferRelativeResize="0"/>
          <p:nvPr/>
        </p:nvPicPr>
        <p:blipFill>
          <a:blip r:embed="rId5">
            <a:alphaModFix/>
          </a:blip>
          <a:stretch>
            <a:fillRect/>
          </a:stretch>
        </p:blipFill>
        <p:spPr>
          <a:xfrm>
            <a:off x="6202375" y="683125"/>
            <a:ext cx="4919400" cy="2043900"/>
          </a:xfrm>
          <a:prstGeom prst="rect">
            <a:avLst/>
          </a:prstGeom>
          <a:noFill/>
          <a:ln>
            <a:noFill/>
          </a:ln>
        </p:spPr>
      </p:pic>
      <p:sp>
        <p:nvSpPr>
          <p:cNvPr id="361" name="Google Shape;361;g3b12fe420c2_0_186"/>
          <p:cNvSpPr txBox="1"/>
          <p:nvPr/>
        </p:nvSpPr>
        <p:spPr>
          <a:xfrm>
            <a:off x="5774275" y="138750"/>
            <a:ext cx="6003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chemeClr val="dk1"/>
                </a:solidFill>
                <a:latin typeface="Play"/>
                <a:ea typeface="Play"/>
                <a:cs typeface="Play"/>
                <a:sym typeface="Play"/>
              </a:rPr>
              <a:t>Testing Survival for the following business</a:t>
            </a:r>
            <a:endParaRPr sz="1600" u="sng"/>
          </a:p>
        </p:txBody>
      </p:sp>
      <p:sp>
        <p:nvSpPr>
          <p:cNvPr id="362" name="Google Shape;362;g3b12fe420c2_0_186"/>
          <p:cNvSpPr txBox="1"/>
          <p:nvPr/>
        </p:nvSpPr>
        <p:spPr>
          <a:xfrm>
            <a:off x="5884800" y="2809700"/>
            <a:ext cx="630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00FF"/>
                </a:solidFill>
              </a:rPr>
              <a:t>LNG Cluster, 8880 Rio San Diego Drive, Mission </a:t>
            </a:r>
            <a:r>
              <a:rPr b="1" lang="en-US">
                <a:solidFill>
                  <a:srgbClr val="0000FF"/>
                </a:solidFill>
              </a:rPr>
              <a:t>Valley Center</a:t>
            </a:r>
            <a:r>
              <a:rPr lang="en-US">
                <a:solidFill>
                  <a:srgbClr val="0000FF"/>
                </a:solidFill>
              </a:rPr>
              <a:t>, San Diego, CA 92108</a:t>
            </a:r>
            <a:endParaRPr>
              <a:solidFill>
                <a:srgbClr val="0000FF"/>
              </a:solidFill>
            </a:endParaRPr>
          </a:p>
        </p:txBody>
      </p:sp>
      <p:sp>
        <p:nvSpPr>
          <p:cNvPr id="363" name="Google Shape;363;g3b12fe420c2_0_186"/>
          <p:cNvSpPr txBox="1"/>
          <p:nvPr/>
        </p:nvSpPr>
        <p:spPr>
          <a:xfrm>
            <a:off x="535227" y="3671650"/>
            <a:ext cx="31149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u="sng">
                <a:solidFill>
                  <a:srgbClr val="9900FF"/>
                </a:solidFill>
              </a:rPr>
              <a:t>LNG Cluster Business Case</a:t>
            </a:r>
            <a:endParaRPr b="1" u="sng">
              <a:solidFill>
                <a:srgbClr val="9900FF"/>
              </a:solidFill>
            </a:endParaRPr>
          </a:p>
          <a:p>
            <a:pPr indent="0" lvl="0" marL="0" rtl="0" algn="l">
              <a:spcBef>
                <a:spcPts val="0"/>
              </a:spcBef>
              <a:spcAft>
                <a:spcPts val="0"/>
              </a:spcAft>
              <a:buNone/>
            </a:pPr>
            <a:r>
              <a:t/>
            </a:r>
            <a:endParaRPr b="1" u="sng"/>
          </a:p>
          <a:p>
            <a:pPr indent="0" lvl="0" marL="0" rtl="0" algn="l">
              <a:spcBef>
                <a:spcPts val="0"/>
              </a:spcBef>
              <a:spcAft>
                <a:spcPts val="0"/>
              </a:spcAft>
              <a:buNone/>
            </a:pPr>
            <a:r>
              <a:rPr b="1" lang="en-US"/>
              <a:t>Business Age: </a:t>
            </a:r>
            <a:r>
              <a:rPr lang="en-US"/>
              <a:t>20</a:t>
            </a:r>
            <a:endParaRPr/>
          </a:p>
          <a:p>
            <a:pPr indent="0" lvl="0" marL="0" rtl="0" algn="l">
              <a:spcBef>
                <a:spcPts val="0"/>
              </a:spcBef>
              <a:spcAft>
                <a:spcPts val="0"/>
              </a:spcAft>
              <a:buNone/>
            </a:pPr>
            <a:r>
              <a:rPr b="1" lang="en-US"/>
              <a:t>Population (ZIP 92108): </a:t>
            </a:r>
            <a:r>
              <a:rPr lang="en-US"/>
              <a:t>22,762</a:t>
            </a:r>
            <a:endParaRPr/>
          </a:p>
          <a:p>
            <a:pPr indent="0" lvl="0" marL="0" rtl="0" algn="l">
              <a:spcBef>
                <a:spcPts val="0"/>
              </a:spcBef>
              <a:spcAft>
                <a:spcPts val="0"/>
              </a:spcAft>
              <a:buNone/>
            </a:pPr>
            <a:r>
              <a:rPr b="1" lang="en-US"/>
              <a:t>Latitude: </a:t>
            </a:r>
            <a:r>
              <a:rPr lang="en-US"/>
              <a:t>32.7904</a:t>
            </a:r>
            <a:endParaRPr/>
          </a:p>
          <a:p>
            <a:pPr indent="0" lvl="0" marL="0" rtl="0" algn="l">
              <a:spcBef>
                <a:spcPts val="0"/>
              </a:spcBef>
              <a:spcAft>
                <a:spcPts val="0"/>
              </a:spcAft>
              <a:buNone/>
            </a:pPr>
            <a:r>
              <a:rPr b="1" lang="en-US"/>
              <a:t>Longitud:</a:t>
            </a:r>
            <a:r>
              <a:rPr lang="en-US"/>
              <a:t> -117.101</a:t>
            </a:r>
            <a:endParaRPr/>
          </a:p>
          <a:p>
            <a:pPr indent="0" lvl="0" marL="0" rtl="0" algn="l">
              <a:spcBef>
                <a:spcPts val="0"/>
              </a:spcBef>
              <a:spcAft>
                <a:spcPts val="0"/>
              </a:spcAft>
              <a:buNone/>
            </a:pPr>
            <a:r>
              <a:rPr b="1" lang="en-US"/>
              <a:t>Business Density</a:t>
            </a:r>
            <a:r>
              <a:rPr lang="en-US"/>
              <a:t>: 242.8</a:t>
            </a:r>
            <a:endParaRPr/>
          </a:p>
          <a:p>
            <a:pPr indent="0" lvl="0" marL="0" rtl="0" algn="l">
              <a:spcBef>
                <a:spcPts val="0"/>
              </a:spcBef>
              <a:spcAft>
                <a:spcPts val="0"/>
              </a:spcAft>
              <a:buNone/>
            </a:pPr>
            <a:r>
              <a:rPr b="1" lang="en-US"/>
              <a:t>Ownership Type:</a:t>
            </a:r>
            <a:r>
              <a:rPr lang="en-US"/>
              <a:t> NO/PRF</a:t>
            </a:r>
            <a:endParaRPr>
              <a:solidFill>
                <a:schemeClr val="dk1"/>
              </a:solidFill>
            </a:endParaRPr>
          </a:p>
          <a:p>
            <a:pPr indent="0" lvl="0" marL="0" rtl="0" algn="l">
              <a:spcBef>
                <a:spcPts val="0"/>
              </a:spcBef>
              <a:spcAft>
                <a:spcPts val="0"/>
              </a:spcAft>
              <a:buNone/>
            </a:pPr>
            <a:r>
              <a:rPr b="1" lang="en-US"/>
              <a:t>NAICS Sector:</a:t>
            </a:r>
            <a:r>
              <a:rPr lang="en-US"/>
              <a:t> Oil and Gas</a:t>
            </a:r>
            <a:endParaRPr/>
          </a:p>
          <a:p>
            <a:pPr indent="0" lvl="0" marL="0" rtl="0" algn="l">
              <a:spcBef>
                <a:spcPts val="0"/>
              </a:spcBef>
              <a:spcAft>
                <a:spcPts val="0"/>
              </a:spcAft>
              <a:buNone/>
            </a:pPr>
            <a:r>
              <a:rPr b="1" lang="en-US"/>
              <a:t>City:</a:t>
            </a:r>
            <a:r>
              <a:rPr lang="en-US"/>
              <a:t> </a:t>
            </a:r>
            <a:r>
              <a:rPr lang="en-US">
                <a:solidFill>
                  <a:schemeClr val="dk1"/>
                </a:solidFill>
              </a:rPr>
              <a:t>Valley Center</a:t>
            </a:r>
            <a:endParaRPr/>
          </a:p>
          <a:p>
            <a:pPr indent="0" lvl="0" marL="0" rtl="0" algn="l">
              <a:spcBef>
                <a:spcPts val="0"/>
              </a:spcBef>
              <a:spcAft>
                <a:spcPts val="0"/>
              </a:spcAft>
              <a:buNone/>
            </a:pPr>
            <a:r>
              <a:t/>
            </a:r>
            <a:endParaRPr/>
          </a:p>
        </p:txBody>
      </p:sp>
      <p:pic>
        <p:nvPicPr>
          <p:cNvPr id="364" name="Google Shape;364;g3b12fe420c2_0_186"/>
          <p:cNvPicPr preferRelativeResize="0"/>
          <p:nvPr/>
        </p:nvPicPr>
        <p:blipFill>
          <a:blip r:embed="rId6">
            <a:alphaModFix/>
          </a:blip>
          <a:stretch>
            <a:fillRect/>
          </a:stretch>
        </p:blipFill>
        <p:spPr>
          <a:xfrm>
            <a:off x="9629750" y="3282450"/>
            <a:ext cx="2276475" cy="1485900"/>
          </a:xfrm>
          <a:prstGeom prst="rect">
            <a:avLst/>
          </a:prstGeom>
          <a:noFill/>
          <a:ln cap="flat" cmpd="sng" w="9525">
            <a:solidFill>
              <a:srgbClr val="9900FF"/>
            </a:solidFill>
            <a:prstDash val="solid"/>
            <a:round/>
            <a:headEnd len="sm" w="sm" type="none"/>
            <a:tailEnd len="sm" w="sm" type="none"/>
          </a:ln>
        </p:spPr>
      </p:pic>
      <p:pic>
        <p:nvPicPr>
          <p:cNvPr id="365" name="Google Shape;365;g3b12fe420c2_0_186"/>
          <p:cNvPicPr preferRelativeResize="0"/>
          <p:nvPr/>
        </p:nvPicPr>
        <p:blipFill>
          <a:blip r:embed="rId7">
            <a:alphaModFix/>
          </a:blip>
          <a:stretch>
            <a:fillRect/>
          </a:stretch>
        </p:blipFill>
        <p:spPr>
          <a:xfrm>
            <a:off x="9641396" y="4871279"/>
            <a:ext cx="1590675" cy="609600"/>
          </a:xfrm>
          <a:prstGeom prst="rect">
            <a:avLst/>
          </a:prstGeom>
          <a:noFill/>
          <a:ln cap="flat" cmpd="sng" w="9525">
            <a:solidFill>
              <a:srgbClr val="9900FF"/>
            </a:solidFill>
            <a:prstDash val="solid"/>
            <a:round/>
            <a:headEnd len="sm" w="sm" type="none"/>
            <a:tailEnd len="sm" w="sm" type="none"/>
          </a:ln>
        </p:spPr>
      </p:pic>
      <p:pic>
        <p:nvPicPr>
          <p:cNvPr id="366" name="Google Shape;366;g3b12fe420c2_0_186"/>
          <p:cNvPicPr preferRelativeResize="0"/>
          <p:nvPr/>
        </p:nvPicPr>
        <p:blipFill>
          <a:blip r:embed="rId8">
            <a:alphaModFix/>
          </a:blip>
          <a:stretch>
            <a:fillRect/>
          </a:stretch>
        </p:blipFill>
        <p:spPr>
          <a:xfrm>
            <a:off x="5986111" y="3382325"/>
            <a:ext cx="3115000" cy="3403025"/>
          </a:xfrm>
          <a:prstGeom prst="rect">
            <a:avLst/>
          </a:prstGeom>
          <a:noFill/>
          <a:ln cap="flat" cmpd="sng" w="9525">
            <a:solidFill>
              <a:srgbClr val="9900FF"/>
            </a:solidFill>
            <a:prstDash val="solid"/>
            <a:round/>
            <a:headEnd len="sm" w="sm" type="none"/>
            <a:tailEnd len="sm" w="sm" type="none"/>
          </a:ln>
        </p:spPr>
      </p:pic>
      <p:pic>
        <p:nvPicPr>
          <p:cNvPr id="367" name="Google Shape;367;g3b12fe420c2_0_186"/>
          <p:cNvPicPr preferRelativeResize="0"/>
          <p:nvPr/>
        </p:nvPicPr>
        <p:blipFill>
          <a:blip r:embed="rId9">
            <a:alphaModFix/>
          </a:blip>
          <a:stretch>
            <a:fillRect/>
          </a:stretch>
        </p:blipFill>
        <p:spPr>
          <a:xfrm>
            <a:off x="132550" y="1091297"/>
            <a:ext cx="3464181" cy="2520050"/>
          </a:xfrm>
          <a:prstGeom prst="rect">
            <a:avLst/>
          </a:prstGeom>
          <a:noFill/>
          <a:ln>
            <a:noFill/>
          </a:ln>
        </p:spPr>
      </p:pic>
      <p:sp>
        <p:nvSpPr>
          <p:cNvPr id="368" name="Google Shape;368;g3b12fe420c2_0_186"/>
          <p:cNvSpPr txBox="1"/>
          <p:nvPr/>
        </p:nvSpPr>
        <p:spPr>
          <a:xfrm>
            <a:off x="9629750" y="5565950"/>
            <a:ext cx="2532600" cy="11082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NO/PRF:</a:t>
            </a:r>
            <a:r>
              <a:rPr lang="en-US" sz="1200">
                <a:solidFill>
                  <a:schemeClr val="dk1"/>
                </a:solidFill>
              </a:rPr>
              <a:t> No Public Filing” (sometimes interpreted as Not Registered / No Public Record / Foreign Entity) in the context of business datasets.</a:t>
            </a:r>
            <a:endParaRPr sz="12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2" name="Shape 372"/>
        <p:cNvGrpSpPr/>
        <p:nvPr/>
      </p:nvGrpSpPr>
      <p:grpSpPr>
        <a:xfrm>
          <a:off x="0" y="0"/>
          <a:ext cx="0" cy="0"/>
          <a:chOff x="0" y="0"/>
          <a:chExt cx="0" cy="0"/>
        </a:xfrm>
      </p:grpSpPr>
      <p:cxnSp>
        <p:nvCxnSpPr>
          <p:cNvPr id="373" name="Google Shape;373;g3b12fe420c2_0_227"/>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374" name="Google Shape;374;g3b12fe420c2_0_227"/>
          <p:cNvSpPr/>
          <p:nvPr/>
        </p:nvSpPr>
        <p:spPr>
          <a:xfrm>
            <a:off x="43900" y="38273"/>
            <a:ext cx="5101500" cy="6799200"/>
          </a:xfrm>
          <a:prstGeom prst="rect">
            <a:avLst/>
          </a:prstGeom>
          <a:solidFill>
            <a:schemeClr val="lt1"/>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75" name="Google Shape;375;g3b12fe420c2_0_227"/>
          <p:cNvSpPr txBox="1"/>
          <p:nvPr/>
        </p:nvSpPr>
        <p:spPr>
          <a:xfrm>
            <a:off x="33656" y="17600"/>
            <a:ext cx="3312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Modeling &amp; Deployment</a:t>
            </a:r>
            <a:endParaRPr sz="1600" u="sng">
              <a:solidFill>
                <a:srgbClr val="E69138"/>
              </a:solidFill>
            </a:endParaRPr>
          </a:p>
        </p:txBody>
      </p:sp>
      <p:pic>
        <p:nvPicPr>
          <p:cNvPr id="376" name="Google Shape;376;g3b12fe420c2_0_227"/>
          <p:cNvPicPr preferRelativeResize="0"/>
          <p:nvPr/>
        </p:nvPicPr>
        <p:blipFill>
          <a:blip r:embed="rId3">
            <a:alphaModFix/>
          </a:blip>
          <a:stretch>
            <a:fillRect/>
          </a:stretch>
        </p:blipFill>
        <p:spPr>
          <a:xfrm>
            <a:off x="6202375" y="683125"/>
            <a:ext cx="4919400" cy="2043900"/>
          </a:xfrm>
          <a:prstGeom prst="rect">
            <a:avLst/>
          </a:prstGeom>
          <a:noFill/>
          <a:ln>
            <a:noFill/>
          </a:ln>
        </p:spPr>
      </p:pic>
      <p:sp>
        <p:nvSpPr>
          <p:cNvPr id="377" name="Google Shape;377;g3b12fe420c2_0_227"/>
          <p:cNvSpPr txBox="1"/>
          <p:nvPr/>
        </p:nvSpPr>
        <p:spPr>
          <a:xfrm>
            <a:off x="5774275" y="138750"/>
            <a:ext cx="6003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chemeClr val="dk1"/>
                </a:solidFill>
                <a:latin typeface="Play"/>
                <a:ea typeface="Play"/>
                <a:cs typeface="Play"/>
                <a:sym typeface="Play"/>
              </a:rPr>
              <a:t>Testing Survival for the following business</a:t>
            </a:r>
            <a:endParaRPr sz="1600" u="sng"/>
          </a:p>
        </p:txBody>
      </p:sp>
      <p:sp>
        <p:nvSpPr>
          <p:cNvPr id="378" name="Google Shape;378;g3b12fe420c2_0_227"/>
          <p:cNvSpPr txBox="1"/>
          <p:nvPr/>
        </p:nvSpPr>
        <p:spPr>
          <a:xfrm>
            <a:off x="5884800" y="2809700"/>
            <a:ext cx="630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00FF"/>
                </a:solidFill>
              </a:rPr>
              <a:t>LNG Cluster, 8880 Rio San Diego Drive, Mission </a:t>
            </a:r>
            <a:r>
              <a:rPr b="1" lang="en-US">
                <a:solidFill>
                  <a:srgbClr val="0000FF"/>
                </a:solidFill>
              </a:rPr>
              <a:t>Valley Center</a:t>
            </a:r>
            <a:r>
              <a:rPr lang="en-US">
                <a:solidFill>
                  <a:srgbClr val="0000FF"/>
                </a:solidFill>
              </a:rPr>
              <a:t>, San Diego, CA 92108</a:t>
            </a:r>
            <a:endParaRPr>
              <a:solidFill>
                <a:srgbClr val="0000FF"/>
              </a:solidFill>
            </a:endParaRPr>
          </a:p>
        </p:txBody>
      </p:sp>
      <p:pic>
        <p:nvPicPr>
          <p:cNvPr id="379" name="Google Shape;379;g3b12fe420c2_0_227"/>
          <p:cNvPicPr preferRelativeResize="0"/>
          <p:nvPr/>
        </p:nvPicPr>
        <p:blipFill>
          <a:blip r:embed="rId4">
            <a:alphaModFix/>
          </a:blip>
          <a:stretch>
            <a:fillRect/>
          </a:stretch>
        </p:blipFill>
        <p:spPr>
          <a:xfrm>
            <a:off x="9629750" y="3282450"/>
            <a:ext cx="2276475" cy="1485900"/>
          </a:xfrm>
          <a:prstGeom prst="rect">
            <a:avLst/>
          </a:prstGeom>
          <a:noFill/>
          <a:ln cap="flat" cmpd="sng" w="9525">
            <a:solidFill>
              <a:srgbClr val="9900FF"/>
            </a:solidFill>
            <a:prstDash val="solid"/>
            <a:round/>
            <a:headEnd len="sm" w="sm" type="none"/>
            <a:tailEnd len="sm" w="sm" type="none"/>
          </a:ln>
        </p:spPr>
      </p:pic>
      <p:pic>
        <p:nvPicPr>
          <p:cNvPr id="380" name="Google Shape;380;g3b12fe420c2_0_227"/>
          <p:cNvPicPr preferRelativeResize="0"/>
          <p:nvPr/>
        </p:nvPicPr>
        <p:blipFill>
          <a:blip r:embed="rId5">
            <a:alphaModFix/>
          </a:blip>
          <a:stretch>
            <a:fillRect/>
          </a:stretch>
        </p:blipFill>
        <p:spPr>
          <a:xfrm>
            <a:off x="9641396" y="4871279"/>
            <a:ext cx="1590675" cy="609600"/>
          </a:xfrm>
          <a:prstGeom prst="rect">
            <a:avLst/>
          </a:prstGeom>
          <a:noFill/>
          <a:ln cap="flat" cmpd="sng" w="9525">
            <a:solidFill>
              <a:srgbClr val="9900FF"/>
            </a:solidFill>
            <a:prstDash val="solid"/>
            <a:round/>
            <a:headEnd len="sm" w="sm" type="none"/>
            <a:tailEnd len="sm" w="sm" type="none"/>
          </a:ln>
        </p:spPr>
      </p:pic>
      <p:pic>
        <p:nvPicPr>
          <p:cNvPr id="381" name="Google Shape;381;g3b12fe420c2_0_227"/>
          <p:cNvPicPr preferRelativeResize="0"/>
          <p:nvPr/>
        </p:nvPicPr>
        <p:blipFill>
          <a:blip r:embed="rId6">
            <a:alphaModFix/>
          </a:blip>
          <a:stretch>
            <a:fillRect/>
          </a:stretch>
        </p:blipFill>
        <p:spPr>
          <a:xfrm>
            <a:off x="5997562" y="3382325"/>
            <a:ext cx="3115000" cy="3403025"/>
          </a:xfrm>
          <a:prstGeom prst="rect">
            <a:avLst/>
          </a:prstGeom>
          <a:noFill/>
          <a:ln cap="flat" cmpd="sng" w="9525">
            <a:solidFill>
              <a:srgbClr val="9900FF"/>
            </a:solidFill>
            <a:prstDash val="solid"/>
            <a:round/>
            <a:headEnd len="sm" w="sm" type="none"/>
            <a:tailEnd len="sm" w="sm" type="none"/>
          </a:ln>
        </p:spPr>
      </p:pic>
      <p:sp>
        <p:nvSpPr>
          <p:cNvPr id="382" name="Google Shape;382;g3b12fe420c2_0_227"/>
          <p:cNvSpPr txBox="1"/>
          <p:nvPr/>
        </p:nvSpPr>
        <p:spPr>
          <a:xfrm>
            <a:off x="174284" y="3671625"/>
            <a:ext cx="4837800" cy="30708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500">
                <a:solidFill>
                  <a:schemeClr val="dk1"/>
                </a:solidFill>
              </a:rPr>
              <a:t>Considering the business profile, the model predicts an </a:t>
            </a:r>
            <a:r>
              <a:rPr b="1" lang="en-US" sz="1500">
                <a:solidFill>
                  <a:schemeClr val="dk1"/>
                </a:solidFill>
              </a:rPr>
              <a:t>87.9% probability of survival</a:t>
            </a:r>
            <a:r>
              <a:rPr lang="en-US" sz="1500">
                <a:solidFill>
                  <a:schemeClr val="dk1"/>
                </a:solidFill>
              </a:rPr>
              <a:t> and a </a:t>
            </a:r>
            <a:r>
              <a:rPr b="1" lang="en-US" sz="1500">
                <a:solidFill>
                  <a:schemeClr val="dk1"/>
                </a:solidFill>
              </a:rPr>
              <a:t>12.1% probability of failure</a:t>
            </a:r>
            <a:r>
              <a:rPr lang="en-US" sz="1500">
                <a:solidFill>
                  <a:schemeClr val="dk1"/>
                </a:solidFill>
              </a:rPr>
              <a:t>, suggesting a strong likelihood that the business will remain active. The prediction is driven mainly by </a:t>
            </a:r>
            <a:r>
              <a:rPr b="1" lang="en-US" sz="1500">
                <a:solidFill>
                  <a:schemeClr val="dk1"/>
                </a:solidFill>
              </a:rPr>
              <a:t>structural stability (business age)</a:t>
            </a:r>
            <a:r>
              <a:rPr lang="en-US" sz="1500">
                <a:solidFill>
                  <a:schemeClr val="dk1"/>
                </a:solidFill>
              </a:rPr>
              <a:t> and </a:t>
            </a:r>
            <a:r>
              <a:rPr b="1" lang="en-US" sz="1500">
                <a:solidFill>
                  <a:schemeClr val="dk1"/>
                </a:solidFill>
              </a:rPr>
              <a:t>legal or organizational form</a:t>
            </a:r>
            <a:r>
              <a:rPr lang="en-US" sz="1500">
                <a:solidFill>
                  <a:schemeClr val="dk1"/>
                </a:solidFill>
              </a:rPr>
              <a:t>, while the </a:t>
            </a:r>
            <a:r>
              <a:rPr b="1" lang="en-US" sz="1500">
                <a:solidFill>
                  <a:schemeClr val="dk1"/>
                </a:solidFill>
              </a:rPr>
              <a:t>industry sector</a:t>
            </a:r>
            <a:r>
              <a:rPr lang="en-US" sz="1500">
                <a:solidFill>
                  <a:schemeClr val="dk1"/>
                </a:solidFill>
              </a:rPr>
              <a:t> plays a secondary role and </a:t>
            </a:r>
            <a:r>
              <a:rPr b="1" lang="en-US" sz="1500">
                <a:solidFill>
                  <a:schemeClr val="dk1"/>
                </a:solidFill>
              </a:rPr>
              <a:t>geography or local demographics</a:t>
            </a:r>
            <a:r>
              <a:rPr lang="en-US" sz="1500">
                <a:solidFill>
                  <a:schemeClr val="dk1"/>
                </a:solidFill>
              </a:rPr>
              <a:t> have minimal influence. This indicates that a business’s longevity and organizational structure are more important determinants of survival than its location or surrounding population.</a:t>
            </a:r>
            <a:endParaRPr sz="2200">
              <a:solidFill>
                <a:schemeClr val="dk1"/>
              </a:solidFill>
            </a:endParaRPr>
          </a:p>
        </p:txBody>
      </p:sp>
      <p:sp>
        <p:nvSpPr>
          <p:cNvPr id="383" name="Google Shape;383;g3b12fe420c2_0_227"/>
          <p:cNvSpPr txBox="1"/>
          <p:nvPr/>
        </p:nvSpPr>
        <p:spPr>
          <a:xfrm>
            <a:off x="9629750" y="5565950"/>
            <a:ext cx="2532600" cy="11082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NO/PRF:</a:t>
            </a:r>
            <a:r>
              <a:rPr lang="en-US" sz="1200">
                <a:solidFill>
                  <a:schemeClr val="dk1"/>
                </a:solidFill>
              </a:rPr>
              <a:t> No Public Filing” (sometimes interpreted as Not Registered / No Public Record / Foreign Entity) in the context of business datasets.</a:t>
            </a:r>
            <a:endParaRPr sz="1200">
              <a:solidFill>
                <a:schemeClr val="dk1"/>
              </a:solidFill>
            </a:endParaRPr>
          </a:p>
        </p:txBody>
      </p:sp>
      <p:pic>
        <p:nvPicPr>
          <p:cNvPr id="384" name="Google Shape;384;g3b12fe420c2_0_227"/>
          <p:cNvPicPr preferRelativeResize="0"/>
          <p:nvPr/>
        </p:nvPicPr>
        <p:blipFill>
          <a:blip r:embed="rId7">
            <a:alphaModFix/>
          </a:blip>
          <a:stretch>
            <a:fillRect/>
          </a:stretch>
        </p:blipFill>
        <p:spPr>
          <a:xfrm>
            <a:off x="697091" y="599559"/>
            <a:ext cx="3447200" cy="2951825"/>
          </a:xfrm>
          <a:prstGeom prst="rect">
            <a:avLst/>
          </a:prstGeom>
          <a:solidFill>
            <a:schemeClr val="lt1"/>
          </a:solid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cxnSp>
        <p:nvCxnSpPr>
          <p:cNvPr id="389" name="Google Shape;389;g3b099c229a1_0_52"/>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390" name="Google Shape;390;g3b099c229a1_0_52"/>
          <p:cNvSpPr/>
          <p:nvPr/>
        </p:nvSpPr>
        <p:spPr>
          <a:xfrm>
            <a:off x="-26400" y="0"/>
            <a:ext cx="4310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391" name="Google Shape;391;g3b099c229a1_0_52"/>
          <p:cNvSpPr txBox="1"/>
          <p:nvPr/>
        </p:nvSpPr>
        <p:spPr>
          <a:xfrm>
            <a:off x="0" y="34175"/>
            <a:ext cx="27132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chemeClr val="dk1"/>
                </a:solidFill>
                <a:highlight>
                  <a:srgbClr val="E69138"/>
                </a:highlight>
                <a:latin typeface="Play"/>
                <a:ea typeface="Play"/>
                <a:cs typeface="Play"/>
                <a:sym typeface="Play"/>
              </a:rPr>
              <a:t>Presenting Findings</a:t>
            </a:r>
            <a:endParaRPr sz="1600" u="sng">
              <a:highlight>
                <a:srgbClr val="E69138"/>
              </a:highlight>
            </a:endParaRPr>
          </a:p>
        </p:txBody>
      </p:sp>
      <p:sp>
        <p:nvSpPr>
          <p:cNvPr id="392" name="Google Shape;392;g3b099c229a1_0_52"/>
          <p:cNvSpPr txBox="1"/>
          <p:nvPr/>
        </p:nvSpPr>
        <p:spPr>
          <a:xfrm>
            <a:off x="132493" y="462111"/>
            <a:ext cx="9645900" cy="128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600">
                <a:solidFill>
                  <a:schemeClr val="dk1"/>
                </a:solidFill>
              </a:rPr>
              <a:t>The data analysis revealed key insights into business survival, activity, and spatial distribution in San Diego County. By combining categorical and numerical analyses with supervised and unsupervised machine learning models, the study provided a comprehensive view of factors influencing business outcomes.</a:t>
            </a:r>
            <a:endParaRPr sz="1600">
              <a:solidFill>
                <a:schemeClr val="dk1"/>
              </a:solidFill>
            </a:endParaRPr>
          </a:p>
        </p:txBody>
      </p:sp>
      <p:sp>
        <p:nvSpPr>
          <p:cNvPr id="393" name="Google Shape;393;g3b099c229a1_0_52"/>
          <p:cNvSpPr txBox="1"/>
          <p:nvPr/>
        </p:nvSpPr>
        <p:spPr>
          <a:xfrm>
            <a:off x="158584" y="1678413"/>
            <a:ext cx="11921700" cy="15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600">
                <a:solidFill>
                  <a:schemeClr val="dk1"/>
                </a:solidFill>
              </a:rPr>
              <a:t>Implications for Research Question:</a:t>
            </a:r>
            <a:br>
              <a:rPr b="1" lang="en-US" sz="1600">
                <a:solidFill>
                  <a:schemeClr val="dk1"/>
                </a:solidFill>
              </a:rPr>
            </a:br>
            <a:r>
              <a:rPr lang="en-US" sz="1600">
                <a:solidFill>
                  <a:schemeClr val="dk1"/>
                </a:solidFill>
              </a:rPr>
              <a:t> Logistic regression was initially proposed as the predictive modeling approach due to its interpretability. However, the </a:t>
            </a:r>
            <a:r>
              <a:rPr lang="en-US" sz="1600">
                <a:solidFill>
                  <a:schemeClr val="dk1"/>
                </a:solidFill>
                <a:highlight>
                  <a:srgbClr val="FFFF00"/>
                </a:highlight>
              </a:rPr>
              <a:t>logistic regression model achieved an </a:t>
            </a:r>
            <a:r>
              <a:rPr lang="en-US" sz="1600">
                <a:solidFill>
                  <a:schemeClr val="dk1"/>
                </a:solidFill>
                <a:highlight>
                  <a:srgbClr val="FFFF00"/>
                </a:highlight>
              </a:rPr>
              <a:t>F1-score of 57.6</a:t>
            </a:r>
            <a:r>
              <a:rPr lang="en-US" sz="1600">
                <a:solidFill>
                  <a:schemeClr val="dk1"/>
                </a:solidFill>
                <a:highlight>
                  <a:srgbClr val="FFFF00"/>
                </a:highlight>
              </a:rPr>
              <a:t>%, which is below the 70% threshold set in the alternative hypothesis</a:t>
            </a:r>
            <a:r>
              <a:rPr lang="en-US" sz="1600">
                <a:solidFill>
                  <a:schemeClr val="dk1"/>
                </a:solidFill>
              </a:rPr>
              <a:t> (H₁). Therefore, the null hypothesis (H₀) that a predictive logistic regression model cannot be constructed </a:t>
            </a:r>
            <a:r>
              <a:rPr b="1" lang="en-US" sz="1600">
                <a:solidFill>
                  <a:schemeClr val="dk1"/>
                </a:solidFill>
              </a:rPr>
              <a:t>cannot be rejected</a:t>
            </a:r>
            <a:r>
              <a:rPr lang="en-US" sz="1600">
                <a:solidFill>
                  <a:schemeClr val="dk1"/>
                </a:solidFill>
              </a:rPr>
              <a:t>. This indicates that logistic regression alone is insufficient for reliably predicting business survival in this dataset.</a:t>
            </a:r>
            <a:endParaRPr sz="1600">
              <a:solidFill>
                <a:schemeClr val="dk1"/>
              </a:solidFill>
            </a:endParaRPr>
          </a:p>
        </p:txBody>
      </p:sp>
      <p:sp>
        <p:nvSpPr>
          <p:cNvPr id="394" name="Google Shape;394;g3b099c229a1_0_52"/>
          <p:cNvSpPr txBox="1"/>
          <p:nvPr/>
        </p:nvSpPr>
        <p:spPr>
          <a:xfrm>
            <a:off x="197550" y="3448777"/>
            <a:ext cx="11796900" cy="128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600">
                <a:solidFill>
                  <a:schemeClr val="dk1"/>
                </a:solidFill>
              </a:rPr>
              <a:t>Tree-based ensemble methods, particularly LightGBM, i</a:t>
            </a:r>
            <a:r>
              <a:rPr lang="en-US" sz="1600">
                <a:solidFill>
                  <a:schemeClr val="dk1"/>
                </a:solidFill>
              </a:rPr>
              <a:t>n contrast, demonstrated superior performance under class imbalance, with LightGBM achieving a top F1-score of 0.779, an accuracy of 84.4%, and an ROC-AUC of 0.909.</a:t>
            </a:r>
            <a:r>
              <a:rPr lang="en-US" sz="1600">
                <a:solidFill>
                  <a:schemeClr val="dk1"/>
                </a:solidFill>
              </a:rPr>
              <a:t>. </a:t>
            </a:r>
            <a:r>
              <a:rPr lang="en-US" sz="1600">
                <a:solidFill>
                  <a:schemeClr val="dk1"/>
                </a:solidFill>
                <a:highlight>
                  <a:srgbClr val="00FFFF"/>
                </a:highlight>
              </a:rPr>
              <a:t>These results demonstrate that nonlinear, tree-based models are more effective at capturing complex relationships between business characteristics, geographic features, and survival outcomes.</a:t>
            </a:r>
            <a:endParaRPr sz="1600">
              <a:highlight>
                <a:srgbClr val="00FFFF"/>
              </a:highlight>
            </a:endParaRPr>
          </a:p>
        </p:txBody>
      </p:sp>
      <p:sp>
        <p:nvSpPr>
          <p:cNvPr id="395" name="Google Shape;395;g3b099c229a1_0_52"/>
          <p:cNvSpPr txBox="1"/>
          <p:nvPr/>
        </p:nvSpPr>
        <p:spPr>
          <a:xfrm>
            <a:off x="250250" y="4967850"/>
            <a:ext cx="11476500" cy="15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600">
                <a:solidFill>
                  <a:schemeClr val="dk1"/>
                </a:solidFill>
                <a:highlight>
                  <a:srgbClr val="00FF00"/>
                </a:highlight>
              </a:rPr>
              <a:t>The strong performance of LightGBM suggests that predictions from this model can inform practical business applications, such as identifying high-risk businesses that may need support and guiding strategic expansion decisions.</a:t>
            </a:r>
            <a:r>
              <a:rPr lang="en-US" sz="1600">
                <a:solidFill>
                  <a:schemeClr val="dk1"/>
                </a:solidFill>
              </a:rPr>
              <a:t> By leveraging insights into key predictors such as business age, ownership type, industry sector, and local economic conditions, entrepreneurs and investors can more effectively allocate resources, select optimal locations for expansion, and mitigate the risk of closure.</a:t>
            </a:r>
            <a:endParaRPr sz="1600">
              <a:solidFill>
                <a:schemeClr val="dk1"/>
              </a:solidFill>
            </a:endParaRPr>
          </a:p>
        </p:txBody>
      </p:sp>
      <p:pic>
        <p:nvPicPr>
          <p:cNvPr id="396" name="Google Shape;396;g3b099c229a1_0_52"/>
          <p:cNvPicPr preferRelativeResize="0"/>
          <p:nvPr/>
        </p:nvPicPr>
        <p:blipFill>
          <a:blip r:embed="rId3">
            <a:alphaModFix/>
          </a:blip>
          <a:stretch>
            <a:fillRect/>
          </a:stretch>
        </p:blipFill>
        <p:spPr>
          <a:xfrm>
            <a:off x="9567707" y="34176"/>
            <a:ext cx="2590397" cy="1644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cxnSp>
        <p:nvCxnSpPr>
          <p:cNvPr id="401" name="Google Shape;401;g3b148cf25cd_0_159"/>
          <p:cNvCxnSpPr/>
          <p:nvPr/>
        </p:nvCxnSpPr>
        <p:spPr>
          <a:xfrm>
            <a:off x="713232" y="1031001"/>
            <a:ext cx="978900" cy="0"/>
          </a:xfrm>
          <a:prstGeom prst="straightConnector1">
            <a:avLst/>
          </a:prstGeom>
          <a:noFill/>
          <a:ln cap="flat" cmpd="sng" w="76200">
            <a:solidFill>
              <a:schemeClr val="accent1"/>
            </a:solidFill>
            <a:prstDash val="solid"/>
            <a:miter lim="800000"/>
            <a:headEnd len="sm" w="sm" type="none"/>
            <a:tailEnd len="sm" w="sm" type="none"/>
          </a:ln>
        </p:spPr>
      </p:cxnSp>
      <p:sp>
        <p:nvSpPr>
          <p:cNvPr id="402" name="Google Shape;402;g3b148cf25cd_0_159"/>
          <p:cNvSpPr/>
          <p:nvPr/>
        </p:nvSpPr>
        <p:spPr>
          <a:xfrm>
            <a:off x="-26400" y="0"/>
            <a:ext cx="4310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sp>
        <p:nvSpPr>
          <p:cNvPr id="403" name="Google Shape;403;g3b148cf25cd_0_159"/>
          <p:cNvSpPr txBox="1"/>
          <p:nvPr/>
        </p:nvSpPr>
        <p:spPr>
          <a:xfrm>
            <a:off x="0" y="34175"/>
            <a:ext cx="27132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u="sng">
                <a:solidFill>
                  <a:srgbClr val="E69138"/>
                </a:solidFill>
                <a:latin typeface="Play"/>
                <a:ea typeface="Play"/>
                <a:cs typeface="Play"/>
                <a:sym typeface="Play"/>
              </a:rPr>
              <a:t>Presenting Findings</a:t>
            </a:r>
            <a:endParaRPr sz="1600" u="sng">
              <a:solidFill>
                <a:srgbClr val="E69138"/>
              </a:solidFill>
            </a:endParaRPr>
          </a:p>
        </p:txBody>
      </p:sp>
      <p:sp>
        <p:nvSpPr>
          <p:cNvPr id="404" name="Google Shape;404;g3b148cf25cd_0_159"/>
          <p:cNvSpPr txBox="1"/>
          <p:nvPr/>
        </p:nvSpPr>
        <p:spPr>
          <a:xfrm>
            <a:off x="132500" y="462100"/>
            <a:ext cx="9490200" cy="285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u="sng">
                <a:solidFill>
                  <a:srgbClr val="0000FF"/>
                </a:solidFill>
              </a:rPr>
              <a:t>Business Survival Drivers:</a:t>
            </a:r>
            <a:endParaRPr b="1" sz="1600" u="sng">
              <a:solidFill>
                <a:srgbClr val="0000FF"/>
              </a:solidFill>
            </a:endParaRPr>
          </a:p>
          <a:p>
            <a:pPr indent="0" lvl="0" marL="0" rtl="0" algn="l">
              <a:lnSpc>
                <a:spcPct val="115000"/>
              </a:lnSpc>
              <a:spcBef>
                <a:spcPts val="1200"/>
              </a:spcBef>
              <a:spcAft>
                <a:spcPts val="1200"/>
              </a:spcAft>
              <a:buNone/>
            </a:pPr>
            <a:r>
              <a:rPr lang="en-US" sz="1600">
                <a:solidFill>
                  <a:schemeClr val="dk1"/>
                </a:solidFill>
              </a:rPr>
              <a:t> SHAP analysis from the </a:t>
            </a:r>
            <a:r>
              <a:rPr lang="en-US" sz="1600">
                <a:solidFill>
                  <a:schemeClr val="dk1"/>
                </a:solidFill>
                <a:highlight>
                  <a:srgbClr val="00FF00"/>
                </a:highlight>
              </a:rPr>
              <a:t>LightGBM model identified business age as the most critical predictor of survival</a:t>
            </a:r>
            <a:r>
              <a:rPr lang="en-US" sz="1600">
                <a:solidFill>
                  <a:schemeClr val="dk1"/>
                </a:solidFill>
              </a:rPr>
              <a:t>. Older businesses consistently demonstrated higher survival rates, while younger businesses exhibited higher closure risk. </a:t>
            </a:r>
            <a:r>
              <a:rPr lang="en-US" sz="1600">
                <a:solidFill>
                  <a:schemeClr val="dk1"/>
                </a:solidFill>
                <a:highlight>
                  <a:srgbClr val="00FFFF"/>
                </a:highlight>
              </a:rPr>
              <a:t>Ownership type also significantly influenced survival, with corporations (Corp/</a:t>
            </a:r>
            <a:r>
              <a:rPr lang="en-US" sz="1600">
                <a:solidFill>
                  <a:schemeClr val="dk1"/>
                </a:solidFill>
                <a:highlight>
                  <a:srgbClr val="00FFFF"/>
                </a:highlight>
              </a:rPr>
              <a:t>S Corp</a:t>
            </a:r>
            <a:r>
              <a:rPr lang="en-US" sz="1600">
                <a:solidFill>
                  <a:schemeClr val="dk1"/>
                </a:solidFill>
                <a:highlight>
                  <a:srgbClr val="00FFFF"/>
                </a:highlight>
              </a:rPr>
              <a:t>), </a:t>
            </a:r>
            <a:r>
              <a:rPr lang="en-US" sz="1600">
                <a:solidFill>
                  <a:schemeClr val="dk1"/>
                </a:solidFill>
                <a:highlight>
                  <a:srgbClr val="00FFFF"/>
                </a:highlight>
              </a:rPr>
              <a:t>NO/PRF (but low impact), </a:t>
            </a:r>
            <a:r>
              <a:rPr lang="en-US" sz="1600">
                <a:solidFill>
                  <a:schemeClr val="dk1"/>
                </a:solidFill>
                <a:highlight>
                  <a:srgbClr val="00FFFF"/>
                </a:highlight>
              </a:rPr>
              <a:t>and LLCs generally showing greater resilience than Sole, NO/PRF,H-W, and PARNTR proprietorships. </a:t>
            </a:r>
            <a:r>
              <a:rPr lang="en-US" sz="1600">
                <a:solidFill>
                  <a:schemeClr val="dk1"/>
                </a:solidFill>
                <a:highlight>
                  <a:srgbClr val="FFFF00"/>
                </a:highlight>
              </a:rPr>
              <a:t>The industry sector had moderate effects; </a:t>
            </a:r>
            <a:r>
              <a:rPr lang="en-US" sz="1600">
                <a:solidFill>
                  <a:schemeClr val="dk1"/>
                </a:solidFill>
                <a:highlight>
                  <a:srgbClr val="FFFF00"/>
                </a:highlight>
              </a:rPr>
              <a:t>Health Care</a:t>
            </a:r>
            <a:r>
              <a:rPr lang="en-US" sz="1600">
                <a:solidFill>
                  <a:schemeClr val="dk1"/>
                </a:solidFill>
                <a:highlight>
                  <a:srgbClr val="FFFF00"/>
                </a:highlight>
              </a:rPr>
              <a:t> and Social </a:t>
            </a:r>
            <a:r>
              <a:rPr lang="en-US" sz="1600">
                <a:solidFill>
                  <a:schemeClr val="dk1"/>
                </a:solidFill>
                <a:highlight>
                  <a:srgbClr val="FFFF00"/>
                </a:highlight>
              </a:rPr>
              <a:t>Assistance</a:t>
            </a:r>
            <a:r>
              <a:rPr lang="en-US" sz="1600">
                <a:solidFill>
                  <a:schemeClr val="dk1"/>
                </a:solidFill>
                <a:highlight>
                  <a:srgbClr val="FFFF00"/>
                </a:highlight>
              </a:rPr>
              <a:t> were more stable than </a:t>
            </a:r>
            <a:r>
              <a:rPr lang="en-US" sz="1600">
                <a:solidFill>
                  <a:schemeClr val="dk1"/>
                </a:solidFill>
                <a:highlight>
                  <a:srgbClr val="FFFF00"/>
                </a:highlight>
              </a:rPr>
              <a:t>Transportation</a:t>
            </a:r>
            <a:r>
              <a:rPr lang="en-US" sz="1600">
                <a:solidFill>
                  <a:schemeClr val="dk1"/>
                </a:solidFill>
                <a:highlight>
                  <a:srgbClr val="FFFF00"/>
                </a:highlight>
              </a:rPr>
              <a:t>  or Professional </a:t>
            </a:r>
            <a:r>
              <a:rPr lang="en-US" sz="1600">
                <a:solidFill>
                  <a:schemeClr val="dk1"/>
                </a:solidFill>
                <a:highlight>
                  <a:srgbClr val="FFFF00"/>
                </a:highlight>
              </a:rPr>
              <a:t>Services</a:t>
            </a:r>
            <a:r>
              <a:rPr lang="en-US" sz="1600">
                <a:solidFill>
                  <a:schemeClr val="dk1"/>
                </a:solidFill>
                <a:highlight>
                  <a:srgbClr val="FFFF00"/>
                </a:highlight>
              </a:rPr>
              <a:t>.</a:t>
            </a:r>
            <a:r>
              <a:rPr lang="en-US" sz="1600">
                <a:solidFill>
                  <a:schemeClr val="dk1"/>
                </a:solidFill>
              </a:rPr>
              <a:t> </a:t>
            </a:r>
            <a:r>
              <a:rPr lang="en-US" sz="1600">
                <a:solidFill>
                  <a:schemeClr val="dk1"/>
                </a:solidFill>
                <a:highlight>
                  <a:srgbClr val="EA9999"/>
                </a:highlight>
              </a:rPr>
              <a:t>Geographic variables, including latitude, longitude, and city, showed minimal predictive value,</a:t>
            </a:r>
            <a:r>
              <a:rPr lang="en-US" sz="1600">
                <a:solidFill>
                  <a:schemeClr val="dk1"/>
                </a:solidFill>
              </a:rPr>
              <a:t> suggesting that </a:t>
            </a:r>
            <a:r>
              <a:rPr b="1" lang="en-US" sz="1600">
                <a:solidFill>
                  <a:schemeClr val="dk1"/>
                </a:solidFill>
              </a:rPr>
              <a:t>survival is primarily driven by internal business characteristics rather than location alone.</a:t>
            </a:r>
            <a:endParaRPr sz="1600">
              <a:solidFill>
                <a:schemeClr val="dk1"/>
              </a:solidFill>
            </a:endParaRPr>
          </a:p>
        </p:txBody>
      </p:sp>
      <p:sp>
        <p:nvSpPr>
          <p:cNvPr id="405" name="Google Shape;405;g3b148cf25cd_0_159"/>
          <p:cNvSpPr txBox="1"/>
          <p:nvPr/>
        </p:nvSpPr>
        <p:spPr>
          <a:xfrm>
            <a:off x="132500" y="3312700"/>
            <a:ext cx="11913900" cy="315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u="sng">
                <a:solidFill>
                  <a:srgbClr val="0000FF"/>
                </a:solidFill>
              </a:rPr>
              <a:t>Spatial Business Clusters:</a:t>
            </a:r>
            <a:endParaRPr b="1" sz="1600" u="sng">
              <a:solidFill>
                <a:srgbClr val="0000FF"/>
              </a:solidFill>
            </a:endParaRPr>
          </a:p>
          <a:p>
            <a:pPr indent="0" lvl="0" marL="0" rtl="0" algn="l">
              <a:lnSpc>
                <a:spcPct val="115000"/>
              </a:lnSpc>
              <a:spcBef>
                <a:spcPts val="1200"/>
              </a:spcBef>
              <a:spcAft>
                <a:spcPts val="0"/>
              </a:spcAft>
              <a:buNone/>
            </a:pPr>
            <a:r>
              <a:rPr lang="en-US" sz="1600">
                <a:solidFill>
                  <a:schemeClr val="dk1"/>
                </a:solidFill>
              </a:rPr>
              <a:t> K-Means clustering of latitude and longitude revealed seven distinct geographic clusters, capturing concentrations of businesses across San Diego. </a:t>
            </a:r>
            <a:r>
              <a:rPr lang="en-US" sz="1600">
                <a:solidFill>
                  <a:schemeClr val="dk1"/>
                </a:solidFill>
                <a:highlight>
                  <a:srgbClr val="FFFF00"/>
                </a:highlight>
              </a:rPr>
              <a:t>In contrast, DBSCAN produced 133 clusters due to varying densities, which were not interpretable.</a:t>
            </a:r>
            <a:r>
              <a:rPr lang="en-US" sz="1600">
                <a:solidFill>
                  <a:schemeClr val="dk1"/>
                </a:solidFill>
              </a:rPr>
              <a:t> </a:t>
            </a:r>
            <a:r>
              <a:rPr lang="en-US" sz="1600">
                <a:solidFill>
                  <a:schemeClr val="dk1"/>
                </a:solidFill>
                <a:highlight>
                  <a:srgbClr val="00FF00"/>
                </a:highlight>
              </a:rPr>
              <a:t>K-Means allowed for clear regional groupings (e.g., North County, Central, East County, South Bay) and highlighted areas of high business density (e.g., North-Central-West cluster) versus low-density, dispersed regions (e.g., North-West cluster).</a:t>
            </a:r>
            <a:endParaRPr sz="1600">
              <a:solidFill>
                <a:schemeClr val="dk1"/>
              </a:solidFill>
              <a:highlight>
                <a:srgbClr val="00FF00"/>
              </a:highlight>
            </a:endParaRPr>
          </a:p>
          <a:p>
            <a:pPr indent="0" lvl="0" marL="0" rtl="0" algn="l">
              <a:lnSpc>
                <a:spcPct val="115000"/>
              </a:lnSpc>
              <a:spcBef>
                <a:spcPts val="1200"/>
              </a:spcBef>
              <a:spcAft>
                <a:spcPts val="0"/>
              </a:spcAft>
              <a:buNone/>
            </a:pPr>
            <a:r>
              <a:rPr b="1" lang="en-US" sz="1600" u="sng">
                <a:solidFill>
                  <a:srgbClr val="0000FF"/>
                </a:solidFill>
              </a:rPr>
              <a:t>Business Profiles from K-Prototypes:</a:t>
            </a:r>
            <a:endParaRPr b="1" sz="1600" u="sng">
              <a:solidFill>
                <a:srgbClr val="0000FF"/>
              </a:solidFill>
            </a:endParaRPr>
          </a:p>
          <a:p>
            <a:pPr indent="0" lvl="0" marL="0" rtl="0" algn="l">
              <a:lnSpc>
                <a:spcPct val="115000"/>
              </a:lnSpc>
              <a:spcBef>
                <a:spcPts val="1200"/>
              </a:spcBef>
              <a:spcAft>
                <a:spcPts val="1200"/>
              </a:spcAft>
              <a:buNone/>
            </a:pPr>
            <a:r>
              <a:rPr lang="en-US" sz="1600">
                <a:solidFill>
                  <a:schemeClr val="dk1"/>
                </a:solidFill>
              </a:rPr>
              <a:t> </a:t>
            </a:r>
            <a:r>
              <a:rPr lang="en-US" sz="1600">
                <a:solidFill>
                  <a:schemeClr val="dk1"/>
                </a:solidFill>
                <a:highlight>
                  <a:srgbClr val="00FF00"/>
                </a:highlight>
              </a:rPr>
              <a:t>K-Prototypes clustering, which accounts for both numeric and categorical features, identified four meaningful business clusters.</a:t>
            </a:r>
            <a:r>
              <a:rPr lang="en-US" sz="1600">
                <a:solidFill>
                  <a:schemeClr val="dk1"/>
                </a:solidFill>
              </a:rPr>
              <a:t> </a:t>
            </a:r>
            <a:r>
              <a:rPr lang="en-US" sz="1600">
                <a:solidFill>
                  <a:schemeClr val="dk1"/>
                </a:solidFill>
                <a:highlight>
                  <a:srgbClr val="00FFFF"/>
                </a:highlight>
              </a:rPr>
              <a:t>These clusters reflected patterns such as older professional services in lower-density areas versus corporate hubs with high business density.</a:t>
            </a:r>
            <a:r>
              <a:rPr lang="en-US" sz="1600">
                <a:solidFill>
                  <a:schemeClr val="dk1"/>
                </a:solidFill>
              </a:rPr>
              <a:t> This confirmed the heterogeneity of business types across demographic and operational characteristics.</a:t>
            </a:r>
            <a:endParaRPr sz="1600">
              <a:solidFill>
                <a:schemeClr val="dk1"/>
              </a:solidFill>
            </a:endParaRPr>
          </a:p>
        </p:txBody>
      </p:sp>
      <p:pic>
        <p:nvPicPr>
          <p:cNvPr id="406" name="Google Shape;406;g3b148cf25cd_0_159"/>
          <p:cNvPicPr preferRelativeResize="0"/>
          <p:nvPr/>
        </p:nvPicPr>
        <p:blipFill>
          <a:blip r:embed="rId3">
            <a:alphaModFix/>
          </a:blip>
          <a:stretch>
            <a:fillRect/>
          </a:stretch>
        </p:blipFill>
        <p:spPr>
          <a:xfrm>
            <a:off x="9567707" y="34176"/>
            <a:ext cx="2590397" cy="1644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
          <p:cNvSpPr txBox="1"/>
          <p:nvPr/>
        </p:nvSpPr>
        <p:spPr>
          <a:xfrm>
            <a:off x="0" y="0"/>
            <a:ext cx="615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rgbClr val="E69138"/>
                </a:solidFill>
                <a:highlight>
                  <a:srgbClr val="FFFFFF"/>
                </a:highlight>
                <a:latin typeface="Play"/>
                <a:ea typeface="Play"/>
                <a:cs typeface="Play"/>
                <a:sym typeface="Play"/>
              </a:rPr>
              <a:t>L</a:t>
            </a:r>
            <a:r>
              <a:rPr b="1" lang="en-US" sz="2000" u="sng">
                <a:solidFill>
                  <a:srgbClr val="E69138"/>
                </a:solidFill>
                <a:highlight>
                  <a:srgbClr val="FFFFFF"/>
                </a:highlight>
                <a:latin typeface="Play"/>
                <a:ea typeface="Play"/>
                <a:cs typeface="Play"/>
                <a:sym typeface="Play"/>
              </a:rPr>
              <a:t>imitations of the Techniques and Tools used</a:t>
            </a:r>
            <a:endParaRPr b="1" sz="2000" u="sng">
              <a:solidFill>
                <a:srgbClr val="E69138"/>
              </a:solidFill>
              <a:latin typeface="Play"/>
              <a:ea typeface="Play"/>
              <a:cs typeface="Play"/>
              <a:sym typeface="Play"/>
            </a:endParaRPr>
          </a:p>
        </p:txBody>
      </p:sp>
      <p:pic>
        <p:nvPicPr>
          <p:cNvPr id="412" name="Google Shape;412;p6"/>
          <p:cNvPicPr preferRelativeResize="0"/>
          <p:nvPr/>
        </p:nvPicPr>
        <p:blipFill>
          <a:blip r:embed="rId3">
            <a:alphaModFix/>
          </a:blip>
          <a:stretch>
            <a:fillRect/>
          </a:stretch>
        </p:blipFill>
        <p:spPr>
          <a:xfrm>
            <a:off x="126185" y="898676"/>
            <a:ext cx="6158700" cy="5946337"/>
          </a:xfrm>
          <a:prstGeom prst="rect">
            <a:avLst/>
          </a:prstGeom>
          <a:noFill/>
          <a:ln>
            <a:noFill/>
          </a:ln>
        </p:spPr>
      </p:pic>
      <p:pic>
        <p:nvPicPr>
          <p:cNvPr id="413" name="Google Shape;413;p6"/>
          <p:cNvPicPr preferRelativeResize="0"/>
          <p:nvPr/>
        </p:nvPicPr>
        <p:blipFill>
          <a:blip r:embed="rId4">
            <a:alphaModFix/>
          </a:blip>
          <a:stretch>
            <a:fillRect/>
          </a:stretch>
        </p:blipFill>
        <p:spPr>
          <a:xfrm>
            <a:off x="6383950" y="898676"/>
            <a:ext cx="5720576" cy="3587625"/>
          </a:xfrm>
          <a:prstGeom prst="rect">
            <a:avLst/>
          </a:prstGeom>
          <a:noFill/>
          <a:ln>
            <a:noFill/>
          </a:ln>
        </p:spPr>
      </p:pic>
      <p:sp>
        <p:nvSpPr>
          <p:cNvPr id="414" name="Google Shape;414;p6"/>
          <p:cNvSpPr txBox="1"/>
          <p:nvPr/>
        </p:nvSpPr>
        <p:spPr>
          <a:xfrm>
            <a:off x="3431850" y="492600"/>
            <a:ext cx="5328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u="sng">
                <a:solidFill>
                  <a:srgbClr val="0000FF"/>
                </a:solidFill>
              </a:rPr>
              <a:t>Tests/Tools for Quantitative &amp; Categorical  Variables</a:t>
            </a:r>
            <a:endParaRPr b="1" sz="1600">
              <a:solidFill>
                <a:srgbClr val="00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b1c4ac7f1b_0_6"/>
          <p:cNvSpPr txBox="1"/>
          <p:nvPr/>
        </p:nvSpPr>
        <p:spPr>
          <a:xfrm>
            <a:off x="0" y="0"/>
            <a:ext cx="615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rgbClr val="E69138"/>
                </a:solidFill>
                <a:highlight>
                  <a:srgbClr val="FFFFFF"/>
                </a:highlight>
                <a:latin typeface="Play"/>
                <a:ea typeface="Play"/>
                <a:cs typeface="Play"/>
                <a:sym typeface="Play"/>
              </a:rPr>
              <a:t>Limitations of the Techniques and Tools used</a:t>
            </a:r>
            <a:endParaRPr b="1" sz="2000" u="sng">
              <a:solidFill>
                <a:srgbClr val="E69138"/>
              </a:solidFill>
              <a:latin typeface="Play"/>
              <a:ea typeface="Play"/>
              <a:cs typeface="Play"/>
              <a:sym typeface="Play"/>
            </a:endParaRPr>
          </a:p>
        </p:txBody>
      </p:sp>
      <p:sp>
        <p:nvSpPr>
          <p:cNvPr id="420" name="Google Shape;420;g3b1c4ac7f1b_0_6"/>
          <p:cNvSpPr txBox="1"/>
          <p:nvPr/>
        </p:nvSpPr>
        <p:spPr>
          <a:xfrm>
            <a:off x="120775" y="4118950"/>
            <a:ext cx="57378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u="sng">
                <a:solidFill>
                  <a:srgbClr val="0000FF"/>
                </a:solidFill>
              </a:rPr>
              <a:t>Note</a:t>
            </a:r>
            <a:r>
              <a:rPr b="1" lang="en-US" u="sng">
                <a:solidFill>
                  <a:srgbClr val="0000FF"/>
                </a:solidFill>
              </a:rPr>
              <a:t>:</a:t>
            </a:r>
            <a:br>
              <a:rPr b="1" lang="en-US">
                <a:solidFill>
                  <a:schemeClr val="dk1"/>
                </a:solidFill>
              </a:rPr>
            </a:br>
            <a:r>
              <a:rPr lang="en-US">
                <a:solidFill>
                  <a:schemeClr val="dk1"/>
                </a:solidFill>
              </a:rPr>
              <a:t>K-Means clustering was selected over DBSCAN for the spatial analysis to identify broad regional groupings based exclusively on latitude and longitude. This approach facilitates clear partitioning of observations into a predefined number of clusters, but it does not account for underlying geographic or administrative boundaries. As a result, regional labels (e.g., North County, East County) were assigned based on cluster centroids and general spatial orientation rather than formal TIGER/US Census delineations. </a:t>
            </a:r>
            <a:endParaRPr b="1" u="sng">
              <a:solidFill>
                <a:schemeClr val="dk1"/>
              </a:solidFill>
            </a:endParaRPr>
          </a:p>
        </p:txBody>
      </p:sp>
      <p:sp>
        <p:nvSpPr>
          <p:cNvPr id="421" name="Google Shape;421;g3b1c4ac7f1b_0_6"/>
          <p:cNvSpPr txBox="1"/>
          <p:nvPr/>
        </p:nvSpPr>
        <p:spPr>
          <a:xfrm>
            <a:off x="1837963" y="976375"/>
            <a:ext cx="2292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u="sng">
                <a:solidFill>
                  <a:schemeClr val="dk1"/>
                </a:solidFill>
              </a:rPr>
              <a:t>Unsupervised Methods</a:t>
            </a:r>
            <a:endParaRPr b="1">
              <a:solidFill>
                <a:schemeClr val="dk1"/>
              </a:solidFill>
              <a:highlight>
                <a:srgbClr val="FFFFFF"/>
              </a:highlight>
            </a:endParaRPr>
          </a:p>
        </p:txBody>
      </p:sp>
      <p:pic>
        <p:nvPicPr>
          <p:cNvPr id="422" name="Google Shape;422;g3b1c4ac7f1b_0_6"/>
          <p:cNvPicPr preferRelativeResize="0"/>
          <p:nvPr/>
        </p:nvPicPr>
        <p:blipFill>
          <a:blip r:embed="rId3">
            <a:alphaModFix/>
          </a:blip>
          <a:stretch>
            <a:fillRect/>
          </a:stretch>
        </p:blipFill>
        <p:spPr>
          <a:xfrm>
            <a:off x="69980" y="1376576"/>
            <a:ext cx="5737675" cy="2640850"/>
          </a:xfrm>
          <a:prstGeom prst="rect">
            <a:avLst/>
          </a:prstGeom>
          <a:noFill/>
          <a:ln>
            <a:noFill/>
          </a:ln>
        </p:spPr>
      </p:pic>
      <p:sp>
        <p:nvSpPr>
          <p:cNvPr id="423" name="Google Shape;423;g3b1c4ac7f1b_0_6"/>
          <p:cNvSpPr txBox="1"/>
          <p:nvPr/>
        </p:nvSpPr>
        <p:spPr>
          <a:xfrm>
            <a:off x="8251126" y="675050"/>
            <a:ext cx="2069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u="sng">
                <a:solidFill>
                  <a:schemeClr val="dk1"/>
                </a:solidFill>
              </a:rPr>
              <a:t>Supervised Methods</a:t>
            </a:r>
            <a:endParaRPr/>
          </a:p>
        </p:txBody>
      </p:sp>
      <p:pic>
        <p:nvPicPr>
          <p:cNvPr id="424" name="Google Shape;424;g3b1c4ac7f1b_0_6"/>
          <p:cNvPicPr preferRelativeResize="0"/>
          <p:nvPr/>
        </p:nvPicPr>
        <p:blipFill>
          <a:blip r:embed="rId4">
            <a:alphaModFix/>
          </a:blip>
          <a:stretch>
            <a:fillRect/>
          </a:stretch>
        </p:blipFill>
        <p:spPr>
          <a:xfrm>
            <a:off x="6310600" y="1029050"/>
            <a:ext cx="5785425" cy="5776751"/>
          </a:xfrm>
          <a:prstGeom prst="rect">
            <a:avLst/>
          </a:prstGeom>
          <a:noFill/>
          <a:ln>
            <a:noFill/>
          </a:ln>
        </p:spPr>
      </p:pic>
      <p:sp>
        <p:nvSpPr>
          <p:cNvPr id="425" name="Google Shape;425;g3b1c4ac7f1b_0_6"/>
          <p:cNvSpPr txBox="1"/>
          <p:nvPr/>
        </p:nvSpPr>
        <p:spPr>
          <a:xfrm>
            <a:off x="55500" y="492600"/>
            <a:ext cx="3651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u="sng">
                <a:solidFill>
                  <a:srgbClr val="0000FF"/>
                </a:solidFill>
              </a:rPr>
              <a:t>Techniques/tools for M-L methods: </a:t>
            </a:r>
            <a:endParaRPr b="1" sz="1600">
              <a:solidFill>
                <a:srgbClr val="0000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b099c229a1_0_64"/>
          <p:cNvSpPr txBox="1"/>
          <p:nvPr/>
        </p:nvSpPr>
        <p:spPr>
          <a:xfrm>
            <a:off x="0" y="0"/>
            <a:ext cx="4038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rgbClr val="E69138"/>
                </a:solidFill>
                <a:highlight>
                  <a:srgbClr val="FFFFFF"/>
                </a:highlight>
                <a:latin typeface="Play"/>
                <a:ea typeface="Play"/>
                <a:cs typeface="Play"/>
                <a:sym typeface="Play"/>
              </a:rPr>
              <a:t>S</a:t>
            </a:r>
            <a:r>
              <a:rPr b="1" lang="en-US" sz="2000" u="sng">
                <a:solidFill>
                  <a:srgbClr val="E69138"/>
                </a:solidFill>
                <a:highlight>
                  <a:srgbClr val="FFFFFF"/>
                </a:highlight>
                <a:latin typeface="Play"/>
                <a:ea typeface="Play"/>
                <a:cs typeface="Play"/>
                <a:sym typeface="Play"/>
              </a:rPr>
              <a:t>ummary of Proposed Actions</a:t>
            </a:r>
            <a:endParaRPr b="1" sz="2000" u="sng">
              <a:solidFill>
                <a:srgbClr val="E69138"/>
              </a:solidFill>
              <a:latin typeface="Play"/>
              <a:ea typeface="Play"/>
              <a:cs typeface="Play"/>
              <a:sym typeface="Play"/>
            </a:endParaRPr>
          </a:p>
        </p:txBody>
      </p:sp>
      <p:sp>
        <p:nvSpPr>
          <p:cNvPr id="431" name="Google Shape;431;g3b099c229a1_0_64"/>
          <p:cNvSpPr txBox="1"/>
          <p:nvPr/>
        </p:nvSpPr>
        <p:spPr>
          <a:xfrm>
            <a:off x="125850" y="2311767"/>
            <a:ext cx="11940300" cy="35463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Char char="●"/>
            </a:pPr>
            <a:r>
              <a:rPr b="1" lang="en-US" sz="1600">
                <a:solidFill>
                  <a:schemeClr val="dk1"/>
                </a:solidFill>
              </a:rPr>
              <a:t>Mentorship and Advisory Services:</a:t>
            </a:r>
            <a:r>
              <a:rPr lang="en-US" sz="1600">
                <a:solidFill>
                  <a:schemeClr val="dk1"/>
                </a:solidFill>
              </a:rPr>
              <a:t> Provide guidance on operational best practices, financial management, and strategic planning to improve survival rates.</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Access to Capital and Incentives:</a:t>
            </a:r>
            <a:r>
              <a:rPr lang="en-US" sz="1600">
                <a:solidFill>
                  <a:schemeClr val="dk1"/>
                </a:solidFill>
              </a:rPr>
              <a:t> Facilitate funding opportunities, grants, or low-interest loans to help small and new businesses scale operations and invest in growth.</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Sector-Specific Support:</a:t>
            </a:r>
            <a:r>
              <a:rPr lang="en-US" sz="1600">
                <a:solidFill>
                  <a:schemeClr val="dk1"/>
                </a:solidFill>
              </a:rPr>
              <a:t> Offer tailored training, market analysis, and resources for industries identified as higher risk, such as retail and construction, to strengthen resilience and reduce the probability of closure.</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1200"/>
              </a:spcAft>
              <a:buClr>
                <a:schemeClr val="dk1"/>
              </a:buClr>
              <a:buSzPts val="1600"/>
              <a:buChar char="●"/>
            </a:pPr>
            <a:r>
              <a:rPr b="1" lang="en-US" sz="1600">
                <a:solidFill>
                  <a:schemeClr val="dk1"/>
                </a:solidFill>
              </a:rPr>
              <a:t>Data-Informed Expansion Facilitation:</a:t>
            </a:r>
            <a:r>
              <a:rPr lang="en-US" sz="1600">
                <a:solidFill>
                  <a:schemeClr val="dk1"/>
                </a:solidFill>
              </a:rPr>
              <a:t> Utilize insights from spatial clustering, demographic data, and model outputs to identify high-density business clusters or underserved markets where expansion is likely to be successful, enabling entrepreneurs and investors to make informed, targeted decisions for strategic business growth.</a:t>
            </a:r>
            <a:endParaRPr sz="1600">
              <a:solidFill>
                <a:schemeClr val="dk1"/>
              </a:solidFill>
            </a:endParaRPr>
          </a:p>
        </p:txBody>
      </p:sp>
      <p:pic>
        <p:nvPicPr>
          <p:cNvPr id="432" name="Google Shape;432;g3b099c229a1_0_64"/>
          <p:cNvPicPr preferRelativeResize="0"/>
          <p:nvPr/>
        </p:nvPicPr>
        <p:blipFill>
          <a:blip r:embed="rId3">
            <a:alphaModFix/>
          </a:blip>
          <a:stretch>
            <a:fillRect/>
          </a:stretch>
        </p:blipFill>
        <p:spPr>
          <a:xfrm>
            <a:off x="10555171" y="-4"/>
            <a:ext cx="1674325" cy="1340800"/>
          </a:xfrm>
          <a:prstGeom prst="rect">
            <a:avLst/>
          </a:prstGeom>
          <a:noFill/>
          <a:ln>
            <a:noFill/>
          </a:ln>
        </p:spPr>
      </p:pic>
      <p:sp>
        <p:nvSpPr>
          <p:cNvPr id="433" name="Google Shape;433;g3b099c229a1_0_64"/>
          <p:cNvSpPr txBox="1"/>
          <p:nvPr/>
        </p:nvSpPr>
        <p:spPr>
          <a:xfrm>
            <a:off x="166200" y="543150"/>
            <a:ext cx="10389000" cy="153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US" sz="1600">
                <a:solidFill>
                  <a:schemeClr val="dk1"/>
                </a:solidFill>
              </a:rPr>
              <a:t>Based on the analysis,</a:t>
            </a:r>
            <a:r>
              <a:rPr lang="en-US" sz="1600">
                <a:solidFill>
                  <a:schemeClr val="dk1"/>
                </a:solidFill>
                <a:highlight>
                  <a:srgbClr val="FFFF00"/>
                </a:highlight>
              </a:rPr>
              <a:t> business development initiatives should focus on supporting younger and H-W proprietorship businesses, particularly in lower-density or higher-risk areas.</a:t>
            </a:r>
            <a:r>
              <a:rPr lang="en-US" sz="1600">
                <a:solidFill>
                  <a:schemeClr val="dk1"/>
                </a:solidFill>
              </a:rPr>
              <a:t> </a:t>
            </a:r>
            <a:r>
              <a:rPr b="1" lang="en-US" sz="1600">
                <a:solidFill>
                  <a:schemeClr val="dk1"/>
                </a:solidFill>
              </a:rPr>
              <a:t>Additionally, the predictive model for business survival can be applied in practice as a decision-support tool to identify at-risk businesses and guide targeted interventions.</a:t>
            </a:r>
            <a:r>
              <a:rPr lang="en-US" sz="1600">
                <a:solidFill>
                  <a:schemeClr val="dk1"/>
                </a:solidFill>
              </a:rPr>
              <a:t> Programs could include: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b099c229a1_0_68"/>
          <p:cNvSpPr txBox="1"/>
          <p:nvPr/>
        </p:nvSpPr>
        <p:spPr>
          <a:xfrm>
            <a:off x="0" y="0"/>
            <a:ext cx="4003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rgbClr val="E69138"/>
                </a:solidFill>
                <a:highlight>
                  <a:srgbClr val="FFFFFF"/>
                </a:highlight>
                <a:latin typeface="Play"/>
                <a:ea typeface="Play"/>
                <a:cs typeface="Play"/>
                <a:sym typeface="Play"/>
              </a:rPr>
              <a:t>Expected Benefits of the Study</a:t>
            </a:r>
            <a:endParaRPr b="1" sz="2000" u="sng">
              <a:solidFill>
                <a:srgbClr val="E69138"/>
              </a:solidFill>
              <a:latin typeface="Play"/>
              <a:ea typeface="Play"/>
              <a:cs typeface="Play"/>
              <a:sym typeface="Play"/>
            </a:endParaRPr>
          </a:p>
        </p:txBody>
      </p:sp>
      <p:sp>
        <p:nvSpPr>
          <p:cNvPr id="439" name="Google Shape;439;g3b099c229a1_0_68"/>
          <p:cNvSpPr txBox="1"/>
          <p:nvPr/>
        </p:nvSpPr>
        <p:spPr>
          <a:xfrm>
            <a:off x="260725" y="3227835"/>
            <a:ext cx="11929800" cy="3170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US" sz="1600">
                <a:solidFill>
                  <a:schemeClr val="dk1"/>
                </a:solidFill>
              </a:rPr>
              <a:t>The superior performance of the LightGBM model, supported by SHAP analysis, provides a reliable and interpretable tool for </a:t>
            </a:r>
            <a:r>
              <a:rPr b="1" lang="en-US" sz="1600">
                <a:solidFill>
                  <a:schemeClr val="dk1"/>
                </a:solidFill>
              </a:rPr>
              <a:t>predicting business survival in practice</a:t>
            </a:r>
            <a:r>
              <a:rPr lang="en-US" sz="1600">
                <a:solidFill>
                  <a:schemeClr val="dk1"/>
                </a:solidFill>
              </a:rPr>
              <a:t>. </a:t>
            </a:r>
            <a:r>
              <a:rPr lang="en-US" sz="1600">
                <a:solidFill>
                  <a:schemeClr val="dk1"/>
                </a:solidFill>
                <a:highlight>
                  <a:srgbClr val="00FF00"/>
                </a:highlight>
              </a:rPr>
              <a:t>Entrepreneurs can use model outputs to identify early-stage or high-risk ventures that may require strategic adjustments, mentorship, or capital infusion, while investors can leverage these predictions to prioritize funding toward more resilient business profiles and mitigate closure risk.</a:t>
            </a:r>
            <a:endParaRPr sz="1600">
              <a:solidFill>
                <a:schemeClr val="dk1"/>
              </a:solidFill>
              <a:highlight>
                <a:srgbClr val="00FF00"/>
              </a:highlight>
            </a:endParaRPr>
          </a:p>
          <a:p>
            <a:pPr indent="0" lvl="0" marL="0" rtl="0" algn="l">
              <a:lnSpc>
                <a:spcPct val="150000"/>
              </a:lnSpc>
              <a:spcBef>
                <a:spcPts val="1200"/>
              </a:spcBef>
              <a:spcAft>
                <a:spcPts val="1200"/>
              </a:spcAft>
              <a:buNone/>
            </a:pPr>
            <a:r>
              <a:rPr b="1" lang="en-US" sz="1600">
                <a:solidFill>
                  <a:schemeClr val="dk1"/>
                </a:solidFill>
              </a:rPr>
              <a:t>Additionally</a:t>
            </a:r>
            <a:r>
              <a:rPr lang="en-US" sz="1600">
                <a:solidFill>
                  <a:schemeClr val="dk1"/>
                </a:solidFill>
              </a:rPr>
              <a:t>, spatial and clustering analyses offer strategic value by highlighting business density patterns, regional groupings, and distinct business profiles across the county. </a:t>
            </a:r>
            <a:r>
              <a:rPr lang="en-US" sz="1600">
                <a:solidFill>
                  <a:schemeClr val="dk1"/>
                </a:solidFill>
                <a:highlight>
                  <a:srgbClr val="00FFFF"/>
                </a:highlight>
              </a:rPr>
              <a:t>These insights help entrepreneurs identify favorable markets for expansion and assist investors in recognizing high-potential clusters and underserved areas.</a:t>
            </a:r>
            <a:r>
              <a:rPr lang="en-US" sz="1600">
                <a:solidFill>
                  <a:schemeClr val="dk1"/>
                </a:solidFill>
              </a:rPr>
              <a:t> Overall, the study delivers a data-driven framework that supports smarter investment decisions, targeted business support, and sustainable entrepreneurial growth.</a:t>
            </a:r>
            <a:endParaRPr sz="1600">
              <a:solidFill>
                <a:schemeClr val="dk1"/>
              </a:solidFill>
            </a:endParaRPr>
          </a:p>
        </p:txBody>
      </p:sp>
      <p:pic>
        <p:nvPicPr>
          <p:cNvPr id="440" name="Google Shape;440;g3b099c229a1_0_68"/>
          <p:cNvPicPr preferRelativeResize="0"/>
          <p:nvPr/>
        </p:nvPicPr>
        <p:blipFill>
          <a:blip r:embed="rId3">
            <a:alphaModFix/>
          </a:blip>
          <a:stretch>
            <a:fillRect/>
          </a:stretch>
        </p:blipFill>
        <p:spPr>
          <a:xfrm>
            <a:off x="9844800" y="52673"/>
            <a:ext cx="2347200" cy="1760400"/>
          </a:xfrm>
          <a:prstGeom prst="rect">
            <a:avLst/>
          </a:prstGeom>
          <a:noFill/>
          <a:ln>
            <a:noFill/>
          </a:ln>
        </p:spPr>
      </p:pic>
      <p:sp>
        <p:nvSpPr>
          <p:cNvPr id="441" name="Google Shape;441;g3b099c229a1_0_68"/>
          <p:cNvSpPr txBox="1"/>
          <p:nvPr/>
        </p:nvSpPr>
        <p:spPr>
          <a:xfrm>
            <a:off x="260725" y="693800"/>
            <a:ext cx="9779700" cy="116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US" sz="1600">
                <a:solidFill>
                  <a:schemeClr val="dk1"/>
                </a:solidFill>
              </a:rPr>
              <a:t>This study offers clear, practical benefits for </a:t>
            </a:r>
            <a:r>
              <a:rPr b="1" lang="en-US" sz="1600">
                <a:solidFill>
                  <a:schemeClr val="dk1"/>
                </a:solidFill>
              </a:rPr>
              <a:t>entrepreneurs and investors</a:t>
            </a:r>
            <a:r>
              <a:rPr lang="en-US" sz="1600">
                <a:solidFill>
                  <a:schemeClr val="dk1"/>
                </a:solidFill>
              </a:rPr>
              <a:t> by </a:t>
            </a:r>
            <a:r>
              <a:rPr lang="en-US" sz="1600">
                <a:solidFill>
                  <a:schemeClr val="dk1"/>
                </a:solidFill>
                <a:highlight>
                  <a:srgbClr val="00FF00"/>
                </a:highlight>
              </a:rPr>
              <a:t>identifying the most influential factors driving business survival in San Diego County and demonstrating how predictive analytics can support informed decision-making. </a:t>
            </a:r>
            <a:endParaRPr>
              <a:highlight>
                <a:srgbClr val="00FF00"/>
              </a:highlight>
            </a:endParaRPr>
          </a:p>
        </p:txBody>
      </p:sp>
      <p:sp>
        <p:nvSpPr>
          <p:cNvPr id="442" name="Google Shape;442;g3b099c229a1_0_68"/>
          <p:cNvSpPr txBox="1"/>
          <p:nvPr/>
        </p:nvSpPr>
        <p:spPr>
          <a:xfrm>
            <a:off x="260725" y="1915675"/>
            <a:ext cx="11641200" cy="116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US" sz="1600">
                <a:solidFill>
                  <a:schemeClr val="dk1"/>
                </a:solidFill>
              </a:rPr>
              <a:t>The results show that survival is primarily driven by internal business characteristics, especially </a:t>
            </a:r>
            <a:r>
              <a:rPr b="1" lang="en-US" sz="1600">
                <a:solidFill>
                  <a:schemeClr val="dk1"/>
                </a:solidFill>
              </a:rPr>
              <a:t>business age</a:t>
            </a:r>
            <a:r>
              <a:rPr lang="en-US" sz="1600">
                <a:solidFill>
                  <a:schemeClr val="dk1"/>
                </a:solidFill>
              </a:rPr>
              <a:t>, </a:t>
            </a:r>
            <a:r>
              <a:rPr b="1" lang="en-US" sz="1600">
                <a:solidFill>
                  <a:schemeClr val="dk1"/>
                </a:solidFill>
              </a:rPr>
              <a:t>ownership type</a:t>
            </a:r>
            <a:r>
              <a:rPr lang="en-US" sz="1600">
                <a:solidFill>
                  <a:schemeClr val="dk1"/>
                </a:solidFill>
              </a:rPr>
              <a:t>, and </a:t>
            </a:r>
            <a:r>
              <a:rPr b="1" lang="en-US" sz="1600">
                <a:solidFill>
                  <a:schemeClr val="dk1"/>
                </a:solidFill>
              </a:rPr>
              <a:t>industry sector</a:t>
            </a:r>
            <a:r>
              <a:rPr lang="en-US" sz="1600">
                <a:solidFill>
                  <a:schemeClr val="dk1"/>
                </a:solidFill>
              </a:rPr>
              <a:t> rather than geographic location alone. </a:t>
            </a:r>
            <a:r>
              <a:rPr lang="en-US" sz="1600">
                <a:solidFill>
                  <a:schemeClr val="dk1"/>
                </a:solidFill>
                <a:highlight>
                  <a:srgbClr val="00FFFF"/>
                </a:highlight>
              </a:rPr>
              <a:t>This insight enables entrepreneurs to better assess operational risk and allows investors to evaluate business viability more accurately.</a:t>
            </a:r>
            <a:endParaRPr>
              <a:solidFill>
                <a:schemeClr val="dk1"/>
              </a:solidFill>
              <a:highlight>
                <a:srgbClr val="00FFFF"/>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b1c4ac7f1b_1_13"/>
          <p:cNvSpPr txBox="1"/>
          <p:nvPr/>
        </p:nvSpPr>
        <p:spPr>
          <a:xfrm>
            <a:off x="0" y="78727"/>
            <a:ext cx="12192000" cy="6728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rgbClr val="E69138"/>
                </a:solidFill>
              </a:rPr>
              <a:t>References </a:t>
            </a:r>
            <a:endParaRPr b="1" sz="2000" u="sng">
              <a:solidFill>
                <a:srgbClr val="E69138"/>
              </a:solidFill>
            </a:endParaRPr>
          </a:p>
          <a:p>
            <a:pPr indent="-304800" lvl="0" marL="457200" rtl="0" algn="l">
              <a:lnSpc>
                <a:spcPct val="115000"/>
              </a:lnSpc>
              <a:spcBef>
                <a:spcPts val="12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City of San Diego. (n.d.). </a:t>
            </a:r>
            <a:r>
              <a:rPr i="1" lang="en-US" sz="1200">
                <a:solidFill>
                  <a:schemeClr val="dk1"/>
                </a:solidFill>
                <a:latin typeface="Times New Roman"/>
                <a:ea typeface="Times New Roman"/>
                <a:cs typeface="Times New Roman"/>
                <a:sym typeface="Times New Roman"/>
              </a:rPr>
              <a:t>San Diego business listings dataset</a:t>
            </a:r>
            <a:r>
              <a:rPr lang="en-US" sz="1200">
                <a:solidFill>
                  <a:schemeClr val="dk1"/>
                </a:solidFill>
                <a:latin typeface="Times New Roman"/>
                <a:ea typeface="Times New Roman"/>
                <a:cs typeface="Times New Roman"/>
                <a:sym typeface="Times New Roman"/>
              </a:rPr>
              <a:t>. City of San Diego Open Data Portal. Retrieved November 3, 2025, from </a:t>
            </a:r>
            <a:r>
              <a:rPr lang="en-US" sz="12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https://data.sandiego.gov/datasets/business-listings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Corporate Finance Institute. (2023). </a:t>
            </a:r>
            <a:r>
              <a:rPr i="1" lang="en-US" sz="1200">
                <a:solidFill>
                  <a:schemeClr val="dk1"/>
                </a:solidFill>
                <a:latin typeface="Times New Roman"/>
                <a:ea typeface="Times New Roman"/>
                <a:cs typeface="Times New Roman"/>
                <a:sym typeface="Times New Roman"/>
              </a:rPr>
              <a:t>Business lifecycle stages and analysis</a:t>
            </a:r>
            <a:r>
              <a:rPr lang="en-US" sz="1200">
                <a:solidFill>
                  <a:schemeClr val="dk1"/>
                </a:solidFill>
                <a:latin typeface="Times New Roman"/>
                <a:ea typeface="Times New Roman"/>
                <a:cs typeface="Times New Roman"/>
                <a:sym typeface="Times New Roman"/>
              </a:rPr>
              <a:t>. Retrieved November 3, 2025, from </a:t>
            </a:r>
            <a:r>
              <a:rPr lang="en-US"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https://corporatefinanceinstitute.com/resources/valuation/business-life-cycle/</a:t>
            </a:r>
            <a:r>
              <a:rPr lang="en-US"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García‑Vidal, G., Sánchez‑Rodríguez, A., Guzmán‑Vilar, L., Pérez‑Campdesuñer, R., &amp; Martínez‑Vivar, R. (2025). Toward building a model of business closure intention in SMEs: Binomial logistic regression. </a:t>
            </a:r>
            <a:r>
              <a:rPr i="1" lang="en-US" sz="1200">
                <a:solidFill>
                  <a:schemeClr val="dk1"/>
                </a:solidFill>
                <a:latin typeface="Times New Roman"/>
                <a:ea typeface="Times New Roman"/>
                <a:cs typeface="Times New Roman"/>
                <a:sym typeface="Times New Roman"/>
              </a:rPr>
              <a:t>Administrative Sciences, 15</a:t>
            </a:r>
            <a:r>
              <a:rPr lang="en-US" sz="1200">
                <a:solidFill>
                  <a:schemeClr val="dk1"/>
                </a:solidFill>
                <a:latin typeface="Times New Roman"/>
                <a:ea typeface="Times New Roman"/>
                <a:cs typeface="Times New Roman"/>
                <a:sym typeface="Times New Roman"/>
              </a:rPr>
              <a:t>(7), 240. Retrieved November 4, 2025, from</a:t>
            </a:r>
            <a:r>
              <a:rPr lang="en-US" sz="12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https://doi.org/10.3390/admsci15070240</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Huang, Z. (1998). Extensions to the k-means algorithm for clustering large data sets with categorical values. </a:t>
            </a:r>
            <a:r>
              <a:rPr i="1" lang="en-US" sz="1200">
                <a:solidFill>
                  <a:schemeClr val="dk1"/>
                </a:solidFill>
                <a:latin typeface="Times New Roman"/>
                <a:ea typeface="Times New Roman"/>
                <a:cs typeface="Times New Roman"/>
                <a:sym typeface="Times New Roman"/>
              </a:rPr>
              <a:t>Data Mining and Knowledge Discovery, 2</a:t>
            </a:r>
            <a:r>
              <a:rPr lang="en-US" sz="1200">
                <a:solidFill>
                  <a:schemeClr val="dk1"/>
                </a:solidFill>
                <a:latin typeface="Times New Roman"/>
                <a:ea typeface="Times New Roman"/>
                <a:cs typeface="Times New Roman"/>
                <a:sym typeface="Times New Roman"/>
              </a:rPr>
              <a:t>(3), 283–304. Retrieved November 4, 2025, from</a:t>
            </a:r>
            <a:r>
              <a:rPr lang="en-US" sz="1200">
                <a:solidFill>
                  <a:schemeClr val="dk1"/>
                </a:solidFill>
                <a:uFill>
                  <a:noFill/>
                </a:uFill>
                <a:latin typeface="Times New Roman"/>
                <a:ea typeface="Times New Roman"/>
                <a:cs typeface="Times New Roman"/>
                <a:sym typeface="Times New Roman"/>
                <a:hlinkClick r:id="rId7">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https://doi.org/10.1023/A:1009769707641</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IBM. (n.d.). </a:t>
            </a:r>
            <a:r>
              <a:rPr i="1" lang="en-US" sz="1200">
                <a:solidFill>
                  <a:schemeClr val="dk1"/>
                </a:solidFill>
                <a:latin typeface="Times New Roman"/>
                <a:ea typeface="Times New Roman"/>
                <a:cs typeface="Times New Roman"/>
                <a:sym typeface="Times New Roman"/>
              </a:rPr>
              <a:t>Python vs. R for Data Science: A comprehensive comparison</a:t>
            </a:r>
            <a:r>
              <a:rPr lang="en-US" sz="1200">
                <a:solidFill>
                  <a:schemeClr val="dk1"/>
                </a:solidFill>
                <a:latin typeface="Times New Roman"/>
                <a:ea typeface="Times New Roman"/>
                <a:cs typeface="Times New Roman"/>
                <a:sym typeface="Times New Roman"/>
              </a:rPr>
              <a:t>. IBM Think. Retrieved November 3, 2025, from</a:t>
            </a:r>
            <a:r>
              <a:rPr lang="en-US" sz="1200">
                <a:solidFill>
                  <a:schemeClr val="dk1"/>
                </a:solidFill>
                <a:uFill>
                  <a:noFill/>
                </a:uFill>
                <a:latin typeface="Times New Roman"/>
                <a:ea typeface="Times New Roman"/>
                <a:cs typeface="Times New Roman"/>
                <a:sym typeface="Times New Roman"/>
                <a:hlinkClick r:id="rId9">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10">
                  <a:extLst>
                    <a:ext uri="{A12FA001-AC4F-418D-AE19-62706E023703}">
                      <ahyp:hlinkClr val="tx"/>
                    </a:ext>
                  </a:extLst>
                </a:hlinkClick>
              </a:rPr>
              <a:t>https://www.ibm.com/think/topics/python-vs-r</a:t>
            </a:r>
            <a:r>
              <a:rPr lang="en-US" sz="1200" u="sng">
                <a:solidFill>
                  <a:srgbClr val="1155CC"/>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Nemade, B., Bharadi, V., Alegavi, S. S., &amp; Marakarkandy, B. (2023). A comprehensive review: SMOTE‑based oversampling methods for imbalanced classification techniques, evaluation, and result comparisons. </a:t>
            </a:r>
            <a:r>
              <a:rPr i="1" lang="en-US" sz="1200">
                <a:solidFill>
                  <a:schemeClr val="dk1"/>
                </a:solidFill>
                <a:latin typeface="Times New Roman"/>
                <a:ea typeface="Times New Roman"/>
                <a:cs typeface="Times New Roman"/>
                <a:sym typeface="Times New Roman"/>
              </a:rPr>
              <a:t>International Journal of Intelligent Systems and Applications in Engineering, 11</a:t>
            </a:r>
            <a:r>
              <a:rPr lang="en-US" sz="1200">
                <a:solidFill>
                  <a:schemeClr val="dk1"/>
                </a:solidFill>
                <a:latin typeface="Times New Roman"/>
                <a:ea typeface="Times New Roman"/>
                <a:cs typeface="Times New Roman"/>
                <a:sym typeface="Times New Roman"/>
              </a:rPr>
              <a:t>(9 s), 790–803. Retrieved November 4, 2025, from </a:t>
            </a:r>
            <a:r>
              <a:rPr lang="en-US" sz="1200" u="sng">
                <a:solidFill>
                  <a:srgbClr val="1155CC"/>
                </a:solidFill>
                <a:latin typeface="Times New Roman"/>
                <a:ea typeface="Times New Roman"/>
                <a:cs typeface="Times New Roman"/>
                <a:sym typeface="Times New Roman"/>
                <a:hlinkClick r:id="rId11">
                  <a:extLst>
                    <a:ext uri="{A12FA001-AC4F-418D-AE19-62706E023703}">
                      <ahyp:hlinkClr val="tx"/>
                    </a:ext>
                  </a:extLst>
                </a:hlinkClick>
              </a:rPr>
              <a:t>https://ijisae.org/index.php/IJISAE/article/view/3268</a:t>
            </a:r>
            <a:r>
              <a:rPr lang="en-US" sz="1200" u="sng">
                <a:solidFill>
                  <a:srgbClr val="1155CC"/>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Querio.ai. (2025, September 7). </a:t>
            </a:r>
            <a:r>
              <a:rPr i="1" lang="en-US" sz="1200">
                <a:solidFill>
                  <a:schemeClr val="dk1"/>
                </a:solidFill>
                <a:latin typeface="Times New Roman"/>
                <a:ea typeface="Times New Roman"/>
                <a:cs typeface="Times New Roman"/>
                <a:sym typeface="Times New Roman"/>
              </a:rPr>
              <a:t>Statistical tools for data analysis: When to use R, Python, SPSS, or SAS</a:t>
            </a:r>
            <a:r>
              <a:rPr lang="en-US" sz="1200">
                <a:solidFill>
                  <a:schemeClr val="dk1"/>
                </a:solidFill>
                <a:latin typeface="Times New Roman"/>
                <a:ea typeface="Times New Roman"/>
                <a:cs typeface="Times New Roman"/>
                <a:sym typeface="Times New Roman"/>
              </a:rPr>
              <a:t>. Business Intelligence. Retrieved November 4, 2025, from</a:t>
            </a:r>
            <a:r>
              <a:rPr lang="en-US" sz="1200">
                <a:solidFill>
                  <a:schemeClr val="dk1"/>
                </a:solidFill>
                <a:uFill>
                  <a:noFill/>
                </a:uFill>
                <a:latin typeface="Times New Roman"/>
                <a:ea typeface="Times New Roman"/>
                <a:cs typeface="Times New Roman"/>
                <a:sym typeface="Times New Roman"/>
                <a:hlinkClick r:id="rId12">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13">
                  <a:extLst>
                    <a:ext uri="{A12FA001-AC4F-418D-AE19-62706E023703}">
                      <ahyp:hlinkClr val="tx"/>
                    </a:ext>
                  </a:extLst>
                </a:hlinkClick>
              </a:rPr>
              <a:t>https://querio.ai/articles/statistical-tools-for-data-analysis-when-to-use-r-python-spss-or-sas</a:t>
            </a:r>
            <a:r>
              <a:rPr lang="en-US" sz="1200" u="sng">
                <a:solidFill>
                  <a:srgbClr val="1155CC"/>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Ramirez, K. (2025). </a:t>
            </a:r>
            <a:r>
              <a:rPr i="1" lang="en-US" sz="1200">
                <a:solidFill>
                  <a:schemeClr val="dk1"/>
                </a:solidFill>
                <a:latin typeface="Times New Roman"/>
                <a:ea typeface="Times New Roman"/>
                <a:cs typeface="Times New Roman"/>
                <a:sym typeface="Times New Roman"/>
              </a:rPr>
              <a:t>San Diego County Active/Closed Business Listing</a:t>
            </a:r>
            <a:r>
              <a:rPr lang="en-US" sz="1200">
                <a:solidFill>
                  <a:schemeClr val="dk1"/>
                </a:solidFill>
                <a:latin typeface="Times New Roman"/>
                <a:ea typeface="Times New Roman"/>
                <a:cs typeface="Times New Roman"/>
                <a:sym typeface="Times New Roman"/>
              </a:rPr>
              <a:t> [Data set]. Kaggle.</a:t>
            </a:r>
            <a:r>
              <a:rPr lang="en-US" sz="1200">
                <a:solidFill>
                  <a:schemeClr val="dk1"/>
                </a:solidFill>
                <a:uFill>
                  <a:noFill/>
                </a:uFill>
                <a:latin typeface="Times New Roman"/>
                <a:ea typeface="Times New Roman"/>
                <a:cs typeface="Times New Roman"/>
                <a:sym typeface="Times New Roman"/>
                <a:hlinkClick r:id="rId14">
                  <a:extLst>
                    <a:ext uri="{A12FA001-AC4F-418D-AE19-62706E023703}">
                      <ahyp:hlinkClr val="tx"/>
                    </a:ext>
                  </a:extLst>
                </a:hlinkClick>
              </a:rPr>
              <a:t> </a:t>
            </a:r>
            <a:r>
              <a:rPr lang="en-US" sz="1200">
                <a:solidFill>
                  <a:schemeClr val="dk1"/>
                </a:solidFill>
                <a:latin typeface="Times New Roman"/>
                <a:ea typeface="Times New Roman"/>
                <a:cs typeface="Times New Roman"/>
                <a:sym typeface="Times New Roman"/>
              </a:rPr>
              <a:t>Retrieved November 12, 2025, from </a:t>
            </a:r>
            <a:r>
              <a:rPr lang="en-US" sz="1200" u="sng">
                <a:solidFill>
                  <a:srgbClr val="1155CC"/>
                </a:solidFill>
                <a:latin typeface="Times New Roman"/>
                <a:ea typeface="Times New Roman"/>
                <a:cs typeface="Times New Roman"/>
                <a:sym typeface="Times New Roman"/>
                <a:hlinkClick r:id="rId15">
                  <a:extLst>
                    <a:ext uri="{A12FA001-AC4F-418D-AE19-62706E023703}">
                      <ahyp:hlinkClr val="tx"/>
                    </a:ext>
                  </a:extLst>
                </a:hlinkClick>
              </a:rPr>
              <a:t>https://www.kaggle.com/datasets/kenierramirez/san-diego-county-activeclosed-business-listing</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Reyes, M., &amp; Suárez, L. (2022). Logistic regression analysis of firm survival in Mexico City. </a:t>
            </a:r>
            <a:r>
              <a:rPr i="1" lang="en-US" sz="1200">
                <a:solidFill>
                  <a:schemeClr val="dk1"/>
                </a:solidFill>
                <a:latin typeface="Times New Roman"/>
                <a:ea typeface="Times New Roman"/>
                <a:cs typeface="Times New Roman"/>
                <a:sym typeface="Times New Roman"/>
              </a:rPr>
              <a:t>Journal of Business Analytics, 5</a:t>
            </a:r>
            <a:r>
              <a:rPr lang="en-US" sz="1200">
                <a:solidFill>
                  <a:schemeClr val="dk1"/>
                </a:solidFill>
                <a:latin typeface="Times New Roman"/>
                <a:ea typeface="Times New Roman"/>
                <a:cs typeface="Times New Roman"/>
                <a:sym typeface="Times New Roman"/>
              </a:rPr>
              <a:t>(2), 55–71. Retrieved November 4, 2025, from </a:t>
            </a:r>
            <a:r>
              <a:rPr lang="en-US" sz="1200" u="sng">
                <a:solidFill>
                  <a:srgbClr val="1155CC"/>
                </a:solidFill>
                <a:latin typeface="Times New Roman"/>
                <a:ea typeface="Times New Roman"/>
                <a:cs typeface="Times New Roman"/>
                <a:sym typeface="Times New Roman"/>
                <a:hlinkClick r:id="rId16">
                  <a:extLst>
                    <a:ext uri="{A12FA001-AC4F-418D-AE19-62706E023703}">
                      <ahyp:hlinkClr val="tx"/>
                    </a:ext>
                  </a:extLst>
                </a:hlinkClick>
              </a:rPr>
              <a:t>https://www.sciencedirect.com/science/article/pii/S2405844022005072</a:t>
            </a:r>
            <a:r>
              <a:rPr lang="en-US"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SANDAG. (n.d.). </a:t>
            </a:r>
            <a:r>
              <a:rPr i="1" lang="en-US" sz="1200">
                <a:solidFill>
                  <a:schemeClr val="dk1"/>
                </a:solidFill>
                <a:latin typeface="Times New Roman"/>
                <a:ea typeface="Times New Roman"/>
                <a:cs typeface="Times New Roman"/>
                <a:sym typeface="Times New Roman"/>
              </a:rPr>
              <a:t>2020 Census population by ZIP code dataset</a:t>
            </a:r>
            <a:r>
              <a:rPr lang="en-US" sz="1200">
                <a:solidFill>
                  <a:schemeClr val="dk1"/>
                </a:solidFill>
                <a:latin typeface="Times New Roman"/>
                <a:ea typeface="Times New Roman"/>
                <a:cs typeface="Times New Roman"/>
                <a:sym typeface="Times New Roman"/>
              </a:rPr>
              <a:t>. San Diego Association of Governments Open Data Portal. Retrieved November 3, 2025, from </a:t>
            </a:r>
            <a:r>
              <a:rPr lang="en-US" sz="1200" u="sng">
                <a:solidFill>
                  <a:srgbClr val="1155CC"/>
                </a:solidFill>
                <a:latin typeface="Times New Roman"/>
                <a:ea typeface="Times New Roman"/>
                <a:cs typeface="Times New Roman"/>
                <a:sym typeface="Times New Roman"/>
                <a:hlinkClick r:id="rId17">
                  <a:extLst>
                    <a:ext uri="{A12FA001-AC4F-418D-AE19-62706E023703}">
                      <ahyp:hlinkClr val="tx"/>
                    </a:ext>
                  </a:extLst>
                </a:hlinkClick>
              </a:rPr>
              <a:t>https://opendata.sandag.org/Census/2020-Census-Population-by-ZIP-Code/26f5-2x9a/about_data</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0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Society of Actuaries. (2019). </a:t>
            </a:r>
            <a:r>
              <a:rPr i="1" lang="en-US" sz="1200">
                <a:solidFill>
                  <a:schemeClr val="dk1"/>
                </a:solidFill>
                <a:latin typeface="Times New Roman"/>
                <a:ea typeface="Times New Roman"/>
                <a:cs typeface="Times New Roman"/>
                <a:sym typeface="Times New Roman"/>
              </a:rPr>
              <a:t>Considerations in predictive modeling: Feature engineering and selection</a:t>
            </a:r>
            <a:r>
              <a:rPr lang="en-US" sz="1200">
                <a:solidFill>
                  <a:schemeClr val="dk1"/>
                </a:solidFill>
                <a:latin typeface="Times New Roman"/>
                <a:ea typeface="Times New Roman"/>
                <a:cs typeface="Times New Roman"/>
                <a:sym typeface="Times New Roman"/>
              </a:rPr>
              <a:t> (Research Report). Society of Actuaries.</a:t>
            </a:r>
            <a:r>
              <a:rPr lang="en-US" sz="1200">
                <a:solidFill>
                  <a:schemeClr val="dk1"/>
                </a:solidFill>
                <a:uFill>
                  <a:noFill/>
                </a:uFill>
                <a:latin typeface="Times New Roman"/>
                <a:ea typeface="Times New Roman"/>
                <a:cs typeface="Times New Roman"/>
                <a:sym typeface="Times New Roman"/>
                <a:hlinkClick r:id="rId18">
                  <a:extLst>
                    <a:ext uri="{A12FA001-AC4F-418D-AE19-62706E023703}">
                      <ahyp:hlinkClr val="tx"/>
                    </a:ext>
                  </a:extLst>
                </a:hlinkClick>
              </a:rPr>
              <a:t> </a:t>
            </a:r>
            <a:r>
              <a:rPr lang="en-US" sz="1200">
                <a:solidFill>
                  <a:schemeClr val="dk1"/>
                </a:solidFill>
                <a:latin typeface="Times New Roman"/>
                <a:ea typeface="Times New Roman"/>
                <a:cs typeface="Times New Roman"/>
                <a:sym typeface="Times New Roman"/>
              </a:rPr>
              <a:t>Retrieved November 5, 2025, from </a:t>
            </a:r>
            <a:r>
              <a:rPr lang="en-US" sz="1200" u="sng">
                <a:solidFill>
                  <a:srgbClr val="1155CC"/>
                </a:solidFill>
                <a:latin typeface="Times New Roman"/>
                <a:ea typeface="Times New Roman"/>
                <a:cs typeface="Times New Roman"/>
                <a:sym typeface="Times New Roman"/>
                <a:hlinkClick r:id="rId19">
                  <a:extLst>
                    <a:ext uri="{A12FA001-AC4F-418D-AE19-62706E023703}">
                      <ahyp:hlinkClr val="tx"/>
                    </a:ext>
                  </a:extLst>
                </a:hlinkClick>
              </a:rPr>
              <a:t>https://www.soa.org/globalassets/assets/files/resources/research-report/2019/considerations-predictive-modeling.pdf</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100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U.S. Census Bureau. (2024, February 12). </a:t>
            </a:r>
            <a:r>
              <a:rPr i="1" lang="en-US" sz="1200">
                <a:solidFill>
                  <a:schemeClr val="dk1"/>
                </a:solidFill>
                <a:latin typeface="Times New Roman"/>
                <a:ea typeface="Times New Roman"/>
                <a:cs typeface="Times New Roman"/>
                <a:sym typeface="Times New Roman"/>
              </a:rPr>
              <a:t>NAICS codes &amp; understanding industry classification systems</a:t>
            </a:r>
            <a:r>
              <a:rPr lang="en-US" sz="1200">
                <a:solidFill>
                  <a:schemeClr val="dk1"/>
                </a:solidFill>
                <a:latin typeface="Times New Roman"/>
                <a:ea typeface="Times New Roman"/>
                <a:cs typeface="Times New Roman"/>
                <a:sym typeface="Times New Roman"/>
              </a:rPr>
              <a:t>.</a:t>
            </a:r>
            <a:r>
              <a:rPr lang="en-US" sz="1200">
                <a:solidFill>
                  <a:schemeClr val="dk1"/>
                </a:solidFill>
                <a:uFill>
                  <a:noFill/>
                </a:uFill>
                <a:latin typeface="Times New Roman"/>
                <a:ea typeface="Times New Roman"/>
                <a:cs typeface="Times New Roman"/>
                <a:sym typeface="Times New Roman"/>
                <a:hlinkClick r:id="rId20">
                  <a:extLst>
                    <a:ext uri="{A12FA001-AC4F-418D-AE19-62706E023703}">
                      <ahyp:hlinkClr val="tx"/>
                    </a:ext>
                  </a:extLst>
                </a:hlinkClick>
              </a:rPr>
              <a:t> </a:t>
            </a:r>
            <a:r>
              <a:rPr lang="en-US" sz="1200">
                <a:solidFill>
                  <a:schemeClr val="dk1"/>
                </a:solidFill>
                <a:latin typeface="Times New Roman"/>
                <a:ea typeface="Times New Roman"/>
                <a:cs typeface="Times New Roman"/>
                <a:sym typeface="Times New Roman"/>
              </a:rPr>
              <a:t>Retrieved November 4, 2025, from </a:t>
            </a:r>
            <a:r>
              <a:rPr lang="en-US" sz="1200" u="sng">
                <a:solidFill>
                  <a:srgbClr val="1155CC"/>
                </a:solidFill>
                <a:latin typeface="Times New Roman"/>
                <a:ea typeface="Times New Roman"/>
                <a:cs typeface="Times New Roman"/>
                <a:sym typeface="Times New Roman"/>
              </a:rPr>
              <a:t>https://www.census.gov/programs-surveys/economic-census/year/2022/guidance/understanding-naics.html</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b099c229a1_0_82"/>
          <p:cNvSpPr/>
          <p:nvPr/>
        </p:nvSpPr>
        <p:spPr>
          <a:xfrm>
            <a:off x="1293863" y="2119143"/>
            <a:ext cx="10854900" cy="45600"/>
          </a:xfrm>
          <a:prstGeom prst="rect">
            <a:avLst/>
          </a:prstGeom>
          <a:solidFill>
            <a:schemeClr val="accent1"/>
          </a:solidFill>
          <a:ln cap="flat" cmpd="sng" w="12700">
            <a:solidFill>
              <a:srgbClr val="0A306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ay"/>
              <a:ea typeface="Play"/>
              <a:cs typeface="Play"/>
              <a:sym typeface="Play"/>
            </a:endParaRPr>
          </a:p>
        </p:txBody>
      </p:sp>
      <p:pic>
        <p:nvPicPr>
          <p:cNvPr id="453" name="Google Shape;453;g3b099c229a1_0_82"/>
          <p:cNvPicPr preferRelativeResize="0"/>
          <p:nvPr/>
        </p:nvPicPr>
        <p:blipFill>
          <a:blip r:embed="rId3">
            <a:alphaModFix/>
          </a:blip>
          <a:stretch>
            <a:fillRect/>
          </a:stretch>
        </p:blipFill>
        <p:spPr>
          <a:xfrm>
            <a:off x="69425" y="57451"/>
            <a:ext cx="3753550" cy="1973625"/>
          </a:xfrm>
          <a:prstGeom prst="rect">
            <a:avLst/>
          </a:prstGeom>
          <a:noFill/>
          <a:ln>
            <a:noFill/>
          </a:ln>
        </p:spPr>
      </p:pic>
      <p:pic>
        <p:nvPicPr>
          <p:cNvPr id="454" name="Google Shape;454;g3b099c229a1_0_82"/>
          <p:cNvPicPr preferRelativeResize="0"/>
          <p:nvPr/>
        </p:nvPicPr>
        <p:blipFill rotWithShape="1">
          <a:blip r:embed="rId4">
            <a:alphaModFix/>
          </a:blip>
          <a:srcRect b="0" l="31181" r="24371" t="0"/>
          <a:stretch/>
        </p:blipFill>
        <p:spPr>
          <a:xfrm rot="-1138238">
            <a:off x="5318590" y="3042478"/>
            <a:ext cx="1299241" cy="1903123"/>
          </a:xfrm>
          <a:prstGeom prst="rect">
            <a:avLst/>
          </a:prstGeom>
          <a:noFill/>
          <a:ln>
            <a:noFill/>
          </a:ln>
        </p:spPr>
      </p:pic>
      <p:pic>
        <p:nvPicPr>
          <p:cNvPr id="455" name="Google Shape;455;g3b099c229a1_0_82"/>
          <p:cNvPicPr preferRelativeResize="0"/>
          <p:nvPr/>
        </p:nvPicPr>
        <p:blipFill>
          <a:blip r:embed="rId5">
            <a:alphaModFix/>
          </a:blip>
          <a:stretch>
            <a:fillRect/>
          </a:stretch>
        </p:blipFill>
        <p:spPr>
          <a:xfrm rot="-1138237">
            <a:off x="172608" y="4119336"/>
            <a:ext cx="5325899" cy="1903121"/>
          </a:xfrm>
          <a:prstGeom prst="rect">
            <a:avLst/>
          </a:prstGeom>
          <a:noFill/>
          <a:ln>
            <a:noFill/>
          </a:ln>
        </p:spPr>
      </p:pic>
      <p:pic>
        <p:nvPicPr>
          <p:cNvPr id="456" name="Google Shape;456;g3b099c229a1_0_82"/>
          <p:cNvPicPr preferRelativeResize="0"/>
          <p:nvPr/>
        </p:nvPicPr>
        <p:blipFill>
          <a:blip r:embed="rId6">
            <a:alphaModFix/>
          </a:blip>
          <a:stretch>
            <a:fillRect/>
          </a:stretch>
        </p:blipFill>
        <p:spPr>
          <a:xfrm>
            <a:off x="6601037" y="2184646"/>
            <a:ext cx="5551324" cy="4598325"/>
          </a:xfrm>
          <a:prstGeom prst="rect">
            <a:avLst/>
          </a:prstGeom>
          <a:noFill/>
          <a:ln>
            <a:noFill/>
          </a:ln>
        </p:spPr>
      </p:pic>
      <p:pic>
        <p:nvPicPr>
          <p:cNvPr id="457" name="Google Shape;457;g3b099c229a1_0_82"/>
          <p:cNvPicPr preferRelativeResize="0"/>
          <p:nvPr/>
        </p:nvPicPr>
        <p:blipFill>
          <a:blip r:embed="rId7">
            <a:alphaModFix/>
          </a:blip>
          <a:stretch>
            <a:fillRect/>
          </a:stretch>
        </p:blipFill>
        <p:spPr>
          <a:xfrm>
            <a:off x="11046712" y="34985"/>
            <a:ext cx="1101550" cy="1101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2025-08-26T23:42:19Z</dcterms:created>
  <dc:creator>Kenier Ramirez Lopez</dc:creator>
</cp:coreProperties>
</file>